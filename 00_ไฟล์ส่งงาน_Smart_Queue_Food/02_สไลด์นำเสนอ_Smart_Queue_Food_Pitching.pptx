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929b1d5c4174661" /><Relationship Type="http://schemas.openxmlformats.org/officeDocument/2006/relationships/extended-properties" Target="/docProps/app.xml" Id="R0a7e2cd9fd48476b" /><Relationship Type="http://schemas.openxmlformats.org/officeDocument/2006/relationships/officeDocument" Target="/ppt/presentation.xml" Id="Rdb0f455618ee431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4c8d392b80441f8"/>
  </p:sldMasterIdLst>
  <p:notesMasterIdLst>
    <p:notesMasterId xmlns:r="http://schemas.openxmlformats.org/officeDocument/2006/relationships" r:id="R0516a18328f842c5"/>
  </p:notesMasterIdLst>
  <p:sldIdLst>
    <p:sldId xmlns:r="http://schemas.openxmlformats.org/officeDocument/2006/relationships" id="256" r:id="R422af0ffe6e14c3b"/>
    <p:sldId xmlns:r="http://schemas.openxmlformats.org/officeDocument/2006/relationships" id="257" r:id="R3dcbe60b073b4a69"/>
    <p:sldId xmlns:r="http://schemas.openxmlformats.org/officeDocument/2006/relationships" id="258" r:id="R0119cbddd50e4ce8"/>
    <p:sldId xmlns:r="http://schemas.openxmlformats.org/officeDocument/2006/relationships" id="259" r:id="R30d9af5b2af54f68"/>
    <p:sldId xmlns:r="http://schemas.openxmlformats.org/officeDocument/2006/relationships" id="260" r:id="R8616cdeada2f4f69"/>
    <p:sldId xmlns:r="http://schemas.openxmlformats.org/officeDocument/2006/relationships" id="261" r:id="Rc5efb8406d804aff"/>
    <p:sldId xmlns:r="http://schemas.openxmlformats.org/officeDocument/2006/relationships" id="262" r:id="Rafd01743d65e4cc4"/>
    <p:sldId xmlns:r="http://schemas.openxmlformats.org/officeDocument/2006/relationships" id="263" r:id="R6bf80f5e11504a67"/>
    <p:sldId xmlns:r="http://schemas.openxmlformats.org/officeDocument/2006/relationships" id="264" r:id="Rc1c067df53c84cf1"/>
    <p:sldId xmlns:r="http://schemas.openxmlformats.org/officeDocument/2006/relationships" id="265" r:id="R494f69dd2c53441a"/>
    <p:sldId xmlns:r="http://schemas.openxmlformats.org/officeDocument/2006/relationships" id="266" r:id="R80b2bd815b74406e"/>
    <p:sldId xmlns:r="http://schemas.openxmlformats.org/officeDocument/2006/relationships" id="267" r:id="R7008eb7991124faf"/>
    <p:sldId xmlns:r="http://schemas.openxmlformats.org/officeDocument/2006/relationships" id="268" r:id="R8713894a04984ce0"/>
    <p:sldId xmlns:r="http://schemas.openxmlformats.org/officeDocument/2006/relationships" id="269" r:id="Rf249f28b7f9b47f0"/>
    <p:sldId xmlns:r="http://schemas.openxmlformats.org/officeDocument/2006/relationships" id="270" r:id="R3c7b3f5722534df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f14bc4ff27a4cf3" /><Relationship Type="http://schemas.openxmlformats.org/officeDocument/2006/relationships/slideMaster" Target="/ppt/slideMasters/slideMaster1.xml" Id="R84c8d392b80441f8" /><Relationship Type="http://schemas.openxmlformats.org/officeDocument/2006/relationships/notesMaster" Target="/ppt/notesMasters/notesMaster1.xml" Id="R0516a18328f842c5" /><Relationship Type="http://schemas.openxmlformats.org/officeDocument/2006/relationships/presProps" Target="/ppt/presProps.xml" Id="Rc1a15c64f069490c" /><Relationship Type="http://schemas.openxmlformats.org/officeDocument/2006/relationships/tableStyles" Target="/ppt/tableStyles.xml" Id="Rcb4a98eba6664c74" /><Relationship Type="http://schemas.openxmlformats.org/officeDocument/2006/relationships/slide" Target="/ppt/slides/slide1.xml" Id="R422af0ffe6e14c3b" /><Relationship Type="http://schemas.openxmlformats.org/officeDocument/2006/relationships/slide" Target="/ppt/slides/slide2.xml" Id="R3dcbe60b073b4a69" /><Relationship Type="http://schemas.openxmlformats.org/officeDocument/2006/relationships/slide" Target="/ppt/slides/slide3.xml" Id="R0119cbddd50e4ce8" /><Relationship Type="http://schemas.openxmlformats.org/officeDocument/2006/relationships/slide" Target="/ppt/slides/slide4.xml" Id="R30d9af5b2af54f68" /><Relationship Type="http://schemas.openxmlformats.org/officeDocument/2006/relationships/slide" Target="/ppt/slides/slide5.xml" Id="R8616cdeada2f4f69" /><Relationship Type="http://schemas.openxmlformats.org/officeDocument/2006/relationships/slide" Target="/ppt/slides/slide6.xml" Id="Rc5efb8406d804aff" /><Relationship Type="http://schemas.openxmlformats.org/officeDocument/2006/relationships/slide" Target="/ppt/slides/slide7.xml" Id="Rafd01743d65e4cc4" /><Relationship Type="http://schemas.openxmlformats.org/officeDocument/2006/relationships/slide" Target="/ppt/slides/slide8.xml" Id="R6bf80f5e11504a67" /><Relationship Type="http://schemas.openxmlformats.org/officeDocument/2006/relationships/slide" Target="/ppt/slides/slide9.xml" Id="Rc1c067df53c84cf1" /><Relationship Type="http://schemas.openxmlformats.org/officeDocument/2006/relationships/slide" Target="/ppt/slides/slide10.xml" Id="R494f69dd2c53441a" /><Relationship Type="http://schemas.openxmlformats.org/officeDocument/2006/relationships/slide" Target="/ppt/slides/slide11.xml" Id="R80b2bd815b74406e" /><Relationship Type="http://schemas.openxmlformats.org/officeDocument/2006/relationships/slide" Target="/ppt/slides/slide12.xml" Id="R7008eb7991124faf" /><Relationship Type="http://schemas.openxmlformats.org/officeDocument/2006/relationships/slide" Target="/ppt/slides/slide13.xml" Id="R8713894a04984ce0" /><Relationship Type="http://schemas.openxmlformats.org/officeDocument/2006/relationships/slide" Target="/ppt/slides/slide14.xml" Id="Rf249f28b7f9b47f0" /><Relationship Type="http://schemas.openxmlformats.org/officeDocument/2006/relationships/slide" Target="/ppt/slides/slide15.xml" Id="R3c7b3f5722534df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f2716f597c5485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cd05dc524a041f9" /><Relationship Type="http://schemas.openxmlformats.org/officeDocument/2006/relationships/notesMaster" Target="/ppt/notesMasters/notesMaster1.xml" Id="Rf6d6f297f252433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2fb0c6f1c5e4070" /><Relationship Type="http://schemas.openxmlformats.org/officeDocument/2006/relationships/notesMaster" Target="/ppt/notesMasters/notesMaster1.xml" Id="Rd4bf22b85b9e412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1bc10fea93f4a91" /><Relationship Type="http://schemas.openxmlformats.org/officeDocument/2006/relationships/notesMaster" Target="/ppt/notesMasters/notesMaster1.xml" Id="R558050731f2e45f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3a60bc601a449c8" /><Relationship Type="http://schemas.openxmlformats.org/officeDocument/2006/relationships/notesMaster" Target="/ppt/notesMasters/notesMaster1.xml" Id="R3ff4cae9e4c2416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3c60465e8ea4fca" /><Relationship Type="http://schemas.openxmlformats.org/officeDocument/2006/relationships/notesMaster" Target="/ppt/notesMasters/notesMaster1.xml" Id="R8caca5651b3a43b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4ad522d2f714660" /><Relationship Type="http://schemas.openxmlformats.org/officeDocument/2006/relationships/notesMaster" Target="/ppt/notesMasters/notesMaster1.xml" Id="R53bcbb51b37e4e2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20e9e2701204cd8" /><Relationship Type="http://schemas.openxmlformats.org/officeDocument/2006/relationships/notesMaster" Target="/ppt/notesMasters/notesMaster1.xml" Id="Rec8c257f1d0e499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8c85c89c8a545b2" /><Relationship Type="http://schemas.openxmlformats.org/officeDocument/2006/relationships/notesMaster" Target="/ppt/notesMasters/notesMaster1.xml" Id="R74dee318f21b4b5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9c18d82e7af4f18" /><Relationship Type="http://schemas.openxmlformats.org/officeDocument/2006/relationships/notesMaster" Target="/ppt/notesMasters/notesMaster1.xml" Id="R916bb54cafb347e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5d2d33cceaf4b94" /><Relationship Type="http://schemas.openxmlformats.org/officeDocument/2006/relationships/notesMaster" Target="/ppt/notesMasters/notesMaster1.xml" Id="R7c0ac9dbc5a54b8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23b159b577e43bf" /><Relationship Type="http://schemas.openxmlformats.org/officeDocument/2006/relationships/notesMaster" Target="/ppt/notesMasters/notesMaster1.xml" Id="R03c48bf306fc4d1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166e425fb9a435b" /><Relationship Type="http://schemas.openxmlformats.org/officeDocument/2006/relationships/notesMaster" Target="/ppt/notesMasters/notesMaster1.xml" Id="R83ce5ab77b324c3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23ef5940dd748c4" /><Relationship Type="http://schemas.openxmlformats.org/officeDocument/2006/relationships/notesMaster" Target="/ppt/notesMasters/notesMaster1.xml" Id="R533cc861d04b49c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7e2aedd77754cd0" /><Relationship Type="http://schemas.openxmlformats.org/officeDocument/2006/relationships/notesMaster" Target="/ppt/notesMasters/notesMaster1.xml" Id="R5fc30bd8971b4e7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735dd73da344574" /><Relationship Type="http://schemas.openxmlformats.org/officeDocument/2006/relationships/notesMaster" Target="/ppt/notesMasters/notesMaster1.xml" Id="Rfd555b30b68846d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[เวลา 0:00–0:30 นาที | 30 วินาที]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สวัสดีครับ กลุ่ม Smart Queue Food ขอเสนอแนวคิดสั่งอาหารล่วงหน้าผ่าน LINE และระบบช่วยจัดคิวในครัวสำหรับโรงอาหาร มจพ. ปราจีนบุรี จุดที่เราต้องการแก้คือการรอหน้าเตาช่วงพักเที่ยง วันนี้เราจะอธิบายปัญหา วิธีให้บริการ โมเดลธุรกิจ และแผนนำร่องที่ตรวจสอบได้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จุดเน้นและการตอบคำถาม</a:t>
            </a:r>
          </a:p>
          <a:p xmlns:a="http://schemas.openxmlformats.org/drawingml/2006/main">
            <a:r>
              <a:t>• สถานะเป็นแนวคิดและการศึกษาความเป็นไปได้</a:t>
            </a:r>
          </a:p>
          <a:p xmlns:a="http://schemas.openxmlformats.org/drawingml/2006/main">
            <a:r>
              <a:t>• ภาพเป็นภาพจำลอง ไม่ใช่หลักฐานการใช้งานจริง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แหล่งที่มา</a:t>
            </a:r>
          </a:p>
          <a:p xmlns:a="http://schemas.openxmlformats.org/drawingml/2006/main">
            <a:r>
              <a:t>สไลด์ต้นฉบับหน้า 1; README_คำอธิบายไฟล์ส่งงาน.txt; ภาพปกสร้างด้วย imagegen สำหรับแสดงแนวคิด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สถานะโครงการ: แนวคิดธุรกิจและการศึกษาความเป็นไปได้ ยังไม่มีผลทดสอบภาคสนามยืนยัน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[เวลา 0:30–1:10 นาที | 40 วินาที]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ช่วงพักเที่ยงนักศึกษาเลิกเรียนใกล้กัน ทำให้คำสั่งซื้อไหลเข้าร้านในเวลาสั้น ร้านต้องรับออเดอร์ ปรุง และรับเงินพร้อมกัน เอกสารเดิมใช้เวลารอ 5 ถึง 10 นาทีเป็นบริบทของปัญหา แต่ยังไม่ใช่ค่าเฉลี่ยจากการเก็บข้อมูล จุดเริ่มต้นของโครงการจึงเป็นการวัดเวลารอจริงและกำลังผลิตของแต่ละร้าน การสั่งล่วงหน้าจะช่วยให้ร้านเห็นงานก่อนที่นักศึกษาจะมาถึง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จุดเน้นและการตอบคำถาม</a:t>
            </a:r>
          </a:p>
          <a:p xmlns:a="http://schemas.openxmlformats.org/drawingml/2006/main">
            <a:r>
              <a:t>• อย่าอ้างช่วงเวลา 5–10 นาทีเป็นผลสำรวจที่ยืนยันแล้ว</a:t>
            </a:r>
          </a:p>
          <a:p xmlns:a="http://schemas.openxmlformats.org/drawingml/2006/main">
            <a:r>
              <a:t>• ข้อจำกัดสำคัญคือกำลังผลิตและการกระจุกตัวของออเดอร์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แหล่งที่มา</a:t>
            </a:r>
          </a:p>
          <a:p xmlns:a="http://schemas.openxmlformats.org/drawingml/2006/main">
            <a:r>
              <a:t>สไลด์ต้นฉบับหน้า 2; รายงานบทที่ 1 และภาคผนวก ก ระบุว่ายังไม่มีการเก็บข้อมูลสถิติจริง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สถานะโครงการ: แนวคิดธุรกิจและการศึกษาความเป็นไปได้ ยังไม่มีผลทดสอบภาคสนามยืนยัน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[เวลา 1:10–1:50 นาที | 40 วินาที]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ระบบแบ่งเป็นสี่ขั้นตอน นักศึกษาสั่งอาหารผ่าน LINE เลือกช่วงเวลารับ และชำระเงิน หลังตรวจสอบรายการ ระบบส่งงานไปหน้าจอ KDS ร้านเห็นเมนูและเวลารับล่วงหน้า และเลือกปรุงเมนูเดียวกันเป็นชุดเมื่อเหมาะสม เมื่ออาหารพร้อม ระบบแจ้งผู้ใช้ให้มารับ เป้าหมายคือคืนเวลาพักและช่วยการทำงานของร้าน แต่ระบบไม่ได้เพิ่มกำลังผลิตของเตาโดยอัตโนมัติ ต้องจำกัดจำนวนออเดอร์ต่อช่วงเวลาและประเมินผลจริง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จุดเน้นและการตอบคำถาม</a:t>
            </a:r>
          </a:p>
          <a:p xmlns:a="http://schemas.openxmlformats.org/drawingml/2006/main">
            <a:r>
              <a:t>• วิสัยทัศน์คือบริการที่ลดภาระการรอของประชาคม มจพ.</a:t>
            </a:r>
          </a:p>
          <a:p xmlns:a="http://schemas.openxmlformats.org/drawingml/2006/main">
            <a:r>
              <a:t>• จัดกลุ่มเฉพาะเมนูและเงื่อนไขที่เหมาะสม รวมข้อจำกัดอาหารและการแพ้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แหล่งที่มา</a:t>
            </a:r>
          </a:p>
          <a:p xmlns:a="http://schemas.openxmlformats.org/drawingml/2006/main">
            <a:r>
              <a:t>สไลด์ต้นฉบับหน้า 3–4 และ 8; รายงานบทที่ 2–4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สถานะโครงการ: แนวคิดธุรกิจและการศึกษาความเป็นไปได้ ยังไม่มีผลทดสอบภาคสนามยืนยัน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[เวลา 1:50–2:35 นาที | 45 วินาที]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ภาพนี้เป็นภาพจำลองแนวคิดหน้าจอครัว ไม่ใช่ภาพผลทดสอบจริง หน้าจอ KDS ต้องแสดงเมนู จำนวน เงื่อนไขพิเศษ และเวลารับด้วยตัวหนังสือใหญ่ ร้านสามารถจัดกลุ่มเมนูที่เหมาะสมและอัปเดตสถานะโดยแตะให้น้อยครั้ง ฝั่งนักศึกษาจะใช้ LINE LIFF เลือกร้านและเมนู ระบุเงื่อนไข เลือกช่วงเวลารับ และดูบัตรคิว ระบบนี้ต้องออกแบบร่วมกับร้านเพื่อให้ช่วยงานช่วงเร่งด่วนแทนที่จะเพิ่มขั้นตอน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จุดเน้นและการตอบคำถาม</a:t>
            </a:r>
          </a:p>
          <a:p xmlns:a="http://schemas.openxmlformats.org/drawingml/2006/main">
            <a:r>
              <a:t>• หน้าจอผู้ใช้และหน้าจอครัวเชื่อมด้วยหมายเลขออเดอร์เดียวกัน</a:t>
            </a:r>
          </a:p>
          <a:p xmlns:a="http://schemas.openxmlformats.org/drawingml/2006/main">
            <a:r>
              <a:t>• ให้ร้านทดลองหน้าจอและปุ่มสถานะก่อนเปิดนำร่อง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แหล่งที่มา</a:t>
            </a:r>
          </a:p>
          <a:p xmlns:a="http://schemas.openxmlformats.org/drawingml/2006/main">
            <a:r>
              <a:t>สไลด์ต้นฉบับหน้า 5–6; รายงานบทที่ 4.3; assets/smart_queue_kds.jpg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สถานะโครงการ: แนวคิดธุรกิจและการศึกษาความเป็นไปได้ ยังไม่มีผลทดสอบภาคสนามยืนยัน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[เวลา 2:35–3:15 นาที | 40 วินาที]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ผู้ใช้มีสองฝั่ง นักศึกษาต้องการรับประทานอาหารให้ทันช่วงพัก ส่วนร้านค้าต้องจัดงานจำนวนมากในเวลาสั้น เราจับคู่ปัญหาการวางแผนมื้ออาหารกับการสั่งล่วงหน้า และจับคู่ปัญหาคิวกระดาษกับหน้าจอครัว ตลาดเริ่มต้นที่สามร้านใน FITM ก่อนขยายในเครือ มจพ. และโรงอาหารมหาวิทยาลัยอื่น การคำนวณมูลค่าตลาดจะใช้จำนวนผู้ใช้จริง ความถี่ซื้ออาหาร และอัตราการใช้ระบบจากการสำรวจนำร่อง ปัจจุบันจึงแสดงขอบเขตตลาดที่ตั้งใจให้บริการ และยังไม่อ้างตัวเลขมูลค่าตลาดที่ยืนยันแล้ว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จุดเน้นและการตอบคำถาม</a:t>
            </a:r>
          </a:p>
          <a:p xmlns:a="http://schemas.openxmlformats.org/drawingml/2006/main">
            <a:r>
              <a:t>• ตัวอย่างบุคคลในรายงานเป็น persona จำลอง</a:t>
            </a:r>
          </a:p>
          <a:p xmlns:a="http://schemas.openxmlformats.org/drawingml/2006/main">
            <a:r>
              <a:t>• สำรวจจำนวนผู้ใช้ ความถี่ใช้บริการ และความพร้อมร้านค้าก่อนคำนวณมูลค่าตลาด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แหล่งที่มา</a:t>
            </a:r>
          </a:p>
          <a:p xmlns:a="http://schemas.openxmlformats.org/drawingml/2006/main">
            <a:r>
              <a:t>สไลด์ต้นฉบับหน้า 7–8; รายงานบทที่ 3 และ 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สถานะโครงการ: แนวคิดธุรกิจและการศึกษาความเป็นไปได้ ยังไม่มีผลทดสอบภาคสนามยืนยัน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[เวลา 3:15–4:00 นาที | 45 วินาที]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แบบจำลองธุรกิจมีเก้าส่วน พันธมิตรหลักคือร้านค้าและมหาวิทยาลัย งานหลักคือพัฒนาระบบและสนับสนุนร้านค้า ใช้ LINE LIFF ระบบคลาวด์ และแท็บเล็ต KDS เพื่อส่งคุณค่าสั่งล่วงหน้าและจัดคิว ช่องทางเข้าถึงเป็น LINE OA ป้าย QR และเพจนักศึกษา รายได้เริ่มจากค่าธรรมเนียมสามถึงห้าเปอร์เซ็นต์ของออเดอร์ โดยกรณีการเงินวันนี้เลือกสามเปอร์เซ็นต์ รายได้ Analytics และโฆษณาเป็นแผนอนาคต จึงยังไม่นำมาช่วยให้ประมาณการคืนทุนดูดีขึ้น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จุดเน้นและการตอบคำถาม</a:t>
            </a:r>
          </a:p>
          <a:p xmlns:a="http://schemas.openxmlformats.org/drawingml/2006/main">
            <a:r>
              <a:t>• อ่านภาพรวมของโมเดล ไม่อ่านครบทุกช่อง</a:t>
            </a:r>
          </a:p>
          <a:p xmlns:a="http://schemas.openxmlformats.org/drawingml/2006/main">
            <a:r>
              <a:t>• งบลงทุน 28,500 บาทเป็นกรณีนำร่อง 3 ร้านของสไลด์เดิม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แหล่งที่มา</a:t>
            </a:r>
          </a:p>
          <a:p xmlns:a="http://schemas.openxmlformats.org/drawingml/2006/main">
            <a:r>
              <a:t>สไลด์ต้นฉบับหน้า 9 และ 11–14; รายงานบทที่ 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สถานะโครงการ: แนวคิดธุรกิจและการศึกษาความเป็นไปได้ ยังไม่มีผลทดสอบภาคสนามยืนยัน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[เวลา 4:00–4:35 นาที | 35 วินาที]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Smart Queue Food วางตำแหน่งสำหรับโรงอาหารที่นักศึกษาเดินมารับเอง การเดินมารับเป็นพฤติกรรมเดิมของผู้ใช้ เราจึงเน้นการจัดเวลารับและเชื่อมคำสั่งซื้อกับงานในครัว ตารางนี้เปรียบเทียบรูปแบบบริการ ไม่ใช่ผลการทดสอบคู่แข่ง เราไม่ใช้ค่าจีพีหรือค่าส่งตายตัวของแพลตฟอร์มอื่น เพราะขึ้นกับเงื่อนไขและช่วงเวลา จุดที่ต้องพิสูจน์คือระบบช่วยจัดคิวในบริบทของร้านโรงอาหารได้จริงและร้านยอมรับค่าธรรมเนียมที่เสนอ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จุดเน้นและการตอบคำถาม</a:t>
            </a:r>
          </a:p>
          <a:p xmlns:a="http://schemas.openxmlformats.org/drawingml/2006/main">
            <a:r>
              <a:t>• ไม่กล่าวว่าเดลิเวอรีทุกบริการไม่มีระบบสั่งล่วงหน้า</a:t>
            </a:r>
          </a:p>
          <a:p xmlns:a="http://schemas.openxmlformats.org/drawingml/2006/main">
            <a:r>
              <a:t>• ค่าธรรมเนียม 3–5% เป็นข้อเสนอธุรกิจของโครงการ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แหล่งที่มา</a:t>
            </a:r>
          </a:p>
          <a:p xmlns:a="http://schemas.openxmlformats.org/drawingml/2006/main">
            <a:r>
              <a:t>สไลด์ต้นฉบับหน้า 10–11; รายงานบทที่ 3.3 และ 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สถานะโครงการ: แนวคิดธุรกิจและการศึกษาความเป็นไปได้ ยังไม่มีผลทดสอบภาคสนามยืนยัน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[เวลา 4:35–5:10 นาที | 35 วินาที]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กลยุทธ์สี่พีเริ่มจากผลิตภัณฑ์ที่ใช้ LINE ร่วมกับจอครัว ด้านราคาผู้ใช้จ่ายราคาอาหารและมารับเอง ส่วนร้านจ่ายค่าธรรมเนียมที่เสนอสามถึงห้าเปอร์เซ็นต์ ด้านช่องทางเริ่มที่สามร้านใน FITM พร้อมจุดรับอาหารชัดเจน การส่งเสริมการตลาดใช้ป้าย QR เพจนักศึกษา และทีมสาธิตหน้างาน เป้าหมายคือใช้ได้จริงทั้งสองฝั่งก่อนเพิ่มงบโฆษณา หากจัดโปรโมชันต้องกำหนดผู้รับภาระและงบให้ชัด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จุดเน้นและการตอบคำถาม</a:t>
            </a:r>
          </a:p>
          <a:p xmlns:a="http://schemas.openxmlformats.org/drawingml/2006/main">
            <a:r>
              <a:t>• ราคาเท่าหน้าร้านเป็นเงื่อนไขที่ต้องตกลงกับร้าน</a:t>
            </a:r>
          </a:p>
          <a:p xmlns:a="http://schemas.openxmlformats.org/drawingml/2006/main">
            <a:r>
              <a:t>• งบส่วนลดและโปรโมชันยังไม่รวมในกรณีการเงิน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แหล่งที่มา</a:t>
            </a:r>
          </a:p>
          <a:p xmlns:a="http://schemas.openxmlformats.org/drawingml/2006/main">
            <a:r>
              <a:t>สไลด์ต้นฉบับหน้า 11; รายงานบทที่ 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สถานะโครงการ: แนวคิดธุรกิจและการศึกษาความเป็นไปได้ ยังไม่มีผลทดสอบภาคสนามยืนยัน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[เวลา 5:10–5:55 นาที | 45 วินาที]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สถาปัตยกรรมที่เสนอใช้ LINE LIFF เป็นหน้าผู้ใช้ Cloud API ดูแลรายการสั่งซื้อ การชำระเงิน การจัดคิว และฐานข้อมูล จากนั้นส่งออเดอร์ที่ตรวจสอบแล้วไปจอ KDS เมื่อร้านอัปเดตว่าอาหารพร้อม ระบบส่งข้อความกลับผ่าน LINE OA การตรวจสลิปต้องตรวจยอด ผู้รับเงิน และหมายเลขธุรกรรม ป้องกันการใช้ซ้ำ และจัดการกรณีผู้ให้บริการไม่ตอบสนอง การพบว่าสลิปถูกต้องไม่ได้แปลว่าเรารับประกันการชำระเงินทุกกรณี ต้องทดสอบเงื่อนไขกับผู้ให้บริการจริง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จุดเน้นและการตอบคำถาม</a:t>
            </a:r>
          </a:p>
          <a:p xmlns:a="http://schemas.openxmlformats.org/drawingml/2006/main">
            <a:r>
              <a:t>• ไม่อ้างว่าระบบประมวลผลภายใน 3 วินาทีหรือรองรับ 500 รายการหากยังไม่ทดสอบ</a:t>
            </a:r>
          </a:p>
          <a:p xmlns:a="http://schemas.openxmlformats.org/drawingml/2006/main">
            <a:r>
              <a:t>• สถานะชำระเงินสำเร็จต้องผูกกับออเดอร์เพียงครั้งเดียว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แหล่งที่มา</a:t>
            </a:r>
          </a:p>
          <a:p xmlns:a="http://schemas.openxmlformats.org/drawingml/2006/main">
            <a:r>
              <a:t>สไลด์ต้นฉบับหน้า 4–6 และ 12; รายงานบทที่ 4.2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สถานะโครงการ: แนวคิดธุรกิจและการศึกษาความเป็นไปได้ ยังไม่มีผลทดสอบภาคสนามยืนยัน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[เวลา 5:55–6:35 นาที | 40 วินาที]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เมื่อใช้กรอบ Doblin สิบประเภท เราพบจุดเน้นสี่ด้าน กระบวนการคือจัดคิวและปรุงเป็นชุด ระบบผลิตภัณฑ์คือเชื่อม LINE กับจอ KDS บริการคือแจ้งเตือนพร้อมรับ และช่องทางคือใช้ LINE ที่ผู้ใช้คุ้นเคย ส่วนด้านอื่นประกอบด้วยโมเดลค่าธรรมเนียม พันธมิตรมหาวิทยาลัย โครงสร้างทีม ประสิทธิภาพผลิตภัณฑ์ แบรนด์ และการมีส่วนร่วมของลูกค้า กรอบนี้ช่วยอธิบายตำแหน่งของนวัตกรรม แต่ไม่ใช่หลักฐานว่าคู่แข่งไม่มีคุณสมบัติดังกล่าว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จุดเน้นและการตอบคำถาม</a:t>
            </a:r>
          </a:p>
          <a:p xmlns:a="http://schemas.openxmlformats.org/drawingml/2006/main">
            <a:r>
              <a:t>• สี่ด้านที่เน้นคือแนวทางออกแบบของทีม</a:t>
            </a:r>
          </a:p>
          <a:p xmlns:a="http://schemas.openxmlformats.org/drawingml/2006/main">
            <a:r>
              <a:t>• แต้มและรีวิวเป็นแผนเพิ่มความสัมพันธ์ ยังไม่รวมรายได้ในกรณีฐาน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แหล่งที่มา</a:t>
            </a:r>
          </a:p>
          <a:p xmlns:a="http://schemas.openxmlformats.org/drawingml/2006/main">
            <a:r>
              <a:t>สไลด์ต้นฉบับหน้า 12; รายงานบทที่ 8.1; กรอบ Doblin จากเอกสารรายวิชา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สถานะโครงการ: แนวคิดธุรกิจและการศึกษาความเป็นไปได้ ยังไม่มีผลทดสอบภาคสนามยืนยัน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[เวลา 6:35–7:10 นาที | 35 วินาที]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ทีมต้องเตรียมข้อตกลงผู้สร้างสรรค์และสิทธิใช้ซอฟต์แวร์ ตรวจชื่อและโลโก้ก่อนยื่นเครื่องหมายการค้า และจำกัดการเข้าถึงองค์ความรู้ที่ต้องการเก็บเป็นความลับทางการค้า สำหรับสิทธิบัตรหรืออนุสิทธิบัตร ต้องประเมินคุณสมบัติของการประดิษฐ์และข้อยกเว้นก่อน ไม่กล่าวว่าโปรแกรมคอมพิวเตอร์ได้รับสิทธิบัตรโดยอัตโนมัติ ด้านข้อมูลผู้ใช้ ควรเก็บเฉพาะที่จำเป็น แจ้งวัตถุประสงค์และระยะเวลาเก็บ แบ่งสิทธิร้านค้า และวางขั้นตอนลบข้อมูล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จุดเน้นและการตอบคำถาม</a:t>
            </a:r>
          </a:p>
          <a:p xmlns:a="http://schemas.openxmlformats.org/drawingml/2006/main">
            <a:r>
              <a:t>• เป็นแผนจัดการสิทธิ ไม่ใช่การยืนยันการจดทะเบียนสำเร็จ</a:t>
            </a:r>
          </a:p>
          <a:p xmlns:a="http://schemas.openxmlformats.org/drawingml/2006/main">
            <a:r>
              <a:t>• ให้ผู้รับผิดชอบตรวจรายละเอียดก่อนนำไปใช้งานจริง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แหล่งที่มา</a:t>
            </a:r>
          </a:p>
          <a:p xmlns:a="http://schemas.openxmlformats.org/drawingml/2006/main">
            <a:r>
              <a:t>รายงานบทที่ 8.2 และ 10.4; กรมทรัพย์สินทางปัญญา: https://www.ipthailand.go.th/th/faq.html ; แนวทางซอฟต์แวร์: https://ipthailand.go.th/images/3534/2564/Copyright/software_program_20201027.pdf ; คู่มือสิทธิบัตร: https://www.ipthailand.go.th/images/780/Guide_to_determine_the_application.pdf ; พ.ร.บ.คุ้มครองข้อมูลส่วนบุคคล มาตรา 22–23: https://www.dol.go.th/PDPA/Documents/PDPA/PDPA-Act2019.pdf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สถานะโครงการ: แนวคิดธุรกิจและการศึกษาความเป็นไปได้ ยังไม่มีผลทดสอบภาคสนามยืนยัน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[เวลา 7:10–7:45 นาที | 35 วินาที]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ก่อนนำร่องมีความเสี่ยงที่ต้องเตรียมสี่เรื่อง หากอินเทอร์เน็ตมีปัญหาต้องมีเครือข่ายสำรองและวิธีรับคิวด้วยมือ หากร้านยังไม่คล่องต้องสอนหน้างานและเริ่มจากช่วงที่คิวไม่หนาแน่น หากมีข้อผิดพลาดในการชำระหรือคืนเงินต้องบันทึกและให้คนทบทวน และเมื่อครัวรับไม่ไหวต้องจำกัดสล็อตหรือหยุดรับรายการชั่วคราว ไม่ปล่อยให้ออเดอร์สะสมโดยไม่มีขอบเขต นอกจากนี้ยังติดตามฤดูกาลเรียน การแข่งขัน สุขอนามัยและข้อมูลผู้ใช้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จุดเน้นและการตอบคำถาม</a:t>
            </a:r>
          </a:p>
          <a:p xmlns:a="http://schemas.openxmlformats.org/drawingml/2006/main">
            <a:r>
              <a:t>• ความเสี่ยงแต่ละรายการต้องมีเจ้าของและขั้นตอนที่ทดลองแล้ว</a:t>
            </a:r>
          </a:p>
          <a:p xmlns:a="http://schemas.openxmlformats.org/drawingml/2006/main">
            <a:r>
              <a:t>• การจ่ายล่วงหน้าไม่ขจัดปัญหาการไม่มารับหรือข้อพิพาททั้งหมด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แหล่งที่มา</a:t>
            </a:r>
          </a:p>
          <a:p xmlns:a="http://schemas.openxmlformats.org/drawingml/2006/main">
            <a:r>
              <a:t>สไลด์ต้นฉบับหน้า 13; รายงานบทที่ 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สถานะโครงการ: แนวคิดธุรกิจและการศึกษาความเป็นไปได้ ยังไม่มีผลทดสอบภาคสนามยืนยัน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[เวลา 7:45–8:45 นาที | 60 วินาที]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ตัวเลขหน้านี้เป็นการจำลองสำหรับสามร้าน ใช้สมมติฐานสี่ร้อยออเดอร์ต่อวัน ราคาเฉลี่ยสี่สิบห้าบาท ค่าธรรมเนียมสามเปอร์เซ็นต์ และยี่สิบวันต่อเดือน รายได้จึงเท่ากับหนึ่งหมื่นแปดร้อยบาท หักค่าใช้จ่ายสามพันสองร้อยบาท เหลือส่วนต่างเจ็ดพันหกร้อยบาท เงินลงทุนสองหมื่นแปดพันห้าร้อยบาทหารส่วนต่างนี้ได้สามจุดเจ็ดห้าเดือน หรือประมาณสามจุดแปดเดือน หากมีสองร้อยออเดอร์ต่อวันส่วนต่างจะเหลือสองพันสองร้อยบาท จุดคุ้มค่าใช้จ่ายอยู่ที่หนึ่งร้อยสิบเก้าออเดอร์ต่อวันโดยประมาณ ตัวเลขยังไม่รวมค่าแรง ค่าตรวจสลิป ภาษีและส่วนลด จึงไม่ใช่กำไรสุทธิหรือการรับประกันคืนทุน ต้องปรับด้วยต้นทุนจริงก่อนตัดสินใจลงทุน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จุดเน้นและการตอบคำถาม</a:t>
            </a:r>
          </a:p>
          <a:p xmlns:a="http://schemas.openxmlformats.org/drawingml/2006/main">
            <a:r>
              <a:t>• CAPEX: แท็บเล็ต 18,000 + ประชาสัมพันธ์ 6,500 + สำรอง/จัดตั้ง 4,000 = 28,500 บาท</a:t>
            </a:r>
          </a:p>
          <a:p xmlns:a="http://schemas.openxmlformats.org/drawingml/2006/main">
            <a:r>
              <a:t>• OPEX: Cloud 1,800 + LINE 1,200 + ดูแลอุปกรณ์ 200 = 3,200 บาท</a:t>
            </a:r>
          </a:p>
          <a:p xmlns:a="http://schemas.openxmlformats.org/drawingml/2006/main">
            <a:r>
              <a:t>• กรณีฐานนี้ใช้ 3 ร้าน GP 3% ส่วนกรณีขยายต้องคำนวณใหม่ด้วยต้นทุนและปริมาณจริง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แหล่งที่มา</a:t>
            </a:r>
          </a:p>
          <a:p xmlns:a="http://schemas.openxmlformats.org/drawingml/2006/main">
            <a:r>
              <a:t>สไลด์ต้นฉบับหน้า 11 และ 14; คำนวณใหม่: รายได้ Q × 45 × 0.03 × 20; ส่วนต่าง = รายได้ − 3,200; จุดคุ้มค่าใช้จ่าย = ceil(3,200 ÷ (45 × 0.03 × 20)) = 119 ออเดอร์/วัน; รายงานบทที่ 10.3 ใช้สมมติฐานอีกกรณี จึงไม่ปะปน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สถานะโครงการ: แนวคิดธุรกิจและการศึกษาความเป็นไปได้ ยังไม่มีผลทดสอบภาคสนามยืนยัน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[เวลา 8:45–9:15 นาที | 30 วินาที]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ทีมมีเจ็ดบทบาท ปรัชญาดูแลภาพรวมและโครงการ กลวัชรดูแลระบบ ดนุสรณ์ดูแลผลิตภัณฑ์และประสบการณ์ผู้ใช้ สรภัทรดูแลร้านค้าและปฏิบัติการ ธวัชชัยดูแลการตลาด ทัพหน้าดูแลงบประมาณ และปภาวินดูแลสิทธิและคุณภาพ หน้าที่ก่อนนำร่องคือเตรียมระบบที่ทดสอบได้ ฝึกร้านค้า และยืนยันเงื่อนไขการเงินและการใช้งาน เราไม่ได้อ้างว่าระบบพร้อมใช้งานสมบูรณ์หนึ่งร้อยเปอร์เซ็นต์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จุดเน้นและการตอบคำถาม</a:t>
            </a:r>
          </a:p>
          <a:p xmlns:a="http://schemas.openxmlformats.org/drawingml/2006/main">
            <a:r>
              <a:t>• คงรายชื่อและรหัสนักศึกษาตามไฟล์ส่งงาน</a:t>
            </a:r>
          </a:p>
          <a:p xmlns:a="http://schemas.openxmlformats.org/drawingml/2006/main">
            <a:r>
              <a:t>• ใช้ชื่อและบทบาทสั้นเมื่อพูด ไม่อ่านรหัสนักศึกษา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แหล่งที่มา</a:t>
            </a:r>
          </a:p>
          <a:p xmlns:a="http://schemas.openxmlformats.org/drawingml/2006/main">
            <a:r>
              <a:t>สไลด์ต้นฉบับหน้า 1; README_คำอธิบายไฟล์ส่งงาน.txt; รายงานบทที่ 10.4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สถานะโครงการ: แนวคิดธุรกิจและการศึกษาความเป็นไปได้ ยังไม่มีผลทดสอบภาคสนามยืนยัน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[เวลา 9:15–10:00 นาที | 45 วินาที]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ข้อเสนอของเราคือทดลองกับสามร้านใน FITM ภายในหกสิบวัน ช่วงแรกสำรวจเวลารอและตกลงเงื่อนไข ช่วงกลางสร้างต้นแบบ ทดสอบ และฝึกใช้ จากนั้นนำร่องช่วงเที่ยงและประเมินก่อนขยาย เราขอพื้นที่ทดลองและช่องทางประชาสัมพันธ์ของคณะ การตัดสินใจขยายจะใช้เวลารอจริง ข้อผิดพลาดออเดอร์ ความพึงพอใจ และความพร้อมของร้าน หากข้อมูลไม่ดีพอต้องปรับกระบวนการก่อนขยาย ขอบคุณครับ และยินดีรับคำถามในช่วงห้านาทีต่อไป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จุดเน้นและการตอบคำถาม</a:t>
            </a:r>
          </a:p>
          <a:p xmlns:a="http://schemas.openxmlformats.org/drawingml/2006/main">
            <a:r>
              <a:t>• อย่าสรุปเป้าหมายเป็นผลสำเร็จที่เกิดขึ้นแล้ว</a:t>
            </a:r>
          </a:p>
          <a:p xmlns:a="http://schemas.openxmlformats.org/drawingml/2006/main">
            <a:r>
              <a:t>• ตอบเรื่องคุ้มทุนด้วยสมมติฐานและรายการต้นทุนที่ยังไม่รวม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แหล่งที่มา</a:t>
            </a:r>
          </a:p>
          <a:p xmlns:a="http://schemas.openxmlformats.org/drawingml/2006/main">
            <a:r>
              <a:t>สไลด์ต้นฉบับหน้า 3 และ 15; รายงานบทที่ 2 และ 10.2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สถานะโครงการ: แนวคิดธุรกิจและการศึกษาความเป็นไปได้ ยังไม่มีผลทดสอบภาคสนามยืนยัน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5d3f98b6f6462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9d56c8000844847" /><Relationship Type="http://schemas.openxmlformats.org/officeDocument/2006/relationships/slideLayout" Target="/ppt/slideLayouts/slideLayout1.xml" Id="Rc66934fd688f464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66934fd688f464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c2f8a279334475" /><Relationship Type="http://schemas.openxmlformats.org/officeDocument/2006/relationships/image" Target="/ppt/media/image.png" Id="R0b96af34416f4427" /><Relationship Type="http://schemas.openxmlformats.org/officeDocument/2006/relationships/image" Target="/ppt/media/image2.png" Id="R6b73b084e648484f" /><Relationship Type="http://schemas.openxmlformats.org/officeDocument/2006/relationships/notesSlide" Target="/ppt/notesSlides/notesSlide1.xml" Id="R613cc6756d0b42c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8059e89a3d4178" /><Relationship Type="http://schemas.openxmlformats.org/officeDocument/2006/relationships/notesSlide" Target="/ppt/notesSlides/notesSlide2.xml" Id="R61223fb84718496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afa64de4e34e8c" /><Relationship Type="http://schemas.openxmlformats.org/officeDocument/2006/relationships/notesSlide" Target="/ppt/notesSlides/notesSlide3.xml" Id="R9832e012c611411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8cff395bf14bd5" /><Relationship Type="http://schemas.openxmlformats.org/officeDocument/2006/relationships/image" Target="/ppt/media/image.jpeg" Id="R9c7172e0023c46d7" /><Relationship Type="http://schemas.openxmlformats.org/officeDocument/2006/relationships/notesSlide" Target="/ppt/notesSlides/notesSlide4.xml" Id="Re45eb9b634eb4d1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e3701532594725" /><Relationship Type="http://schemas.openxmlformats.org/officeDocument/2006/relationships/notesSlide" Target="/ppt/notesSlides/notesSlide5.xml" Id="Ra5519ee6347a420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43f080e718461b" /><Relationship Type="http://schemas.openxmlformats.org/officeDocument/2006/relationships/notesSlide" Target="/ppt/notesSlides/notesSlide6.xml" Id="Rd47d891d977840a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3c216f1421449d" /><Relationship Type="http://schemas.openxmlformats.org/officeDocument/2006/relationships/notesSlide" Target="/ppt/notesSlides/notesSlide7.xml" Id="R12d2129e06744b2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61c40989c34498" /><Relationship Type="http://schemas.openxmlformats.org/officeDocument/2006/relationships/notesSlide" Target="/ppt/notesSlides/notesSlide8.xml" Id="Rfa6d91479cc9467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d9bcf734ff433a" /><Relationship Type="http://schemas.openxmlformats.org/officeDocument/2006/relationships/notesSlide" Target="/ppt/notesSlides/notesSlide9.xml" Id="Rcb9ce0ffd9084fa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a5e50aeb1a48db" /><Relationship Type="http://schemas.openxmlformats.org/officeDocument/2006/relationships/notesSlide" Target="/ppt/notesSlides/notesSlide10.xml" Id="R02cded50c36c481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a2bf9b2bc74da9" /><Relationship Type="http://schemas.openxmlformats.org/officeDocument/2006/relationships/notesSlide" Target="/ppt/notesSlides/notesSlide11.xml" Id="Rc9f12adbb44f426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9abc2b61504c48" /><Relationship Type="http://schemas.openxmlformats.org/officeDocument/2006/relationships/notesSlide" Target="/ppt/notesSlides/notesSlide12.xml" Id="R93015114adc5435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bb4fa75c144348" /><Relationship Type="http://schemas.openxmlformats.org/officeDocument/2006/relationships/notesSlide" Target="/ppt/notesSlides/notesSlide13.xml" Id="Rdca7bb670976488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76cb8bf5a54802" /><Relationship Type="http://schemas.openxmlformats.org/officeDocument/2006/relationships/notesSlide" Target="/ppt/notesSlides/notesSlide14.xml" Id="Rb7fc0eaa932e458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93b8e0a3bf4eb0" /><Relationship Type="http://schemas.openxmlformats.org/officeDocument/2006/relationships/notesSlide" Target="/ppt/notesSlides/notesSlide15.xml" Id="R2bea7b82459e437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3F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1">
            <a:extLst xmlns:a="http://schemas.openxmlformats.org/drawingml/2006/main">
              <a:ext uri="{FF2B5EF4-FFF2-40B4-BE49-F238E27FC236}">
                <a16:creationId xmlns:a16="http://schemas.microsoft.com/office/drawing/2014/main" id="{64E389C2-A22B-4106-BD77-AE5D81157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1475"/>
            <a:ext cx="1000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500" b="1">
                <a:solidFill>
                  <a:srgbClr val="D5E8B6"/>
                </a:solidFill>
                <a:latin typeface="Leelawadee UI"/>
                <a:ea typeface="Leelawadee UI"/>
                <a:cs typeface="Leelawadee UI"/>
              </a:defRPr>
            </a:pPr>
            <a:r>
              <a:rPr sz="1500" b="1">
                <a:solidFill>
                  <a:srgbClr val="D5E8B6"/>
                </a:solidFill>
                <a:latin typeface="Leelawadee UI"/>
                <a:ea typeface="Leelawadee UI"/>
                <a:cs typeface="Leelawadee UI"/>
              </a:rPr>
              <a:t>080203914  ผู้ประกอบการนวัตกรรม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96af34416f4427"/>
          <a:stretch xmlns:a="http://schemas.openxmlformats.org/drawingml/2006/main"/>
        </p:blipFill>
        <p:spPr>
          <a:xfrm xmlns:a="http://schemas.openxmlformats.org/drawingml/2006/main">
            <a:off x="10877550" y="247650"/>
            <a:ext cx="628650" cy="628650"/>
          </a:xfrm>
          <a:prstGeom xmlns:a="http://schemas.openxmlformats.org/drawingml/2006/main" prst="rect">
            <a:avLst/>
          </a:prstGeom>
        </p:spPr>
      </p:pic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E6C21E82-C4FF-4E91-BBB0-BBBC71E65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47750"/>
            <a:ext cx="5429250" cy="1895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5475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pPr>
            <a:r>
              <a:rPr sz="5475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Smart Queue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5475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pPr>
            <a:r>
              <a:rPr sz="5475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Food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DBD4A083-FFE1-41B7-8361-885CC7317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19425"/>
            <a:ext cx="561975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625" b="0">
                <a:solidFill>
                  <a:srgbClr val="F7F6F0"/>
                </a:solidFill>
                <a:latin typeface="Leelawadee UI"/>
                <a:ea typeface="Leelawadee UI"/>
                <a:cs typeface="Leelawadee UI"/>
              </a:defRPr>
            </a:pPr>
            <a:r>
              <a:rPr sz="2625" b="0">
                <a:solidFill>
                  <a:srgbClr val="F7F6F0"/>
                </a:solidFill>
                <a:latin typeface="Leelawadee UI"/>
                <a:ea typeface="Leelawadee UI"/>
                <a:cs typeface="Leelawadee UI"/>
              </a:rPr>
              <a:t>สั่งล่วงหน้าผ่าน LINE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2625" b="0">
                <a:solidFill>
                  <a:srgbClr val="F7F6F0"/>
                </a:solidFill>
                <a:latin typeface="Leelawadee UI"/>
                <a:ea typeface="Leelawadee UI"/>
                <a:cs typeface="Leelawadee UI"/>
              </a:defRPr>
            </a:pPr>
            <a:r>
              <a:rPr sz="2625" b="0">
                <a:solidFill>
                  <a:srgbClr val="F7F6F0"/>
                </a:solidFill>
                <a:latin typeface="Leelawadee UI"/>
                <a:ea typeface="Leelawadee UI"/>
                <a:cs typeface="Leelawadee UI"/>
              </a:rPr>
              <a:t>จัดคิวในครัวให้พร้อมรับ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73b084e648484f"/>
          <a:srcRect xmlns:a="http://schemas.openxmlformats.org/drawingml/2006/main" l="214" t="0" r="21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0" y="1104900"/>
            <a:ext cx="5257800" cy="2971800"/>
          </a:xfrm>
          <a:prstGeom xmlns:a="http://schemas.openxmlformats.org/drawingml/2006/main" prst="rect">
            <a:avLst/>
          </a:prstGeom>
        </p:spPr>
      </p:pic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DEFAA60A-6AA1-491B-B5AE-29E1A3300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71950"/>
            <a:ext cx="5257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7620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275" b="0">
                <a:solidFill>
                  <a:srgbClr val="D5E8B6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0">
                <a:solidFill>
                  <a:srgbClr val="D5E8B6"/>
                </a:solidFill>
                <a:latin typeface="Leelawadee UI"/>
                <a:ea typeface="Leelawadee UI"/>
                <a:cs typeface="Leelawadee UI"/>
              </a:rPr>
              <a:t>ภาพจำลองแนวคิดผลิตภัณฑ์</a:t>
            </a:r>
          </a:p>
        </p:txBody>
      </p:sp>
      <p:sp>
        <p:nvSpPr>
          <p:cNvPr id="7" name="panel-5">
            <a:extLst xmlns:a="http://schemas.openxmlformats.org/drawingml/2006/main">
              <a:ext uri="{FF2B5EF4-FFF2-40B4-BE49-F238E27FC236}">
                <a16:creationId xmlns:a16="http://schemas.microsoft.com/office/drawing/2014/main" id="{EC183741-7D90-4F2D-A147-35E05E45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0"/>
          </a:solidFill>
          <a:ln xmlns:a="http://schemas.openxmlformats.org/drawingml/2006/main" w="0">
            <a:noFill/>
          </a:ln>
        </p:spPr>
      </p:sp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A6DB90C4-1AD7-4145-A73E-CB3266F3A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053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725" b="1">
                <a:solidFill>
                  <a:srgbClr val="173F35"/>
                </a:solidFill>
                <a:latin typeface="Leelawadee UI"/>
                <a:ea typeface="Leelawadee UI"/>
                <a:cs typeface="Leelawadee UI"/>
              </a:defRPr>
            </a:pPr>
            <a:r>
              <a:rPr sz="1725" b="1">
                <a:solidFill>
                  <a:srgbClr val="173F35"/>
                </a:solidFill>
                <a:latin typeface="Leelawadee UI"/>
                <a:ea typeface="Leelawadee UI"/>
                <a:cs typeface="Leelawadee UI"/>
              </a:rPr>
              <a:t>กลุ่ม Smart Queue Food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11279653-5ABD-441C-92A7-0E7A3A04F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724400"/>
            <a:ext cx="5048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7620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5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5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FITM  มจพ. วิทยาเขตปราจีนบุรี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3A5D75BD-4C49-417B-8287-F121B078E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14925"/>
            <a:ext cx="30956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575" b="0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1575" b="0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ปรัชญา เรืองโรจน์</a:t>
            </a:r>
          </a:p>
        </p:txBody>
      </p:sp>
      <p:sp>
        <p:nvSpPr>
          <p:cNvPr id="11" name="text-9">
            <a:extLst xmlns:a="http://schemas.openxmlformats.org/drawingml/2006/main">
              <a:ext uri="{FF2B5EF4-FFF2-40B4-BE49-F238E27FC236}">
                <a16:creationId xmlns:a16="http://schemas.microsoft.com/office/drawing/2014/main" id="{DDBB79C1-0ECD-4403-ADCD-C13307877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133975"/>
            <a:ext cx="2238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3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6806021612347</a:t>
            </a:r>
          </a:p>
        </p:txBody>
      </p:sp>
      <p:sp>
        <p:nvSpPr>
          <p:cNvPr id="12" name="text-10">
            <a:extLst xmlns:a="http://schemas.openxmlformats.org/drawingml/2006/main">
              <a:ext uri="{FF2B5EF4-FFF2-40B4-BE49-F238E27FC236}">
                <a16:creationId xmlns:a16="http://schemas.microsoft.com/office/drawing/2014/main" id="{7FBF0B7C-C384-4D3A-B581-84E1190DB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48300"/>
            <a:ext cx="30956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575" b="0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1575" b="0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กลวัชร กุลเกษ</a:t>
            </a:r>
          </a:p>
        </p:txBody>
      </p:sp>
      <p:sp>
        <p:nvSpPr>
          <p:cNvPr id="13" name="text-11">
            <a:extLst xmlns:a="http://schemas.openxmlformats.org/drawingml/2006/main">
              <a:ext uri="{FF2B5EF4-FFF2-40B4-BE49-F238E27FC236}">
                <a16:creationId xmlns:a16="http://schemas.microsoft.com/office/drawing/2014/main" id="{CF336294-2CE9-4EA4-9BDD-F47043BD3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467350"/>
            <a:ext cx="2238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3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6806021612363</a:t>
            </a:r>
          </a:p>
        </p:txBody>
      </p:sp>
      <p:sp>
        <p:nvSpPr>
          <p:cNvPr id="14" name="text-12">
            <a:extLst xmlns:a="http://schemas.openxmlformats.org/drawingml/2006/main">
              <a:ext uri="{FF2B5EF4-FFF2-40B4-BE49-F238E27FC236}">
                <a16:creationId xmlns:a16="http://schemas.microsoft.com/office/drawing/2014/main" id="{CECA1821-3325-4822-A8C9-BD0C8A607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81675"/>
            <a:ext cx="30956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575" b="0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1575" b="0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ดนุสรณ์ อุปรี</a:t>
            </a:r>
          </a:p>
        </p:txBody>
      </p:sp>
      <p:sp>
        <p:nvSpPr>
          <p:cNvPr id="15" name="text-13">
            <a:extLst xmlns:a="http://schemas.openxmlformats.org/drawingml/2006/main">
              <a:ext uri="{FF2B5EF4-FFF2-40B4-BE49-F238E27FC236}">
                <a16:creationId xmlns:a16="http://schemas.microsoft.com/office/drawing/2014/main" id="{4BB14C6D-C4CC-40D2-A97A-50CE57CF2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800725"/>
            <a:ext cx="2238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3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6806021611413</a:t>
            </a:r>
          </a:p>
        </p:txBody>
      </p:sp>
      <p:sp>
        <p:nvSpPr>
          <p:cNvPr id="16" name="text-14">
            <a:extLst xmlns:a="http://schemas.openxmlformats.org/drawingml/2006/main">
              <a:ext uri="{FF2B5EF4-FFF2-40B4-BE49-F238E27FC236}">
                <a16:creationId xmlns:a16="http://schemas.microsoft.com/office/drawing/2014/main" id="{A7024527-1A84-426E-8A8F-4A195808F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15050"/>
            <a:ext cx="30956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575" b="0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1575" b="0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สรภัทร ชัยวงศ์</a:t>
            </a:r>
          </a:p>
        </p:txBody>
      </p:sp>
      <p:sp>
        <p:nvSpPr>
          <p:cNvPr id="17" name="text-15">
            <a:extLst xmlns:a="http://schemas.openxmlformats.org/drawingml/2006/main">
              <a:ext uri="{FF2B5EF4-FFF2-40B4-BE49-F238E27FC236}">
                <a16:creationId xmlns:a16="http://schemas.microsoft.com/office/drawing/2014/main" id="{E6682D2C-E444-4359-B9FD-446EDD956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6134100"/>
            <a:ext cx="2238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3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6806021612274</a:t>
            </a:r>
          </a:p>
        </p:txBody>
      </p:sp>
      <p:sp>
        <p:nvSpPr>
          <p:cNvPr id="18" name="text-16">
            <a:extLst xmlns:a="http://schemas.openxmlformats.org/drawingml/2006/main">
              <a:ext uri="{FF2B5EF4-FFF2-40B4-BE49-F238E27FC236}">
                <a16:creationId xmlns:a16="http://schemas.microsoft.com/office/drawing/2014/main" id="{6CC87A5C-E573-431E-A79D-7FDBD13D1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114925"/>
            <a:ext cx="30956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575" b="0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1575" b="0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ธวัชชัย คำเขียน</a:t>
            </a:r>
          </a:p>
        </p:txBody>
      </p:sp>
      <p:sp>
        <p:nvSpPr>
          <p:cNvPr id="19" name="text-17">
            <a:extLst xmlns:a="http://schemas.openxmlformats.org/drawingml/2006/main">
              <a:ext uri="{FF2B5EF4-FFF2-40B4-BE49-F238E27FC236}">
                <a16:creationId xmlns:a16="http://schemas.microsoft.com/office/drawing/2014/main" id="{79C89EEF-FBC6-45F7-8C7E-91D4A6C9C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133975"/>
            <a:ext cx="2238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3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6806021612169</a:t>
            </a:r>
          </a:p>
        </p:txBody>
      </p:sp>
      <p:sp>
        <p:nvSpPr>
          <p:cNvPr id="20" name="text-18">
            <a:extLst xmlns:a="http://schemas.openxmlformats.org/drawingml/2006/main">
              <a:ext uri="{FF2B5EF4-FFF2-40B4-BE49-F238E27FC236}">
                <a16:creationId xmlns:a16="http://schemas.microsoft.com/office/drawing/2014/main" id="{2D333E01-1A72-4792-BB49-6BB9B7D81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48300"/>
            <a:ext cx="30956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575" b="0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1575" b="0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ทัพหน้า นิลวัฒน์</a:t>
            </a:r>
          </a:p>
        </p:txBody>
      </p:sp>
      <p:sp>
        <p:nvSpPr>
          <p:cNvPr id="21" name="text-19">
            <a:extLst xmlns:a="http://schemas.openxmlformats.org/drawingml/2006/main">
              <a:ext uri="{FF2B5EF4-FFF2-40B4-BE49-F238E27FC236}">
                <a16:creationId xmlns:a16="http://schemas.microsoft.com/office/drawing/2014/main" id="{307AB66C-AA0C-4848-B0BF-690EF5F2E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467350"/>
            <a:ext cx="2238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3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6806021612193</a:t>
            </a:r>
          </a:p>
        </p:txBody>
      </p:sp>
      <p:sp>
        <p:nvSpPr>
          <p:cNvPr id="22" name="text-20">
            <a:extLst xmlns:a="http://schemas.openxmlformats.org/drawingml/2006/main">
              <a:ext uri="{FF2B5EF4-FFF2-40B4-BE49-F238E27FC236}">
                <a16:creationId xmlns:a16="http://schemas.microsoft.com/office/drawing/2014/main" id="{0D1F9B3C-9207-4C41-8C60-B4B752AB7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781675"/>
            <a:ext cx="30956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575" b="0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1575" b="0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ปภาวิน ธิติชุณหกุล</a:t>
            </a:r>
          </a:p>
        </p:txBody>
      </p:sp>
      <p:sp>
        <p:nvSpPr>
          <p:cNvPr id="23" name="text-21">
            <a:extLst xmlns:a="http://schemas.openxmlformats.org/drawingml/2006/main">
              <a:ext uri="{FF2B5EF4-FFF2-40B4-BE49-F238E27FC236}">
                <a16:creationId xmlns:a16="http://schemas.microsoft.com/office/drawing/2014/main" id="{79CC5005-717B-4909-8978-B44FC4830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800725"/>
            <a:ext cx="2238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3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6806021612037</a:t>
            </a:r>
          </a:p>
        </p:txBody>
      </p:sp>
      <p:sp>
        <p:nvSpPr>
          <p:cNvPr id="24" name="text-22">
            <a:extLst xmlns:a="http://schemas.openxmlformats.org/drawingml/2006/main">
              <a:ext uri="{FF2B5EF4-FFF2-40B4-BE49-F238E27FC236}">
                <a16:creationId xmlns:a16="http://schemas.microsoft.com/office/drawing/2014/main" id="{2E00CAAA-AE04-4452-BE65-CD2B84A2F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6219825"/>
            <a:ext cx="50006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142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แนวคิดธุรกิจและการศึกษาความเป็นไปได้</a:t>
            </a:r>
          </a:p>
        </p:txBody>
      </p:sp>
      <p:sp>
        <p:nvSpPr>
          <p:cNvPr id="25" name="text-23">
            <a:extLst xmlns:a="http://schemas.openxmlformats.org/drawingml/2006/main">
              <a:ext uri="{FF2B5EF4-FFF2-40B4-BE49-F238E27FC236}">
                <a16:creationId xmlns:a16="http://schemas.microsoft.com/office/drawing/2014/main" id="{BE35101E-B83E-4253-8B2C-2F76581DB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6515100"/>
            <a:ext cx="5000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ตุลาคม 2569   นำเสนอ 10 นาที   ถาม–ตอบ 5 นาที</a:t>
            </a:r>
          </a:p>
        </p:txBody>
      </p:sp>
    </p:spTree>
    <p:extLst>
      <p:ext uri="{BB962C8B-B14F-4D97-AF65-F5344CB8AC3E}">
        <p14:creationId xmlns:p14="http://schemas.microsoft.com/office/powerpoint/2010/main" val="1907729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24">
            <a:extLst xmlns:a="http://schemas.openxmlformats.org/drawingml/2006/main">
              <a:ext uri="{FF2B5EF4-FFF2-40B4-BE49-F238E27FC236}">
                <a16:creationId xmlns:a16="http://schemas.microsoft.com/office/drawing/2014/main" id="{00CC71F2-1CEF-4FE9-92E0-8D2B9D041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ปัญหาในโรงอาหาร</a:t>
            </a:r>
          </a:p>
        </p:txBody>
      </p:sp>
      <p:sp>
        <p:nvSpPr>
          <p:cNvPr id="2" name="text-25">
            <a:extLst xmlns:a="http://schemas.openxmlformats.org/drawingml/2006/main">
              <a:ext uri="{FF2B5EF4-FFF2-40B4-BE49-F238E27FC236}">
                <a16:creationId xmlns:a16="http://schemas.microsoft.com/office/drawing/2014/main" id="{2CA2C4F9-2B7A-40C9-97D5-5F8CB3D07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62000"/>
            <a:ext cx="108966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322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322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ช่วงพักเที่ยง ออเดอร์มาถึงครัวพร้อมกัน</a:t>
            </a:r>
          </a:p>
        </p:txBody>
      </p:sp>
      <p:sp>
        <p:nvSpPr>
          <p:cNvPr id="3" name="rule-26">
            <a:extLst xmlns:a="http://schemas.openxmlformats.org/drawingml/2006/main">
              <a:ext uri="{FF2B5EF4-FFF2-40B4-BE49-F238E27FC236}">
                <a16:creationId xmlns:a16="http://schemas.microsoft.com/office/drawing/2014/main" id="{F6FBE099-01F7-46A5-AFF6-C5D73B2DB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CD5CB"/>
            </a:solidFill>
          </a:ln>
        </p:spPr>
      </p:sp>
      <p:sp>
        <p:nvSpPr>
          <p:cNvPr id="4" name="text-27">
            <a:extLst xmlns:a="http://schemas.openxmlformats.org/drawingml/2006/main">
              <a:ext uri="{FF2B5EF4-FFF2-40B4-BE49-F238E27FC236}">
                <a16:creationId xmlns:a16="http://schemas.microsoft.com/office/drawing/2014/main" id="{48286B80-913C-496D-8822-5D65D1CA1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8652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050" b="1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050" b="1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SMART QUEUE FOOD</a:t>
            </a:r>
          </a:p>
        </p:txBody>
      </p:sp>
      <p:sp>
        <p:nvSpPr>
          <p:cNvPr id="5" name="text-28">
            <a:extLst xmlns:a="http://schemas.openxmlformats.org/drawingml/2006/main">
              <a:ext uri="{FF2B5EF4-FFF2-40B4-BE49-F238E27FC236}">
                <a16:creationId xmlns:a16="http://schemas.microsoft.com/office/drawing/2014/main" id="{4BDFCFF8-CFB0-436C-BCBC-79B67D626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67475"/>
            <a:ext cx="1066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7620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20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20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02 / 15</a:t>
            </a:r>
          </a:p>
        </p:txBody>
      </p:sp>
      <p:sp>
        <p:nvSpPr>
          <p:cNvPr id="6" name="text-29">
            <a:extLst xmlns:a="http://schemas.openxmlformats.org/drawingml/2006/main">
              <a:ext uri="{FF2B5EF4-FFF2-40B4-BE49-F238E27FC236}">
                <a16:creationId xmlns:a16="http://schemas.microsoft.com/office/drawing/2014/main" id="{1FF36F20-585A-4764-858D-0832F1510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44767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937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937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5–10</a:t>
            </a:r>
          </a:p>
        </p:txBody>
      </p:sp>
      <p:sp>
        <p:nvSpPr>
          <p:cNvPr id="7" name="text-30">
            <a:extLst xmlns:a="http://schemas.openxmlformats.org/drawingml/2006/main">
              <a:ext uri="{FF2B5EF4-FFF2-40B4-BE49-F238E27FC236}">
                <a16:creationId xmlns:a16="http://schemas.microsoft.com/office/drawing/2014/main" id="{8B1C4E6A-3CFB-4FBF-A7DD-78A088024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00425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550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2550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นาทีที่ต้องรอหน้าเตา</a:t>
            </a:r>
          </a:p>
        </p:txBody>
      </p:sp>
      <p:sp>
        <p:nvSpPr>
          <p:cNvPr id="8" name="text-31">
            <a:extLst xmlns:a="http://schemas.openxmlformats.org/drawingml/2006/main">
              <a:ext uri="{FF2B5EF4-FFF2-40B4-BE49-F238E27FC236}">
                <a16:creationId xmlns:a16="http://schemas.microsoft.com/office/drawing/2014/main" id="{F5EEF372-6404-4EE7-AAFB-D9F5ABEA3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0"/>
            <a:ext cx="4476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8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8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บริบทปัญหาจากเอกสารโครงการ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8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8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ต้องเก็บเวลารอจริงก่อนเริ่มนำร่อง</a:t>
            </a:r>
          </a:p>
        </p:txBody>
      </p:sp>
      <p:sp>
        <p:nvSpPr>
          <p:cNvPr id="9" name="text-32">
            <a:extLst xmlns:a="http://schemas.openxmlformats.org/drawingml/2006/main">
              <a:ext uri="{FF2B5EF4-FFF2-40B4-BE49-F238E27FC236}">
                <a16:creationId xmlns:a16="http://schemas.microsoft.com/office/drawing/2014/main" id="{48802B63-C7D6-4C1D-8448-BAAD5AEA0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876425"/>
            <a:ext cx="5772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25" b="1">
                <a:solidFill>
                  <a:srgbClr val="173F35"/>
                </a:solidFill>
                <a:latin typeface="Leelawadee UI"/>
                <a:ea typeface="Leelawadee UI"/>
                <a:cs typeface="Leelawadee UI"/>
              </a:defRPr>
            </a:pPr>
            <a:r>
              <a:rPr sz="2325" b="1">
                <a:solidFill>
                  <a:srgbClr val="173F35"/>
                </a:solidFill>
                <a:latin typeface="Leelawadee UI"/>
                <a:ea typeface="Leelawadee UI"/>
                <a:cs typeface="Leelawadee UI"/>
              </a:rPr>
              <a:t>เลิกเรียนพร้อมกัน</a:t>
            </a:r>
          </a:p>
        </p:txBody>
      </p:sp>
      <p:sp>
        <p:nvSpPr>
          <p:cNvPr id="10" name="text-33">
            <a:extLst xmlns:a="http://schemas.openxmlformats.org/drawingml/2006/main">
              <a:ext uri="{FF2B5EF4-FFF2-40B4-BE49-F238E27FC236}">
                <a16:creationId xmlns:a16="http://schemas.microsoft.com/office/drawing/2014/main" id="{9D6C7C53-50FA-46D2-9899-5D5BBB292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381250"/>
            <a:ext cx="57721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9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9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คำสั่งซื้อกระจุกตัวช่วง 11:30–13:00 น.</a:t>
            </a:r>
          </a:p>
        </p:txBody>
      </p:sp>
      <p:sp>
        <p:nvSpPr>
          <p:cNvPr id="11" name="rule-34">
            <a:extLst xmlns:a="http://schemas.openxmlformats.org/drawingml/2006/main">
              <a:ext uri="{FF2B5EF4-FFF2-40B4-BE49-F238E27FC236}">
                <a16:creationId xmlns:a16="http://schemas.microsoft.com/office/drawing/2014/main" id="{4D5247FF-90B8-4801-AFB7-13C3DD9CF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990850"/>
            <a:ext cx="5772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CD5CB"/>
            </a:solidFill>
          </a:ln>
        </p:spPr>
      </p:sp>
      <p:sp>
        <p:nvSpPr>
          <p:cNvPr id="12" name="text-35">
            <a:extLst xmlns:a="http://schemas.openxmlformats.org/drawingml/2006/main">
              <a:ext uri="{FF2B5EF4-FFF2-40B4-BE49-F238E27FC236}">
                <a16:creationId xmlns:a16="http://schemas.microsoft.com/office/drawing/2014/main" id="{65F4EB57-36DA-4745-9897-A610FA81A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133725"/>
            <a:ext cx="5772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25" b="1">
                <a:solidFill>
                  <a:srgbClr val="173F35"/>
                </a:solidFill>
                <a:latin typeface="Leelawadee UI"/>
                <a:ea typeface="Leelawadee UI"/>
                <a:cs typeface="Leelawadee UI"/>
              </a:defRPr>
            </a:pPr>
            <a:r>
              <a:rPr sz="2325" b="1">
                <a:solidFill>
                  <a:srgbClr val="173F35"/>
                </a:solidFill>
                <a:latin typeface="Leelawadee UI"/>
                <a:ea typeface="Leelawadee UI"/>
                <a:cs typeface="Leelawadee UI"/>
              </a:rPr>
              <a:t>ครัวมีกำลังผลิตจำกัด</a:t>
            </a:r>
          </a:p>
        </p:txBody>
      </p:sp>
      <p:sp>
        <p:nvSpPr>
          <p:cNvPr id="13" name="text-36">
            <a:extLst xmlns:a="http://schemas.openxmlformats.org/drawingml/2006/main">
              <a:ext uri="{FF2B5EF4-FFF2-40B4-BE49-F238E27FC236}">
                <a16:creationId xmlns:a16="http://schemas.microsoft.com/office/drawing/2014/main" id="{9832B29E-2110-465B-81A6-22E0BD9DF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38550"/>
            <a:ext cx="57721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9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9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รับออเดอร์ ปรุงอาหาร และรับเงินในเวลาเดียวกัน</a:t>
            </a:r>
          </a:p>
        </p:txBody>
      </p:sp>
      <p:sp>
        <p:nvSpPr>
          <p:cNvPr id="14" name="rule-37">
            <a:extLst xmlns:a="http://schemas.openxmlformats.org/drawingml/2006/main">
              <a:ext uri="{FF2B5EF4-FFF2-40B4-BE49-F238E27FC236}">
                <a16:creationId xmlns:a16="http://schemas.microsoft.com/office/drawing/2014/main" id="{A3E777E9-0903-4CB5-9630-4FA748BE2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248150"/>
            <a:ext cx="5772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CD5CB"/>
            </a:solidFill>
          </a:ln>
        </p:spPr>
      </p:sp>
      <p:sp>
        <p:nvSpPr>
          <p:cNvPr id="15" name="text-38">
            <a:extLst xmlns:a="http://schemas.openxmlformats.org/drawingml/2006/main">
              <a:ext uri="{FF2B5EF4-FFF2-40B4-BE49-F238E27FC236}">
                <a16:creationId xmlns:a16="http://schemas.microsoft.com/office/drawing/2014/main" id="{B638561F-9401-4B0B-A5EF-F1B30C1D2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391025"/>
            <a:ext cx="5772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25" b="1">
                <a:solidFill>
                  <a:srgbClr val="173F35"/>
                </a:solidFill>
                <a:latin typeface="Leelawadee UI"/>
                <a:ea typeface="Leelawadee UI"/>
                <a:cs typeface="Leelawadee UI"/>
              </a:defRPr>
            </a:pPr>
            <a:r>
              <a:rPr sz="2325" b="1">
                <a:solidFill>
                  <a:srgbClr val="173F35"/>
                </a:solidFill>
                <a:latin typeface="Leelawadee UI"/>
                <a:ea typeface="Leelawadee UI"/>
                <a:cs typeface="Leelawadee UI"/>
              </a:rPr>
              <a:t>คิวกระดาษจัดกลุ่มยาก</a:t>
            </a:r>
          </a:p>
        </p:txBody>
      </p:sp>
      <p:sp>
        <p:nvSpPr>
          <p:cNvPr id="16" name="text-39">
            <a:extLst xmlns:a="http://schemas.openxmlformats.org/drawingml/2006/main">
              <a:ext uri="{FF2B5EF4-FFF2-40B4-BE49-F238E27FC236}">
                <a16:creationId xmlns:a16="http://schemas.microsoft.com/office/drawing/2014/main" id="{7A9B4395-05EB-4649-9AAE-A7E8EA067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95850"/>
            <a:ext cx="57721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9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9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เมนูเดียวกันเข้าสู่ครัวแบบแยกทีละรายการ</a:t>
            </a:r>
          </a:p>
        </p:txBody>
      </p:sp>
      <p:sp>
        <p:nvSpPr>
          <p:cNvPr id="17" name="text-40">
            <a:extLst xmlns:a="http://schemas.openxmlformats.org/drawingml/2006/main">
              <a:ext uri="{FF2B5EF4-FFF2-40B4-BE49-F238E27FC236}">
                <a16:creationId xmlns:a16="http://schemas.microsoft.com/office/drawing/2014/main" id="{8BF8B1CC-5F50-405C-BEE7-239CD2D4D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34075"/>
            <a:ext cx="108966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3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โอกาสของบริการ: รับคำสั่งซื้อก่อนช่วงเร่งด่วน และช่วยจัดลำดับงานในครัว</a:t>
            </a:r>
          </a:p>
        </p:txBody>
      </p:sp>
    </p:spTree>
    <p:extLst>
      <p:ext uri="{BB962C8B-B14F-4D97-AF65-F5344CB8AC3E}">
        <p14:creationId xmlns:p14="http://schemas.microsoft.com/office/powerpoint/2010/main" val="75708440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41">
            <a:extLst xmlns:a="http://schemas.openxmlformats.org/drawingml/2006/main">
              <a:ext uri="{FF2B5EF4-FFF2-40B4-BE49-F238E27FC236}">
                <a16:creationId xmlns:a16="http://schemas.microsoft.com/office/drawing/2014/main" id="{5DAB876F-EE18-40FD-B543-EB6002CDA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แนวทางแก้ปัญหาและคุณค่า</a:t>
            </a:r>
          </a:p>
        </p:txBody>
      </p:sp>
      <p:sp>
        <p:nvSpPr>
          <p:cNvPr id="2" name="text-42">
            <a:extLst xmlns:a="http://schemas.openxmlformats.org/drawingml/2006/main">
              <a:ext uri="{FF2B5EF4-FFF2-40B4-BE49-F238E27FC236}">
                <a16:creationId xmlns:a16="http://schemas.microsoft.com/office/drawing/2014/main" id="{0CDDE477-8F8A-4159-82B2-0215CBB9E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62000"/>
            <a:ext cx="108966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322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322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สั่งก่อนถึงโรงอาหาร ครัวเห็นงานล่วงหน้า</a:t>
            </a:r>
          </a:p>
        </p:txBody>
      </p:sp>
      <p:sp>
        <p:nvSpPr>
          <p:cNvPr id="3" name="rule-43">
            <a:extLst xmlns:a="http://schemas.openxmlformats.org/drawingml/2006/main">
              <a:ext uri="{FF2B5EF4-FFF2-40B4-BE49-F238E27FC236}">
                <a16:creationId xmlns:a16="http://schemas.microsoft.com/office/drawing/2014/main" id="{8851FD87-2B42-4F79-AB00-79E97045A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CD5CB"/>
            </a:solidFill>
          </a:ln>
        </p:spPr>
      </p:sp>
      <p:sp>
        <p:nvSpPr>
          <p:cNvPr id="4" name="text-44">
            <a:extLst xmlns:a="http://schemas.openxmlformats.org/drawingml/2006/main">
              <a:ext uri="{FF2B5EF4-FFF2-40B4-BE49-F238E27FC236}">
                <a16:creationId xmlns:a16="http://schemas.microsoft.com/office/drawing/2014/main" id="{0ED3690E-3E8A-422F-BDB9-56E7CAD05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8652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050" b="1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050" b="1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SMART QUEUE FOOD</a:t>
            </a:r>
          </a:p>
        </p:txBody>
      </p:sp>
      <p:sp>
        <p:nvSpPr>
          <p:cNvPr id="5" name="text-45">
            <a:extLst xmlns:a="http://schemas.openxmlformats.org/drawingml/2006/main">
              <a:ext uri="{FF2B5EF4-FFF2-40B4-BE49-F238E27FC236}">
                <a16:creationId xmlns:a16="http://schemas.microsoft.com/office/drawing/2014/main" id="{D8785370-CAC8-4740-A49B-F050E4280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67475"/>
            <a:ext cx="1066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7620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20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20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03 / 15</a:t>
            </a:r>
          </a:p>
        </p:txBody>
      </p:sp>
      <p:sp>
        <p:nvSpPr>
          <p:cNvPr id="6" name="panel-46">
            <a:extLst xmlns:a="http://schemas.openxmlformats.org/drawingml/2006/main">
              <a:ext uri="{FF2B5EF4-FFF2-40B4-BE49-F238E27FC236}">
                <a16:creationId xmlns:a16="http://schemas.microsoft.com/office/drawing/2014/main" id="{3D2B6807-F19F-4A36-B81C-F3B6644DB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47900"/>
            <a:ext cx="25527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FE4"/>
          </a:solidFill>
          <a:ln xmlns:a="http://schemas.openxmlformats.org/drawingml/2006/main" w="0">
            <a:noFill/>
          </a:ln>
        </p:spPr>
      </p:sp>
      <p:sp>
        <p:nvSpPr>
          <p:cNvPr id="7" name="text-47">
            <a:extLst xmlns:a="http://schemas.openxmlformats.org/drawingml/2006/main">
              <a:ext uri="{FF2B5EF4-FFF2-40B4-BE49-F238E27FC236}">
                <a16:creationId xmlns:a16="http://schemas.microsoft.com/office/drawing/2014/main" id="{C66982AB-501F-46A3-927C-F833C6B8C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9077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50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2250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01</a:t>
            </a:r>
          </a:p>
        </p:txBody>
      </p:sp>
      <p:sp>
        <p:nvSpPr>
          <p:cNvPr id="8" name="text-48">
            <a:extLst xmlns:a="http://schemas.openxmlformats.org/drawingml/2006/main">
              <a:ext uri="{FF2B5EF4-FFF2-40B4-BE49-F238E27FC236}">
                <a16:creationId xmlns:a16="http://schemas.microsoft.com/office/drawing/2014/main" id="{A7FEA505-9B03-42D0-A66A-9E7769796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00375"/>
            <a:ext cx="21717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75" b="1">
                <a:solidFill>
                  <a:srgbClr val="173F35"/>
                </a:solidFill>
                <a:latin typeface="Leelawadee UI"/>
                <a:ea typeface="Leelawadee UI"/>
                <a:cs typeface="Leelawadee UI"/>
              </a:defRPr>
            </a:pPr>
            <a:r>
              <a:rPr sz="2175" b="1">
                <a:solidFill>
                  <a:srgbClr val="173F35"/>
                </a:solidFill>
                <a:latin typeface="Leelawadee UI"/>
                <a:ea typeface="Leelawadee UI"/>
                <a:cs typeface="Leelawadee UI"/>
              </a:rPr>
              <a:t>สั่งผ่าน LINE</a:t>
            </a:r>
          </a:p>
        </p:txBody>
      </p:sp>
      <p:sp>
        <p:nvSpPr>
          <p:cNvPr id="9" name="text-49">
            <a:extLst xmlns:a="http://schemas.openxmlformats.org/drawingml/2006/main">
              <a:ext uri="{FF2B5EF4-FFF2-40B4-BE49-F238E27FC236}">
                <a16:creationId xmlns:a16="http://schemas.microsoft.com/office/drawing/2014/main" id="{091B0C87-8506-4559-A1D1-AD9759FCC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90925"/>
            <a:ext cx="21717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8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8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เลือกเมนู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8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8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และช่วงเวลารับ</a:t>
            </a:r>
          </a:p>
        </p:txBody>
      </p:sp>
      <p:sp>
        <p:nvSpPr>
          <p:cNvPr id="10" name="panel-50">
            <a:extLst xmlns:a="http://schemas.openxmlformats.org/drawingml/2006/main">
              <a:ext uri="{FF2B5EF4-FFF2-40B4-BE49-F238E27FC236}">
                <a16:creationId xmlns:a16="http://schemas.microsoft.com/office/drawing/2014/main" id="{7A2ED277-5D4E-4E53-A386-A9C7AB315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247900"/>
            <a:ext cx="25527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FE4"/>
          </a:solidFill>
          <a:ln xmlns:a="http://schemas.openxmlformats.org/drawingml/2006/main" w="0">
            <a:noFill/>
          </a:ln>
        </p:spPr>
      </p:sp>
      <p:sp>
        <p:nvSpPr>
          <p:cNvPr id="11" name="text-51">
            <a:extLst xmlns:a="http://schemas.openxmlformats.org/drawingml/2006/main">
              <a:ext uri="{FF2B5EF4-FFF2-40B4-BE49-F238E27FC236}">
                <a16:creationId xmlns:a16="http://schemas.microsoft.com/office/drawing/2014/main" id="{F309DFA1-E19B-492D-BDBC-91197B6F6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39077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50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2250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02</a:t>
            </a:r>
          </a:p>
        </p:txBody>
      </p:sp>
      <p:sp>
        <p:nvSpPr>
          <p:cNvPr id="12" name="text-52">
            <a:extLst xmlns:a="http://schemas.openxmlformats.org/drawingml/2006/main">
              <a:ext uri="{FF2B5EF4-FFF2-40B4-BE49-F238E27FC236}">
                <a16:creationId xmlns:a16="http://schemas.microsoft.com/office/drawing/2014/main" id="{0D81DFA6-9540-4A65-9E23-25891F94E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000375"/>
            <a:ext cx="21717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75" b="1">
                <a:solidFill>
                  <a:srgbClr val="173F35"/>
                </a:solidFill>
                <a:latin typeface="Leelawadee UI"/>
                <a:ea typeface="Leelawadee UI"/>
                <a:cs typeface="Leelawadee UI"/>
              </a:defRPr>
            </a:pPr>
            <a:r>
              <a:rPr sz="2175" b="1">
                <a:solidFill>
                  <a:srgbClr val="173F35"/>
                </a:solidFill>
                <a:latin typeface="Leelawadee UI"/>
                <a:ea typeface="Leelawadee UI"/>
                <a:cs typeface="Leelawadee UI"/>
              </a:rPr>
              <a:t>ชำระเงิน</a:t>
            </a:r>
          </a:p>
        </p:txBody>
      </p:sp>
      <p:sp>
        <p:nvSpPr>
          <p:cNvPr id="13" name="text-53">
            <a:extLst xmlns:a="http://schemas.openxmlformats.org/drawingml/2006/main">
              <a:ext uri="{FF2B5EF4-FFF2-40B4-BE49-F238E27FC236}">
                <a16:creationId xmlns:a16="http://schemas.microsoft.com/office/drawing/2014/main" id="{A18C4DB3-F81A-429A-BDCF-49E9BDC4D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590925"/>
            <a:ext cx="21717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8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8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ตรวจสอบรายการ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8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8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ก่อนส่งเข้าครัว</a:t>
            </a:r>
          </a:p>
        </p:txBody>
      </p:sp>
      <p:sp>
        <p:nvSpPr>
          <p:cNvPr id="14" name="panel-54">
            <a:extLst xmlns:a="http://schemas.openxmlformats.org/drawingml/2006/main">
              <a:ext uri="{FF2B5EF4-FFF2-40B4-BE49-F238E27FC236}">
                <a16:creationId xmlns:a16="http://schemas.microsoft.com/office/drawing/2014/main" id="{D99B8893-F202-49D7-A7C9-C407E605F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47900"/>
            <a:ext cx="25527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F35"/>
          </a:solidFill>
          <a:ln xmlns:a="http://schemas.openxmlformats.org/drawingml/2006/main" w="0">
            <a:noFill/>
          </a:ln>
        </p:spPr>
      </p:sp>
      <p:sp>
        <p:nvSpPr>
          <p:cNvPr id="15" name="text-55">
            <a:extLst xmlns:a="http://schemas.openxmlformats.org/drawingml/2006/main">
              <a:ext uri="{FF2B5EF4-FFF2-40B4-BE49-F238E27FC236}">
                <a16:creationId xmlns:a16="http://schemas.microsoft.com/office/drawing/2014/main" id="{2E6940E4-7D65-4788-929B-44FC183CE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39077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50" b="1">
                <a:solidFill>
                  <a:srgbClr val="D5E8B6"/>
                </a:solidFill>
                <a:latin typeface="Leelawadee UI"/>
                <a:ea typeface="Leelawadee UI"/>
                <a:cs typeface="Leelawadee UI"/>
              </a:defRPr>
            </a:pPr>
            <a:r>
              <a:rPr sz="2250" b="1">
                <a:solidFill>
                  <a:srgbClr val="D5E8B6"/>
                </a:solidFill>
                <a:latin typeface="Leelawadee UI"/>
                <a:ea typeface="Leelawadee UI"/>
                <a:cs typeface="Leelawadee UI"/>
              </a:rPr>
              <a:t>03</a:t>
            </a:r>
          </a:p>
        </p:txBody>
      </p:sp>
      <p:sp>
        <p:nvSpPr>
          <p:cNvPr id="16" name="text-56">
            <a:extLst xmlns:a="http://schemas.openxmlformats.org/drawingml/2006/main">
              <a:ext uri="{FF2B5EF4-FFF2-40B4-BE49-F238E27FC236}">
                <a16:creationId xmlns:a16="http://schemas.microsoft.com/office/drawing/2014/main" id="{1B0D0D65-1888-4510-9830-90CEA814F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00375"/>
            <a:ext cx="21717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75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pPr>
            <a:r>
              <a:rPr sz="2175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จัดคิวและปรุง</a:t>
            </a:r>
          </a:p>
        </p:txBody>
      </p:sp>
      <p:sp>
        <p:nvSpPr>
          <p:cNvPr id="17" name="text-57">
            <a:extLst xmlns:a="http://schemas.openxmlformats.org/drawingml/2006/main">
              <a:ext uri="{FF2B5EF4-FFF2-40B4-BE49-F238E27FC236}">
                <a16:creationId xmlns:a16="http://schemas.microsoft.com/office/drawing/2014/main" id="{5196897A-5974-431E-934C-C2D8A9C7E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90925"/>
            <a:ext cx="21717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875" b="0">
                <a:solidFill>
                  <a:srgbClr val="F7F6F0"/>
                </a:solidFill>
                <a:latin typeface="Leelawadee UI"/>
                <a:ea typeface="Leelawadee UI"/>
                <a:cs typeface="Leelawadee UI"/>
              </a:defRPr>
            </a:pPr>
            <a:r>
              <a:rPr sz="1875" b="0">
                <a:solidFill>
                  <a:srgbClr val="F7F6F0"/>
                </a:solidFill>
                <a:latin typeface="Leelawadee UI"/>
                <a:ea typeface="Leelawadee UI"/>
                <a:cs typeface="Leelawadee UI"/>
              </a:rPr>
              <a:t>KDS รวมเมนู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875" b="0">
                <a:solidFill>
                  <a:srgbClr val="F7F6F0"/>
                </a:solidFill>
                <a:latin typeface="Leelawadee UI"/>
                <a:ea typeface="Leelawadee UI"/>
                <a:cs typeface="Leelawadee UI"/>
              </a:defRPr>
            </a:pPr>
            <a:r>
              <a:rPr sz="1875" b="0">
                <a:solidFill>
                  <a:srgbClr val="F7F6F0"/>
                </a:solidFill>
                <a:latin typeface="Leelawadee UI"/>
                <a:ea typeface="Leelawadee UI"/>
                <a:cs typeface="Leelawadee UI"/>
              </a:rPr>
              <a:t>ที่เหมาะกับการปรุงชุด</a:t>
            </a:r>
          </a:p>
        </p:txBody>
      </p:sp>
      <p:sp>
        <p:nvSpPr>
          <p:cNvPr id="18" name="panel-58">
            <a:extLst xmlns:a="http://schemas.openxmlformats.org/drawingml/2006/main">
              <a:ext uri="{FF2B5EF4-FFF2-40B4-BE49-F238E27FC236}">
                <a16:creationId xmlns:a16="http://schemas.microsoft.com/office/drawing/2014/main" id="{BB1DDE5F-C23C-444B-83A4-6677C106A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247900"/>
            <a:ext cx="25527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FE4"/>
          </a:solidFill>
          <a:ln xmlns:a="http://schemas.openxmlformats.org/drawingml/2006/main" w="0">
            <a:noFill/>
          </a:ln>
        </p:spPr>
      </p:sp>
      <p:sp>
        <p:nvSpPr>
          <p:cNvPr id="19" name="text-59">
            <a:extLst xmlns:a="http://schemas.openxmlformats.org/drawingml/2006/main">
              <a:ext uri="{FF2B5EF4-FFF2-40B4-BE49-F238E27FC236}">
                <a16:creationId xmlns:a16="http://schemas.microsoft.com/office/drawing/2014/main" id="{3AD0DEA9-E1A6-4BA6-8162-0279187FC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39077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50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2250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04</a:t>
            </a:r>
          </a:p>
        </p:txBody>
      </p:sp>
      <p:sp>
        <p:nvSpPr>
          <p:cNvPr id="20" name="text-60">
            <a:extLst xmlns:a="http://schemas.openxmlformats.org/drawingml/2006/main">
              <a:ext uri="{FF2B5EF4-FFF2-40B4-BE49-F238E27FC236}">
                <a16:creationId xmlns:a16="http://schemas.microsoft.com/office/drawing/2014/main" id="{91D0AF26-CA7C-4251-91EE-1738C8CA4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000375"/>
            <a:ext cx="21717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75" b="1">
                <a:solidFill>
                  <a:srgbClr val="173F35"/>
                </a:solidFill>
                <a:latin typeface="Leelawadee UI"/>
                <a:ea typeface="Leelawadee UI"/>
                <a:cs typeface="Leelawadee UI"/>
              </a:defRPr>
            </a:pPr>
            <a:r>
              <a:rPr sz="2175" b="1">
                <a:solidFill>
                  <a:srgbClr val="173F35"/>
                </a:solidFill>
                <a:latin typeface="Leelawadee UI"/>
                <a:ea typeface="Leelawadee UI"/>
                <a:cs typeface="Leelawadee UI"/>
              </a:rPr>
              <a:t>แจ้งพร้อมรับ</a:t>
            </a:r>
          </a:p>
        </p:txBody>
      </p:sp>
      <p:sp>
        <p:nvSpPr>
          <p:cNvPr id="21" name="text-61">
            <a:extLst xmlns:a="http://schemas.openxmlformats.org/drawingml/2006/main">
              <a:ext uri="{FF2B5EF4-FFF2-40B4-BE49-F238E27FC236}">
                <a16:creationId xmlns:a16="http://schemas.microsoft.com/office/drawing/2014/main" id="{1822DBE6-33CE-48C9-AB5E-4F5F4C38B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590925"/>
            <a:ext cx="21717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8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8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รับแจ้งเตือน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8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8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แล้วมารับที่หน้าร้าน</a:t>
            </a:r>
          </a:p>
        </p:txBody>
      </p:sp>
      <p:cxnSp>
        <p:nvCxnSpPr>
          <p:cNvPr id="48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200400" y="33718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87B58"/>
            </a:solidFill>
            <a:tailEnd type="triangle" w="med" len="med"/>
          </a:ln>
        </p:spPr>
      </p:cxnSp>
      <p:cxnSp>
        <p:nvCxnSpPr>
          <p:cNvPr id="49" name="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5981700" y="33718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87B58"/>
            </a:solidFill>
            <a:tailEnd type="triangle" w="med" len="med"/>
          </a:ln>
        </p:spPr>
      </p:cxnSp>
      <p:cxnSp>
        <p:nvCxnSpPr>
          <p:cNvPr id="50" name="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8763000" y="3371850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87B58"/>
            </a:solidFill>
            <a:tailEnd type="triangle" w="med" len="med"/>
          </a:ln>
        </p:spPr>
      </p:cxnSp>
      <p:sp>
        <p:nvSpPr>
          <p:cNvPr id="25" name="text-62">
            <a:extLst xmlns:a="http://schemas.openxmlformats.org/drawingml/2006/main">
              <a:ext uri="{FF2B5EF4-FFF2-40B4-BE49-F238E27FC236}">
                <a16:creationId xmlns:a16="http://schemas.microsoft.com/office/drawing/2014/main" id="{8C86B786-B6DC-491B-B468-049CE51F0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76825"/>
            <a:ext cx="10896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75" b="1">
                <a:solidFill>
                  <a:srgbClr val="173F35"/>
                </a:solidFill>
                <a:latin typeface="Leelawadee UI"/>
                <a:ea typeface="Leelawadee UI"/>
                <a:cs typeface="Leelawadee UI"/>
              </a:defRPr>
            </a:pPr>
            <a:r>
              <a:rPr sz="2475" b="1">
                <a:solidFill>
                  <a:srgbClr val="173F35"/>
                </a:solidFill>
                <a:latin typeface="Leelawadee UI"/>
                <a:ea typeface="Leelawadee UI"/>
                <a:cs typeface="Leelawadee UI"/>
              </a:rPr>
              <a:t>เป้าหมาย: ลดเวลายืนรอ และให้ร้านจัดการช่วงเที่ยงได้ดีขึ้น</a:t>
            </a:r>
          </a:p>
        </p:txBody>
      </p:sp>
      <p:sp>
        <p:nvSpPr>
          <p:cNvPr id="26" name="text-63">
            <a:extLst xmlns:a="http://schemas.openxmlformats.org/drawingml/2006/main">
              <a:ext uri="{FF2B5EF4-FFF2-40B4-BE49-F238E27FC236}">
                <a16:creationId xmlns:a16="http://schemas.microsoft.com/office/drawing/2014/main" id="{932F957E-8479-4446-8286-385C91F62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34075"/>
            <a:ext cx="108966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3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ผลต่อเวลารอและผลิตภาพต้องทดสอบกับร้านค้า ไม่รับประกันการรับอาหารทันทีทุกครั้ง</a:t>
            </a:r>
          </a:p>
        </p:txBody>
      </p:sp>
    </p:spTree>
    <p:extLst>
      <p:ext uri="{BB962C8B-B14F-4D97-AF65-F5344CB8AC3E}">
        <p14:creationId xmlns:p14="http://schemas.microsoft.com/office/powerpoint/2010/main" val="3793426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64">
            <a:extLst xmlns:a="http://schemas.openxmlformats.org/drawingml/2006/main">
              <a:ext uri="{FF2B5EF4-FFF2-40B4-BE49-F238E27FC236}">
                <a16:creationId xmlns:a16="http://schemas.microsoft.com/office/drawing/2014/main" id="{5AA1D0CC-F3DC-4BCD-9CE9-684E201C7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ผลิตภัณฑ์สำหรับร้านค้า</a:t>
            </a:r>
          </a:p>
        </p:txBody>
      </p:sp>
      <p:sp>
        <p:nvSpPr>
          <p:cNvPr id="2" name="text-65">
            <a:extLst xmlns:a="http://schemas.openxmlformats.org/drawingml/2006/main">
              <a:ext uri="{FF2B5EF4-FFF2-40B4-BE49-F238E27FC236}">
                <a16:creationId xmlns:a16="http://schemas.microsoft.com/office/drawing/2014/main" id="{703086D7-1693-49CF-A23B-2C210A0A9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62000"/>
            <a:ext cx="108966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322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322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จอ KDS ช่วยให้ครัวเห็นคิวและรวมเมนู</a:t>
            </a:r>
          </a:p>
        </p:txBody>
      </p:sp>
      <p:sp>
        <p:nvSpPr>
          <p:cNvPr id="3" name="rule-66">
            <a:extLst xmlns:a="http://schemas.openxmlformats.org/drawingml/2006/main">
              <a:ext uri="{FF2B5EF4-FFF2-40B4-BE49-F238E27FC236}">
                <a16:creationId xmlns:a16="http://schemas.microsoft.com/office/drawing/2014/main" id="{D106A312-CE2E-4CCD-89D9-7C9860B57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CD5CB"/>
            </a:solidFill>
          </a:ln>
        </p:spPr>
      </p:sp>
      <p:sp>
        <p:nvSpPr>
          <p:cNvPr id="4" name="text-67">
            <a:extLst xmlns:a="http://schemas.openxmlformats.org/drawingml/2006/main">
              <a:ext uri="{FF2B5EF4-FFF2-40B4-BE49-F238E27FC236}">
                <a16:creationId xmlns:a16="http://schemas.microsoft.com/office/drawing/2014/main" id="{3E14B829-CEF8-42F6-AB8A-9567A0E0E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8652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050" b="1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050" b="1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SMART QUEUE FOOD</a:t>
            </a:r>
          </a:p>
        </p:txBody>
      </p:sp>
      <p:sp>
        <p:nvSpPr>
          <p:cNvPr id="5" name="text-68">
            <a:extLst xmlns:a="http://schemas.openxmlformats.org/drawingml/2006/main">
              <a:ext uri="{FF2B5EF4-FFF2-40B4-BE49-F238E27FC236}">
                <a16:creationId xmlns:a16="http://schemas.microsoft.com/office/drawing/2014/main" id="{A722DD20-68DC-40A6-9387-D964D1755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67475"/>
            <a:ext cx="1066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7620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20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20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04 / 15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7172e0023c46d7"/>
          <a:srcRect xmlns:a="http://schemas.openxmlformats.org/drawingml/2006/main" l="3" t="0" r="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7700" y="1990725"/>
            <a:ext cx="6877050" cy="3838575"/>
          </a:xfrm>
          <a:prstGeom xmlns:a="http://schemas.openxmlformats.org/drawingml/2006/main" prst="rect">
            <a:avLst/>
          </a:prstGeom>
        </p:spPr>
      </p:pic>
      <p:sp>
        <p:nvSpPr>
          <p:cNvPr id="7" name="text-69">
            <a:extLst xmlns:a="http://schemas.openxmlformats.org/drawingml/2006/main">
              <a:ext uri="{FF2B5EF4-FFF2-40B4-BE49-F238E27FC236}">
                <a16:creationId xmlns:a16="http://schemas.microsoft.com/office/drawing/2014/main" id="{C796B952-7CC9-4D61-B315-8182A5151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095500"/>
            <a:ext cx="3562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25" b="1">
                <a:solidFill>
                  <a:srgbClr val="173F35"/>
                </a:solidFill>
                <a:latin typeface="Leelawadee UI"/>
                <a:ea typeface="Leelawadee UI"/>
                <a:cs typeface="Leelawadee UI"/>
              </a:defRPr>
            </a:pPr>
            <a:r>
              <a:rPr sz="2325" b="1">
                <a:solidFill>
                  <a:srgbClr val="173F35"/>
                </a:solidFill>
                <a:latin typeface="Leelawadee UI"/>
                <a:ea typeface="Leelawadee UI"/>
                <a:cs typeface="Leelawadee UI"/>
              </a:rPr>
              <a:t>คิวที่อ่านได้ทันที</a:t>
            </a:r>
          </a:p>
        </p:txBody>
      </p:sp>
      <p:sp>
        <p:nvSpPr>
          <p:cNvPr id="8" name="text-70">
            <a:extLst xmlns:a="http://schemas.openxmlformats.org/drawingml/2006/main">
              <a:ext uri="{FF2B5EF4-FFF2-40B4-BE49-F238E27FC236}">
                <a16:creationId xmlns:a16="http://schemas.microsoft.com/office/drawing/2014/main" id="{7AF25F8D-813E-4698-850E-EB6B32BDC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676525"/>
            <a:ext cx="356235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20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เมนู จำนวน และเวลารับ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20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20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อยู่ในหน้าจอเดียว</a:t>
            </a:r>
          </a:p>
        </p:txBody>
      </p:sp>
      <p:sp>
        <p:nvSpPr>
          <p:cNvPr id="9" name="rule-71">
            <a:extLst xmlns:a="http://schemas.openxmlformats.org/drawingml/2006/main">
              <a:ext uri="{FF2B5EF4-FFF2-40B4-BE49-F238E27FC236}">
                <a16:creationId xmlns:a16="http://schemas.microsoft.com/office/drawing/2014/main" id="{5E2E15D5-982A-409F-8AF5-0383A97A1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19500"/>
            <a:ext cx="3562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CD5CB"/>
            </a:solidFill>
          </a:ln>
        </p:spPr>
      </p:sp>
      <p:sp>
        <p:nvSpPr>
          <p:cNvPr id="10" name="text-72">
            <a:extLst xmlns:a="http://schemas.openxmlformats.org/drawingml/2006/main">
              <a:ext uri="{FF2B5EF4-FFF2-40B4-BE49-F238E27FC236}">
                <a16:creationId xmlns:a16="http://schemas.microsoft.com/office/drawing/2014/main" id="{8266A6F1-9859-425C-AF36-037A45B26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876675"/>
            <a:ext cx="35623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50" b="1">
                <a:solidFill>
                  <a:srgbClr val="173F35"/>
                </a:solidFill>
                <a:latin typeface="Leelawadee UI"/>
                <a:ea typeface="Leelawadee UI"/>
                <a:cs typeface="Leelawadee UI"/>
              </a:defRPr>
            </a:pPr>
            <a:r>
              <a:rPr sz="2250" b="1">
                <a:solidFill>
                  <a:srgbClr val="173F35"/>
                </a:solidFill>
                <a:latin typeface="Leelawadee UI"/>
                <a:ea typeface="Leelawadee UI"/>
                <a:cs typeface="Leelawadee UI"/>
              </a:rPr>
              <a:t>ปรุงเป็นชุดเมื่อเหมาะสม</a:t>
            </a:r>
          </a:p>
        </p:txBody>
      </p:sp>
      <p:sp>
        <p:nvSpPr>
          <p:cNvPr id="11" name="text-73">
            <a:extLst xmlns:a="http://schemas.openxmlformats.org/drawingml/2006/main">
              <a:ext uri="{FF2B5EF4-FFF2-40B4-BE49-F238E27FC236}">
                <a16:creationId xmlns:a16="http://schemas.microsoft.com/office/drawing/2014/main" id="{D760E0D4-040C-4310-AE17-D5173F34D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743450"/>
            <a:ext cx="35623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20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ร้านเลือกจัดกลุ่มเมนู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20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20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และแตะอัปเดตสถานะ</a:t>
            </a:r>
          </a:p>
        </p:txBody>
      </p:sp>
      <p:sp>
        <p:nvSpPr>
          <p:cNvPr id="12" name="text-74">
            <a:extLst xmlns:a="http://schemas.openxmlformats.org/drawingml/2006/main">
              <a:ext uri="{FF2B5EF4-FFF2-40B4-BE49-F238E27FC236}">
                <a16:creationId xmlns:a16="http://schemas.microsoft.com/office/drawing/2014/main" id="{2D2BD782-B41D-47B1-AF44-E9CB0131F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34075"/>
            <a:ext cx="108966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3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ภาพจำลองแนวคิด KDS จากเอกสารโครงการ ไม่ใช่ภาพระบบที่ทดสอบแล้ว</a:t>
            </a:r>
          </a:p>
        </p:txBody>
      </p:sp>
    </p:spTree>
    <p:extLst>
      <p:ext uri="{BB962C8B-B14F-4D97-AF65-F5344CB8AC3E}">
        <p14:creationId xmlns:p14="http://schemas.microsoft.com/office/powerpoint/2010/main" val="202247949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75">
            <a:extLst xmlns:a="http://schemas.openxmlformats.org/drawingml/2006/main">
              <a:ext uri="{FF2B5EF4-FFF2-40B4-BE49-F238E27FC236}">
                <a16:creationId xmlns:a16="http://schemas.microsoft.com/office/drawing/2014/main" id="{269F203D-E445-4DAF-9984-DFF3C8DB5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ลูกค้าและขอบเขตตลาด</a:t>
            </a:r>
          </a:p>
        </p:txBody>
      </p:sp>
      <p:sp>
        <p:nvSpPr>
          <p:cNvPr id="2" name="text-76">
            <a:extLst xmlns:a="http://schemas.openxmlformats.org/drawingml/2006/main">
              <a:ext uri="{FF2B5EF4-FFF2-40B4-BE49-F238E27FC236}">
                <a16:creationId xmlns:a16="http://schemas.microsoft.com/office/drawing/2014/main" id="{E01F6BD6-172E-42D1-9A98-8ACF706ED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62000"/>
            <a:ext cx="108966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322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322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เริ่มจากนักศึกษาและร้านอาหาร FITM</a:t>
            </a:r>
          </a:p>
        </p:txBody>
      </p:sp>
      <p:sp>
        <p:nvSpPr>
          <p:cNvPr id="3" name="rule-77">
            <a:extLst xmlns:a="http://schemas.openxmlformats.org/drawingml/2006/main">
              <a:ext uri="{FF2B5EF4-FFF2-40B4-BE49-F238E27FC236}">
                <a16:creationId xmlns:a16="http://schemas.microsoft.com/office/drawing/2014/main" id="{606B3989-11D7-43BE-B375-FC78112D5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CD5CB"/>
            </a:solidFill>
          </a:ln>
        </p:spPr>
      </p:sp>
      <p:sp>
        <p:nvSpPr>
          <p:cNvPr id="4" name="text-78">
            <a:extLst xmlns:a="http://schemas.openxmlformats.org/drawingml/2006/main">
              <a:ext uri="{FF2B5EF4-FFF2-40B4-BE49-F238E27FC236}">
                <a16:creationId xmlns:a16="http://schemas.microsoft.com/office/drawing/2014/main" id="{E36B96E9-F9EE-4621-87D1-63A085DC0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8652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050" b="1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050" b="1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SMART QUEUE FOOD</a:t>
            </a:r>
          </a:p>
        </p:txBody>
      </p:sp>
      <p:sp>
        <p:nvSpPr>
          <p:cNvPr id="5" name="text-79">
            <a:extLst xmlns:a="http://schemas.openxmlformats.org/drawingml/2006/main">
              <a:ext uri="{FF2B5EF4-FFF2-40B4-BE49-F238E27FC236}">
                <a16:creationId xmlns:a16="http://schemas.microsoft.com/office/drawing/2014/main" id="{494B5E73-5787-4D05-BB8B-47B1B2D92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67475"/>
            <a:ext cx="1066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7620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20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20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05 / 15</a:t>
            </a:r>
          </a:p>
        </p:txBody>
      </p:sp>
      <p:sp>
        <p:nvSpPr>
          <p:cNvPr id="6" name="text-80">
            <a:extLst xmlns:a="http://schemas.openxmlformats.org/drawingml/2006/main">
              <a:ext uri="{FF2B5EF4-FFF2-40B4-BE49-F238E27FC236}">
                <a16:creationId xmlns:a16="http://schemas.microsoft.com/office/drawing/2014/main" id="{AB8653B9-9526-4521-A022-9C1D6AEEC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71675"/>
            <a:ext cx="5057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700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2700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นักศึกษา</a:t>
            </a:r>
          </a:p>
        </p:txBody>
      </p:sp>
      <p:sp>
        <p:nvSpPr>
          <p:cNvPr id="7" name="text-81">
            <a:extLst xmlns:a="http://schemas.openxmlformats.org/drawingml/2006/main">
              <a:ext uri="{FF2B5EF4-FFF2-40B4-BE49-F238E27FC236}">
                <a16:creationId xmlns:a16="http://schemas.microsoft.com/office/drawing/2014/main" id="{C0827106-01CE-4C2C-A075-6CB306CAF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86050"/>
            <a:ext cx="505777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50" b="0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2250" b="0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ต้องการกินให้ทันเวลาพัก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2250" b="0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2250" b="0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สั่งสะดวกและรับอาหารที่หน้าร้าน</a:t>
            </a:r>
          </a:p>
        </p:txBody>
      </p:sp>
      <p:sp>
        <p:nvSpPr>
          <p:cNvPr id="8" name="text-82">
            <a:extLst xmlns:a="http://schemas.openxmlformats.org/drawingml/2006/main">
              <a:ext uri="{FF2B5EF4-FFF2-40B4-BE49-F238E27FC236}">
                <a16:creationId xmlns:a16="http://schemas.microsoft.com/office/drawing/2014/main" id="{DD8376DC-5D36-4899-886C-04EC113CC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505777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20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คุณค่าที่เสนอ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20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20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วางแผนมื้อเที่ยงผ่าน LINE</a:t>
            </a:r>
          </a:p>
        </p:txBody>
      </p:sp>
      <p:sp>
        <p:nvSpPr>
          <p:cNvPr id="9" name="text-83">
            <a:extLst xmlns:a="http://schemas.openxmlformats.org/drawingml/2006/main">
              <a:ext uri="{FF2B5EF4-FFF2-40B4-BE49-F238E27FC236}">
                <a16:creationId xmlns:a16="http://schemas.microsoft.com/office/drawing/2014/main" id="{F6A03063-7302-475F-B201-71AE96DE7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971675"/>
            <a:ext cx="504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700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2700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ผู้ประกอบการร้านค้า</a:t>
            </a:r>
          </a:p>
        </p:txBody>
      </p:sp>
      <p:sp>
        <p:nvSpPr>
          <p:cNvPr id="10" name="text-84">
            <a:extLst xmlns:a="http://schemas.openxmlformats.org/drawingml/2006/main">
              <a:ext uri="{FF2B5EF4-FFF2-40B4-BE49-F238E27FC236}">
                <a16:creationId xmlns:a16="http://schemas.microsoft.com/office/drawing/2014/main" id="{4F69E371-8FB0-433B-AFE0-4ACE660C1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86050"/>
            <a:ext cx="50482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50" b="0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2250" b="0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ต้องการจัดคิวช่วงเร่งด่วน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2250" b="0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2250" b="0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มองเห็นงานและจัดกลุ่มเมนูได้</a:t>
            </a:r>
          </a:p>
        </p:txBody>
      </p:sp>
      <p:sp>
        <p:nvSpPr>
          <p:cNvPr id="11" name="text-85">
            <a:extLst xmlns:a="http://schemas.openxmlformats.org/drawingml/2006/main">
              <a:ext uri="{FF2B5EF4-FFF2-40B4-BE49-F238E27FC236}">
                <a16:creationId xmlns:a16="http://schemas.microsoft.com/office/drawing/2014/main" id="{EB152AED-7D84-4882-9385-84A7861B4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95750"/>
            <a:ext cx="5048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20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คุณค่าที่เสนอ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20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20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จอ KDS และการชำระเงินล่วงหน้า</a:t>
            </a:r>
          </a:p>
        </p:txBody>
      </p:sp>
      <p:sp>
        <p:nvSpPr>
          <p:cNvPr id="12" name="rule-86">
            <a:extLst xmlns:a="http://schemas.openxmlformats.org/drawingml/2006/main">
              <a:ext uri="{FF2B5EF4-FFF2-40B4-BE49-F238E27FC236}">
                <a16:creationId xmlns:a16="http://schemas.microsoft.com/office/drawing/2014/main" id="{F34B3555-6F57-4693-B4B6-0C3085640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05425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CD5CB"/>
            </a:solidFill>
          </a:ln>
        </p:spPr>
      </p:sp>
      <p:sp>
        <p:nvSpPr>
          <p:cNvPr id="13" name="text-87">
            <a:extLst xmlns:a="http://schemas.openxmlformats.org/drawingml/2006/main">
              <a:ext uri="{FF2B5EF4-FFF2-40B4-BE49-F238E27FC236}">
                <a16:creationId xmlns:a16="http://schemas.microsoft.com/office/drawing/2014/main" id="{3CF446DD-74E7-4F3E-A43E-04F2D2604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05450"/>
            <a:ext cx="3495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575" b="1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575" b="1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TAM  โรงอาหารมหาวิทยาลัย</a:t>
            </a:r>
          </a:p>
        </p:txBody>
      </p:sp>
      <p:sp>
        <p:nvSpPr>
          <p:cNvPr id="14" name="text-88">
            <a:extLst xmlns:a="http://schemas.openxmlformats.org/drawingml/2006/main">
              <a:ext uri="{FF2B5EF4-FFF2-40B4-BE49-F238E27FC236}">
                <a16:creationId xmlns:a16="http://schemas.microsoft.com/office/drawing/2014/main" id="{53F1B35A-ACAF-487E-B4E1-682AC6AEB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5505450"/>
            <a:ext cx="30575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575" b="1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575" b="1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SAM  เครือ มจพ.</a:t>
            </a:r>
          </a:p>
        </p:txBody>
      </p:sp>
      <p:sp>
        <p:nvSpPr>
          <p:cNvPr id="15" name="text-89">
            <a:extLst xmlns:a="http://schemas.openxmlformats.org/drawingml/2006/main">
              <a:ext uri="{FF2B5EF4-FFF2-40B4-BE49-F238E27FC236}">
                <a16:creationId xmlns:a16="http://schemas.microsoft.com/office/drawing/2014/main" id="{6A4F145D-4509-4935-9971-B6CD22A34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5505450"/>
            <a:ext cx="35528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57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157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SOM  นำร่อง FITM 3 ร้าน</a:t>
            </a:r>
          </a:p>
        </p:txBody>
      </p:sp>
      <p:sp>
        <p:nvSpPr>
          <p:cNvPr id="16" name="text-90">
            <a:extLst xmlns:a="http://schemas.openxmlformats.org/drawingml/2006/main">
              <a:ext uri="{FF2B5EF4-FFF2-40B4-BE49-F238E27FC236}">
                <a16:creationId xmlns:a16="http://schemas.microsoft.com/office/drawing/2014/main" id="{CD647710-6D9F-41B1-AA0C-419E2BE4E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62650"/>
            <a:ext cx="108966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3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ขอบเขตตลาดเป็นแผนขยายบริการ ต้องสำรวจจำนวนผู้ใช้และความต้องการก่อนประเมินมูลค่า</a:t>
            </a:r>
          </a:p>
        </p:txBody>
      </p:sp>
    </p:spTree>
    <p:extLst>
      <p:ext uri="{BB962C8B-B14F-4D97-AF65-F5344CB8AC3E}">
        <p14:creationId xmlns:p14="http://schemas.microsoft.com/office/powerpoint/2010/main" val="11605166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91">
            <a:extLst xmlns:a="http://schemas.openxmlformats.org/drawingml/2006/main">
              <a:ext uri="{FF2B5EF4-FFF2-40B4-BE49-F238E27FC236}">
                <a16:creationId xmlns:a16="http://schemas.microsoft.com/office/drawing/2014/main" id="{895DCB0D-20FC-4577-A395-A026862AD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BUSINESS MODEL CANVAS</a:t>
            </a:r>
          </a:p>
        </p:txBody>
      </p:sp>
      <p:sp>
        <p:nvSpPr>
          <p:cNvPr id="2" name="text-92">
            <a:extLst xmlns:a="http://schemas.openxmlformats.org/drawingml/2006/main">
              <a:ext uri="{FF2B5EF4-FFF2-40B4-BE49-F238E27FC236}">
                <a16:creationId xmlns:a16="http://schemas.microsoft.com/office/drawing/2014/main" id="{A680CE91-A01B-46FA-8AA2-98B81267F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62000"/>
            <a:ext cx="108966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322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322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โมเดลธุรกิจเริ่มจากค่าธรรมเนียมต่อออเดอร์</a:t>
            </a:r>
          </a:p>
        </p:txBody>
      </p:sp>
      <p:sp>
        <p:nvSpPr>
          <p:cNvPr id="3" name="rule-93">
            <a:extLst xmlns:a="http://schemas.openxmlformats.org/drawingml/2006/main">
              <a:ext uri="{FF2B5EF4-FFF2-40B4-BE49-F238E27FC236}">
                <a16:creationId xmlns:a16="http://schemas.microsoft.com/office/drawing/2014/main" id="{53C542AE-42C7-4A4E-B7AF-F302D0E12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CD5CB"/>
            </a:solidFill>
          </a:ln>
        </p:spPr>
      </p:sp>
      <p:sp>
        <p:nvSpPr>
          <p:cNvPr id="4" name="text-94">
            <a:extLst xmlns:a="http://schemas.openxmlformats.org/drawingml/2006/main">
              <a:ext uri="{FF2B5EF4-FFF2-40B4-BE49-F238E27FC236}">
                <a16:creationId xmlns:a16="http://schemas.microsoft.com/office/drawing/2014/main" id="{ADD2E95D-EC57-4786-A5A8-AA569D354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8652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050" b="1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050" b="1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SMART QUEUE FOOD</a:t>
            </a:r>
          </a:p>
        </p:txBody>
      </p:sp>
      <p:sp>
        <p:nvSpPr>
          <p:cNvPr id="5" name="text-95">
            <a:extLst xmlns:a="http://schemas.openxmlformats.org/drawingml/2006/main">
              <a:ext uri="{FF2B5EF4-FFF2-40B4-BE49-F238E27FC236}">
                <a16:creationId xmlns:a16="http://schemas.microsoft.com/office/drawing/2014/main" id="{CE0C8311-1E3A-4E84-B8CD-F4E49A57B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67475"/>
            <a:ext cx="1066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7620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20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20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06 / 15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47700" y="1895475"/>
          <a:ext xmlns:a="http://schemas.openxmlformats.org/drawingml/2006/main" cx="10896600" cy="4171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089660"/>
                <a:gridCol w="1089660"/>
                <a:gridCol w="1089660"/>
                <a:gridCol w="1089660"/>
                <a:gridCol w="1089660"/>
                <a:gridCol w="1089660"/>
                <a:gridCol w="1089660"/>
                <a:gridCol w="1089660"/>
                <a:gridCol w="1089660"/>
                <a:gridCol w="1089660"/>
              </a:tblGrid>
              <a:tr h="1504950">
                <a:tc rowSpan="2" gridSpan="2">
                  <a:txBody>
                    <a:bodyPr wrap="square" lIns="133350" tIns="123825" rIns="114300" bIns="95250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287B58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พันธมิตร</a:t>
                      </a:r>
                    </a:p>
                    <a:p>
                      <a:r>
                        <a:rPr sz="150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  <a:p>
                      <a:r>
                        <a:rPr sz="150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ร้านค้า / มหาวิทยาลัย</a:t>
                      </a:r>
                    </a:p>
                    <a:p>
                      <a:r>
                        <a:rPr sz="150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LINE / ผู้ให้บริการ</a:t>
                      </a:r>
                    </a:p>
                    <a:p>
                      <a:r>
                        <a:rPr sz="150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ชำระเงิน</a:t>
                      </a:r>
                    </a:p>
                  </a:txBody>
                  <a:tcPr marL="91440" marR="91440" marT="45720" marB="45720" anchor="t">
                    <a:solidFill>
                      <a:srgbClr val="FFFFFF"/>
                    </a:solidFill>
                  </a:tcPr>
                </a:tc>
                <a:tc hMerge="1" vMerge="0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/>
                </a:tc>
                <a:tc gridSpan="2">
                  <a:txBody>
                    <a:bodyPr wrap="square" lIns="133350" tIns="123825" rIns="114300" bIns="95250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287B58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กิจกรรมหลัก</a:t>
                      </a:r>
                    </a:p>
                    <a:p>
                      <a:r>
                        <a:rPr sz="150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  <a:p>
                      <a:r>
                        <a:rPr sz="150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พัฒนาระบบคิว</a:t>
                      </a:r>
                    </a:p>
                    <a:p>
                      <a:r>
                        <a:rPr sz="150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ดูแลและฝึกร้านค้า</a:t>
                      </a:r>
                    </a:p>
                  </a:txBody>
                  <a:tcPr marL="91440" marR="91440" marT="45720" marB="45720" anchor="t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/>
                </a:tc>
                <a:tc rowSpan="2" gridSpan="2">
                  <a:txBody>
                    <a:bodyPr wrap="square" lIns="133350" tIns="123825" rIns="114300" bIns="95250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D5E8B6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คุณค่าที่เสนอ</a:t>
                      </a:r>
                    </a:p>
                    <a:p>
                      <a:r>
                        <a:rPr sz="1500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  <a:p>
                      <a:r>
                        <a:rPr sz="1500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สั่งอาหารล่วงหน้า</a:t>
                      </a:r>
                    </a:p>
                    <a:p>
                      <a:r>
                        <a:rPr sz="1500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เลือกช่วงเวลารับ</a:t>
                      </a:r>
                    </a:p>
                    <a:p>
                      <a:r>
                        <a:rPr sz="1500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จัดคิวและรวมเมนู</a:t>
                      </a:r>
                    </a:p>
                    <a:p>
                      <a:r>
                        <a:rPr sz="1500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จ่ายก่อนเข้าครัว</a:t>
                      </a:r>
                    </a:p>
                  </a:txBody>
                  <a:tcPr marL="91440" marR="91440" marT="45720" marB="45720" anchor="t">
                    <a:solidFill>
                      <a:srgbClr val="173F35"/>
                    </a:solidFill>
                  </a:tcPr>
                </a:tc>
                <a:tc hMerge="1" vMerge="0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/>
                </a:tc>
                <a:tc gridSpan="2">
                  <a:txBody>
                    <a:bodyPr wrap="square" lIns="133350" tIns="123825" rIns="114300" bIns="95250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287B58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ความสัมพันธ์</a:t>
                      </a:r>
                    </a:p>
                    <a:p>
                      <a:r>
                        <a:rPr sz="150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  <a:p>
                      <a:r>
                        <a:rPr sz="150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แจ้งสถานะผ่าน LINE</a:t>
                      </a:r>
                    </a:p>
                    <a:p>
                      <a:r>
                        <a:rPr sz="150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รับข้อเสนอแนะ</a:t>
                      </a:r>
                    </a:p>
                  </a:txBody>
                  <a:tcPr marL="91440" marR="91440" marT="45720" marB="45720" anchor="t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/>
                </a:tc>
                <a:tc rowSpan="2" gridSpan="2">
                  <a:txBody>
                    <a:bodyPr wrap="square" lIns="133350" tIns="123825" rIns="114300" bIns="95250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287B58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กลุ่มลูกค้า</a:t>
                      </a:r>
                    </a:p>
                    <a:p>
                      <a:r>
                        <a:rPr sz="150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  <a:p>
                      <a:r>
                        <a:rPr sz="150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นักศึกษา / บุคลากร</a:t>
                      </a:r>
                    </a:p>
                    <a:p>
                      <a:r>
                        <a:rPr sz="150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ร้านค้า FITM และ</a:t>
                      </a:r>
                    </a:p>
                    <a:p>
                      <a:r>
                        <a:rPr sz="150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โรงอาหารกลาง</a:t>
                      </a:r>
                    </a:p>
                  </a:txBody>
                  <a:tcPr marL="91440" marR="91440" marT="45720" marB="45720" anchor="t">
                    <a:solidFill>
                      <a:srgbClr val="FFFFFF"/>
                    </a:solidFill>
                  </a:tcPr>
                </a:tc>
                <a:tc hMerge="1" vMerge="0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/>
                </a:tc>
              </a:tr>
              <a:tr h="1504950">
                <a:tc hMerge="0" v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/>
                </a:tc>
                <a:tc hMerge="1" v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/>
                </a:tc>
                <a:tc gridSpan="2">
                  <a:txBody>
                    <a:bodyPr wrap="square" lIns="133350" tIns="123825" rIns="114300" bIns="95250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287B58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ทรัพยากรหลัก</a:t>
                      </a:r>
                    </a:p>
                    <a:p>
                      <a:r>
                        <a:rPr sz="150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  <a:p>
                      <a:r>
                        <a:rPr sz="150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LIFF / Cloud / KDS</a:t>
                      </a:r>
                    </a:p>
                    <a:p>
                      <a:r>
                        <a:rPr sz="150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ทีมงาน 7 คน</a:t>
                      </a:r>
                    </a:p>
                  </a:txBody>
                  <a:tcPr marL="91440" marR="91440" marT="45720" marB="45720" anchor="t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/>
                </a:tc>
                <a:tc hMerge="0" v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/>
                </a:tc>
                <a:tc hMerge="1" v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/>
                </a:tc>
                <a:tc gridSpan="2">
                  <a:txBody>
                    <a:bodyPr wrap="square" lIns="133350" tIns="123825" rIns="114300" bIns="95250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287B58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ช่องทาง</a:t>
                      </a:r>
                    </a:p>
                    <a:p>
                      <a:r>
                        <a:rPr sz="150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  <a:p>
                      <a:r>
                        <a:rPr sz="150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LINE OA / QR</a:t>
                      </a:r>
                    </a:p>
                    <a:p>
                      <a:r>
                        <a:rPr sz="150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เพจนักศึกษา</a:t>
                      </a:r>
                    </a:p>
                  </a:txBody>
                  <a:tcPr marL="91440" marR="91440" marT="45720" marB="45720" anchor="t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/>
                </a:tc>
                <a:tc hMerge="0" v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/>
                </a:tc>
                <a:tc hMerge="1" v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/>
                </a:tc>
              </a:tr>
              <a:tr h="1162050">
                <a:tc gridSpan="5">
                  <a:txBody>
                    <a:bodyPr wrap="square" lIns="133350" tIns="123825" rIns="114300" bIns="95250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287B58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โครงสร้างต้นทุน</a:t>
                      </a:r>
                    </a:p>
                    <a:p>
                      <a:r>
                        <a:rPr sz="150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  <a:p>
                      <a:r>
                        <a:rPr sz="150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ระบบ Cloud / LINE / ดูแลอุปกรณ์</a:t>
                      </a:r>
                    </a:p>
                    <a:p>
                      <a:r>
                        <a:rPr sz="150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เงินลงทุนเริ่มต้น 28,500 บาท</a:t>
                      </a:r>
                    </a:p>
                  </a:txBody>
                  <a:tcPr marL="91440" marR="91440" marT="45720" marB="45720" anchor="t">
                    <a:solidFill>
                      <a:srgbClr val="E9EFE4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/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/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/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/>
                </a:tc>
                <a:tc gridSpan="5">
                  <a:txBody>
                    <a:bodyPr wrap="square" lIns="133350" tIns="123825" rIns="114300" bIns="95250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287B58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กระแสรายได้</a:t>
                      </a:r>
                    </a:p>
                    <a:p>
                      <a:r>
                        <a:rPr sz="150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  <a:p>
                      <a:r>
                        <a:rPr sz="150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ค่าธรรมเนียมร้านค้า 3–5% ต่อออเดอร์</a:t>
                      </a:r>
                    </a:p>
                    <a:p>
                      <a:r>
                        <a:rPr sz="150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อนาคต: Analytics 199 บาท/เดือน และโฆษณา</a:t>
                      </a:r>
                    </a:p>
                  </a:txBody>
                  <a:tcPr marL="91440" marR="91440" marT="45720" marB="45720" anchor="t">
                    <a:solidFill>
                      <a:srgbClr val="E9EFE4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/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/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/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8606516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96">
            <a:extLst xmlns:a="http://schemas.openxmlformats.org/drawingml/2006/main">
              <a:ext uri="{FF2B5EF4-FFF2-40B4-BE49-F238E27FC236}">
                <a16:creationId xmlns:a16="http://schemas.microsoft.com/office/drawing/2014/main" id="{E8A11213-CAA2-4F56-80F6-7A327497E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ตำแหน่งทางการแข่งขัน</a:t>
            </a:r>
          </a:p>
        </p:txBody>
      </p:sp>
      <p:sp>
        <p:nvSpPr>
          <p:cNvPr id="2" name="text-97">
            <a:extLst xmlns:a="http://schemas.openxmlformats.org/drawingml/2006/main">
              <a:ext uri="{FF2B5EF4-FFF2-40B4-BE49-F238E27FC236}">
                <a16:creationId xmlns:a16="http://schemas.microsoft.com/office/drawing/2014/main" id="{A7D3F937-FCD7-4BD1-A3BF-D1568D623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62000"/>
            <a:ext cx="108966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322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322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เหมาะกับมื้อเที่ยงที่ผู้ใช้เดินมารับเอง</a:t>
            </a:r>
          </a:p>
        </p:txBody>
      </p:sp>
      <p:sp>
        <p:nvSpPr>
          <p:cNvPr id="3" name="rule-98">
            <a:extLst xmlns:a="http://schemas.openxmlformats.org/drawingml/2006/main">
              <a:ext uri="{FF2B5EF4-FFF2-40B4-BE49-F238E27FC236}">
                <a16:creationId xmlns:a16="http://schemas.microsoft.com/office/drawing/2014/main" id="{29D96F8B-6617-4EDC-825E-A51FDCF9B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CD5CB"/>
            </a:solidFill>
          </a:ln>
        </p:spPr>
      </p:sp>
      <p:sp>
        <p:nvSpPr>
          <p:cNvPr id="4" name="text-99">
            <a:extLst xmlns:a="http://schemas.openxmlformats.org/drawingml/2006/main">
              <a:ext uri="{FF2B5EF4-FFF2-40B4-BE49-F238E27FC236}">
                <a16:creationId xmlns:a16="http://schemas.microsoft.com/office/drawing/2014/main" id="{75865514-1D5D-4A20-A83E-F668CC461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8652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050" b="1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050" b="1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SMART QUEUE FOOD</a:t>
            </a:r>
          </a:p>
        </p:txBody>
      </p:sp>
      <p:sp>
        <p:nvSpPr>
          <p:cNvPr id="5" name="text-100">
            <a:extLst xmlns:a="http://schemas.openxmlformats.org/drawingml/2006/main">
              <a:ext uri="{FF2B5EF4-FFF2-40B4-BE49-F238E27FC236}">
                <a16:creationId xmlns:a16="http://schemas.microsoft.com/office/drawing/2014/main" id="{C311FCC6-76F0-4083-B644-FFBF6E48E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67475"/>
            <a:ext cx="1066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7620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20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20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07 / 15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47700" y="2085975"/>
          <a:ext xmlns:a="http://schemas.openxmlformats.org/drawingml/2006/main" cx="10896600" cy="3286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00400"/>
                <a:gridCol w="2190750"/>
                <a:gridCol w="2571750"/>
                <a:gridCol w="2933700"/>
              </a:tblGrid>
              <a:tr h="657225"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ประเด็นเปรียบเทียบ</a:t>
                      </a:r>
                    </a:p>
                  </a:txBody>
                  <a:tcPr marL="91440" marR="91440" marT="45720" marB="45720" anchor="ctr">
                    <a:solidFill>
                      <a:srgbClr val="173F35"/>
                    </a:solidFill>
                  </a:tcPr>
                </a:tc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คิวหน้าร้าน</a:t>
                      </a:r>
                    </a:p>
                  </a:txBody>
                  <a:tcPr marL="91440" marR="91440" marT="45720" marB="45720" anchor="ctr">
                    <a:solidFill>
                      <a:srgbClr val="173F35"/>
                    </a:solidFill>
                  </a:tcPr>
                </a:tc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เดลิเวอรี</a:t>
                      </a:r>
                    </a:p>
                  </a:txBody>
                  <a:tcPr marL="91440" marR="91440" marT="45720" marB="45720" anchor="ctr">
                    <a:solidFill>
                      <a:srgbClr val="173F35"/>
                    </a:solidFill>
                  </a:tcPr>
                </a:tc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Smart Queue</a:t>
                      </a:r>
                    </a:p>
                  </a:txBody>
                  <a:tcPr marL="91440" marR="91440" marT="45720" marB="45720" anchor="ctr">
                    <a:solidFill>
                      <a:srgbClr val="173F35"/>
                    </a:solidFill>
                  </a:tcPr>
                </a:tc>
              </a:tr>
              <a:tr h="657225"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จุดรับอาหาร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ที่ร้าน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จุดส่งที่เลือก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ที่ร้าน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การสั่งล่วงหน้า</a:t>
                      </a:r>
                    </a:p>
                  </a:txBody>
                  <a:tcPr marL="91440" marR="91440" marT="45720" marB="45720" anchor="ctr">
                    <a:solidFill>
                      <a:srgbClr val="E9EFE4"/>
                    </a:solidFill>
                  </a:tcPr>
                </a:tc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ขึ้นกับร้าน</a:t>
                      </a:r>
                    </a:p>
                  </a:txBody>
                  <a:tcPr marL="91440" marR="91440" marT="45720" marB="45720" anchor="ctr">
                    <a:solidFill>
                      <a:srgbClr val="E9EFE4"/>
                    </a:solidFill>
                  </a:tcPr>
                </a:tc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ขึ้นกับบริการ</a:t>
                      </a:r>
                    </a:p>
                  </a:txBody>
                  <a:tcPr marL="91440" marR="91440" marT="45720" marB="45720" anchor="ctr">
                    <a:solidFill>
                      <a:srgbClr val="E9EFE4"/>
                    </a:solidFill>
                  </a:tcPr>
                </a:tc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เป็นคุณค่าหลัก</a:t>
                      </a:r>
                    </a:p>
                  </a:txBody>
                  <a:tcPr marL="91440" marR="91440" marT="45720" marB="45720" anchor="ctr">
                    <a:solidFill>
                      <a:srgbClr val="E9EFE4"/>
                    </a:solidFill>
                  </a:tcPr>
                </a:tc>
              </a:tr>
              <a:tr h="657225"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จัดคิวครัว / รวมเมนู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ร้านจัดการเอง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ขึ้นกับระบบ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ออกแบบร่วมกับร้าน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รูปแบบค่าใช้จ่าย</a:t>
                      </a:r>
                    </a:p>
                  </a:txBody>
                  <a:tcPr marL="91440" marR="91440" marT="45720" marB="45720" anchor="ctr">
                    <a:solidFill>
                      <a:srgbClr val="E9EFE4"/>
                    </a:solidFill>
                  </a:tcPr>
                </a:tc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ราคาอาหาร</a:t>
                      </a:r>
                    </a:p>
                  </a:txBody>
                  <a:tcPr marL="91440" marR="91440" marT="45720" marB="45720" anchor="ctr">
                    <a:solidFill>
                      <a:srgbClr val="E9EFE4"/>
                    </a:solidFill>
                  </a:tcPr>
                </a:tc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ตามแพ็กเกจบริการ</a:t>
                      </a:r>
                    </a:p>
                  </a:txBody>
                  <a:tcPr marL="91440" marR="91440" marT="45720" marB="45720" anchor="ctr">
                    <a:solidFill>
                      <a:srgbClr val="E9EFE4"/>
                    </a:solidFill>
                  </a:tcPr>
                </a:tc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GP 3–5% จากร้าน</a:t>
                      </a:r>
                    </a:p>
                  </a:txBody>
                  <a:tcPr marL="91440" marR="91440" marT="45720" marB="45720" anchor="ctr">
                    <a:solidFill>
                      <a:srgbClr val="E9EFE4"/>
                    </a:solidFill>
                  </a:tcPr>
                </a:tc>
              </a:tr>
            </a:tbl>
          </a:graphicData>
        </a:graphic>
      </p:graphicFrame>
      <p:sp>
        <p:nvSpPr>
          <p:cNvPr id="7" name="text-101">
            <a:extLst xmlns:a="http://schemas.openxmlformats.org/drawingml/2006/main">
              <a:ext uri="{FF2B5EF4-FFF2-40B4-BE49-F238E27FC236}">
                <a16:creationId xmlns:a16="http://schemas.microsoft.com/office/drawing/2014/main" id="{8328E5DD-EC08-4A12-815E-DBA4F280E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48325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7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247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จุดต่าง: บริหารงานในครัวควบคู่กับการสั่งล่วงหน้า</a:t>
            </a:r>
          </a:p>
        </p:txBody>
      </p:sp>
    </p:spTree>
    <p:extLst>
      <p:ext uri="{BB962C8B-B14F-4D97-AF65-F5344CB8AC3E}">
        <p14:creationId xmlns:p14="http://schemas.microsoft.com/office/powerpoint/2010/main" val="19730687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102">
            <a:extLst xmlns:a="http://schemas.openxmlformats.org/drawingml/2006/main">
              <a:ext uri="{FF2B5EF4-FFF2-40B4-BE49-F238E27FC236}">
                <a16:creationId xmlns:a16="http://schemas.microsoft.com/office/drawing/2014/main" id="{2E139FFF-2029-496B-B556-3E824EEF7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ส่วนประสมการตลาด 4PS</a:t>
            </a:r>
          </a:p>
        </p:txBody>
      </p:sp>
      <p:sp>
        <p:nvSpPr>
          <p:cNvPr id="2" name="text-103">
            <a:extLst xmlns:a="http://schemas.openxmlformats.org/drawingml/2006/main">
              <a:ext uri="{FF2B5EF4-FFF2-40B4-BE49-F238E27FC236}">
                <a16:creationId xmlns:a16="http://schemas.microsoft.com/office/drawing/2014/main" id="{1EEC51E5-70B1-4CBF-9D0B-BC7CACD1F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62000"/>
            <a:ext cx="108966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322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322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เข้าถึงผ่าน LINE เริ่มใช้งานที่หน้าร้าน</a:t>
            </a:r>
          </a:p>
        </p:txBody>
      </p:sp>
      <p:sp>
        <p:nvSpPr>
          <p:cNvPr id="3" name="rule-104">
            <a:extLst xmlns:a="http://schemas.openxmlformats.org/drawingml/2006/main">
              <a:ext uri="{FF2B5EF4-FFF2-40B4-BE49-F238E27FC236}">
                <a16:creationId xmlns:a16="http://schemas.microsoft.com/office/drawing/2014/main" id="{BA88A193-54EF-4CAF-8584-1873370F0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CD5CB"/>
            </a:solidFill>
          </a:ln>
        </p:spPr>
      </p:sp>
      <p:sp>
        <p:nvSpPr>
          <p:cNvPr id="4" name="text-105">
            <a:extLst xmlns:a="http://schemas.openxmlformats.org/drawingml/2006/main">
              <a:ext uri="{FF2B5EF4-FFF2-40B4-BE49-F238E27FC236}">
                <a16:creationId xmlns:a16="http://schemas.microsoft.com/office/drawing/2014/main" id="{B179A139-6D43-4D09-8C84-FAA5FE33A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8652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050" b="1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050" b="1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SMART QUEUE FOOD</a:t>
            </a:r>
          </a:p>
        </p:txBody>
      </p:sp>
      <p:sp>
        <p:nvSpPr>
          <p:cNvPr id="5" name="text-106">
            <a:extLst xmlns:a="http://schemas.openxmlformats.org/drawingml/2006/main">
              <a:ext uri="{FF2B5EF4-FFF2-40B4-BE49-F238E27FC236}">
                <a16:creationId xmlns:a16="http://schemas.microsoft.com/office/drawing/2014/main" id="{82015BF0-580D-4991-A5E1-9D84D2034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67475"/>
            <a:ext cx="1066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7620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20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20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08 / 15</a:t>
            </a:r>
          </a:p>
        </p:txBody>
      </p:sp>
      <p:sp>
        <p:nvSpPr>
          <p:cNvPr id="6" name="panel-107">
            <a:extLst xmlns:a="http://schemas.openxmlformats.org/drawingml/2006/main">
              <a:ext uri="{FF2B5EF4-FFF2-40B4-BE49-F238E27FC236}">
                <a16:creationId xmlns:a16="http://schemas.microsoft.com/office/drawing/2014/main" id="{096E6B69-A2B9-4565-AC12-64E75DB30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14525"/>
            <a:ext cx="535305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F35"/>
          </a:solidFill>
          <a:ln xmlns:a="http://schemas.openxmlformats.org/drawingml/2006/main" w="0">
            <a:noFill/>
          </a:ln>
        </p:spPr>
      </p:sp>
      <p:sp>
        <p:nvSpPr>
          <p:cNvPr id="7" name="text-108">
            <a:extLst xmlns:a="http://schemas.openxmlformats.org/drawingml/2006/main">
              <a:ext uri="{FF2B5EF4-FFF2-40B4-BE49-F238E27FC236}">
                <a16:creationId xmlns:a16="http://schemas.microsoft.com/office/drawing/2014/main" id="{02D08DF1-B5AF-48D2-ABFD-02C6A4D33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66925"/>
            <a:ext cx="48387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725" b="1">
                <a:solidFill>
                  <a:srgbClr val="D5E8B6"/>
                </a:solidFill>
                <a:latin typeface="Leelawadee UI"/>
                <a:ea typeface="Leelawadee UI"/>
                <a:cs typeface="Leelawadee UI"/>
              </a:defRPr>
            </a:pPr>
            <a:r>
              <a:rPr sz="1725" b="1">
                <a:solidFill>
                  <a:srgbClr val="D5E8B6"/>
                </a:solidFill>
                <a:latin typeface="Leelawadee UI"/>
                <a:ea typeface="Leelawadee UI"/>
                <a:cs typeface="Leelawadee UI"/>
              </a:rPr>
              <a:t>Product</a:t>
            </a:r>
          </a:p>
        </p:txBody>
      </p:sp>
      <p:sp>
        <p:nvSpPr>
          <p:cNvPr id="8" name="text-109">
            <a:extLst xmlns:a="http://schemas.openxmlformats.org/drawingml/2006/main">
              <a:ext uri="{FF2B5EF4-FFF2-40B4-BE49-F238E27FC236}">
                <a16:creationId xmlns:a16="http://schemas.microsoft.com/office/drawing/2014/main" id="{56042B7E-C7B4-4324-9729-19A6A02AA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33650"/>
            <a:ext cx="48387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75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pPr>
            <a:r>
              <a:rPr sz="2175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สั่งล่วงหน้า + จอ KDS</a:t>
            </a:r>
          </a:p>
        </p:txBody>
      </p:sp>
      <p:sp>
        <p:nvSpPr>
          <p:cNvPr id="9" name="text-110">
            <a:extLst xmlns:a="http://schemas.openxmlformats.org/drawingml/2006/main">
              <a:ext uri="{FF2B5EF4-FFF2-40B4-BE49-F238E27FC236}">
                <a16:creationId xmlns:a16="http://schemas.microsoft.com/office/drawing/2014/main" id="{93C8A221-D892-4E4A-B5F9-C11E0EDCD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483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875" b="0">
                <a:solidFill>
                  <a:srgbClr val="F7F6F0"/>
                </a:solidFill>
                <a:latin typeface="Leelawadee UI"/>
                <a:ea typeface="Leelawadee UI"/>
                <a:cs typeface="Leelawadee UI"/>
              </a:defRPr>
            </a:pPr>
            <a:r>
              <a:rPr sz="1875" b="0">
                <a:solidFill>
                  <a:srgbClr val="F7F6F0"/>
                </a:solidFill>
                <a:latin typeface="Leelawadee UI"/>
                <a:ea typeface="Leelawadee UI"/>
                <a:cs typeface="Leelawadee UI"/>
              </a:rPr>
              <a:t>เลือกเวลารับและติดตามคิว</a:t>
            </a:r>
          </a:p>
        </p:txBody>
      </p:sp>
      <p:sp>
        <p:nvSpPr>
          <p:cNvPr id="10" name="panel-111">
            <a:extLst xmlns:a="http://schemas.openxmlformats.org/drawingml/2006/main">
              <a:ext uri="{FF2B5EF4-FFF2-40B4-BE49-F238E27FC236}">
                <a16:creationId xmlns:a16="http://schemas.microsoft.com/office/drawing/2014/main" id="{FD41DC5C-D63D-4135-80C7-411AC98DA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914525"/>
            <a:ext cx="535305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FE4"/>
          </a:solidFill>
          <a:ln xmlns:a="http://schemas.openxmlformats.org/drawingml/2006/main" w="0">
            <a:noFill/>
          </a:ln>
        </p:spPr>
      </p:sp>
      <p:sp>
        <p:nvSpPr>
          <p:cNvPr id="11" name="text-112">
            <a:extLst xmlns:a="http://schemas.openxmlformats.org/drawingml/2006/main">
              <a:ext uri="{FF2B5EF4-FFF2-40B4-BE49-F238E27FC236}">
                <a16:creationId xmlns:a16="http://schemas.microsoft.com/office/drawing/2014/main" id="{4BA3BBAB-DD23-4EBA-B2F1-E4D3FAB6F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66925"/>
            <a:ext cx="48387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72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172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Price</a:t>
            </a:r>
          </a:p>
        </p:txBody>
      </p:sp>
      <p:sp>
        <p:nvSpPr>
          <p:cNvPr id="12" name="text-113">
            <a:extLst xmlns:a="http://schemas.openxmlformats.org/drawingml/2006/main">
              <a:ext uri="{FF2B5EF4-FFF2-40B4-BE49-F238E27FC236}">
                <a16:creationId xmlns:a16="http://schemas.microsoft.com/office/drawing/2014/main" id="{168B0207-FE62-49D0-941A-A2DABDB23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33650"/>
            <a:ext cx="48387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7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217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ราคาหน้าร้าน ไม่มีค่าส่ง</a:t>
            </a:r>
          </a:p>
        </p:txBody>
      </p:sp>
      <p:sp>
        <p:nvSpPr>
          <p:cNvPr id="13" name="text-114">
            <a:extLst xmlns:a="http://schemas.openxmlformats.org/drawingml/2006/main">
              <a:ext uri="{FF2B5EF4-FFF2-40B4-BE49-F238E27FC236}">
                <a16:creationId xmlns:a16="http://schemas.microsoft.com/office/drawing/2014/main" id="{7DFE6F58-8C15-4D77-9129-3453061D8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105150"/>
            <a:ext cx="483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8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8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ข้อเสนอ GP ร้านค้า 3–5%</a:t>
            </a:r>
          </a:p>
        </p:txBody>
      </p:sp>
      <p:sp>
        <p:nvSpPr>
          <p:cNvPr id="14" name="panel-115">
            <a:extLst xmlns:a="http://schemas.openxmlformats.org/drawingml/2006/main">
              <a:ext uri="{FF2B5EF4-FFF2-40B4-BE49-F238E27FC236}">
                <a16:creationId xmlns:a16="http://schemas.microsoft.com/office/drawing/2014/main" id="{1FB323E8-DD34-4E94-8E14-0FE003477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86200"/>
            <a:ext cx="535305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FE4"/>
          </a:solidFill>
          <a:ln xmlns:a="http://schemas.openxmlformats.org/drawingml/2006/main" w="0">
            <a:noFill/>
          </a:ln>
        </p:spPr>
      </p:sp>
      <p:sp>
        <p:nvSpPr>
          <p:cNvPr id="15" name="text-116">
            <a:extLst xmlns:a="http://schemas.openxmlformats.org/drawingml/2006/main">
              <a:ext uri="{FF2B5EF4-FFF2-40B4-BE49-F238E27FC236}">
                <a16:creationId xmlns:a16="http://schemas.microsoft.com/office/drawing/2014/main" id="{1213E7EE-880D-40A7-BE90-4A11E1DF4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38600"/>
            <a:ext cx="48387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72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172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Place</a:t>
            </a:r>
          </a:p>
        </p:txBody>
      </p:sp>
      <p:sp>
        <p:nvSpPr>
          <p:cNvPr id="16" name="text-117">
            <a:extLst xmlns:a="http://schemas.openxmlformats.org/drawingml/2006/main">
              <a:ext uri="{FF2B5EF4-FFF2-40B4-BE49-F238E27FC236}">
                <a16:creationId xmlns:a16="http://schemas.microsoft.com/office/drawing/2014/main" id="{1F212F3D-5F5C-4E3D-BA1B-4C8E161D7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05325"/>
            <a:ext cx="48387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7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217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LINE OA + จุดรับอาหาร</a:t>
            </a:r>
          </a:p>
        </p:txBody>
      </p:sp>
      <p:sp>
        <p:nvSpPr>
          <p:cNvPr id="17" name="text-118">
            <a:extLst xmlns:a="http://schemas.openxmlformats.org/drawingml/2006/main">
              <a:ext uri="{FF2B5EF4-FFF2-40B4-BE49-F238E27FC236}">
                <a16:creationId xmlns:a16="http://schemas.microsoft.com/office/drawing/2014/main" id="{7D1BE0A7-97C2-48ED-A055-493308DCD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76825"/>
            <a:ext cx="483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8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8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เริ่มที่โรงอาหาร FITM 3 ร้าน</a:t>
            </a:r>
          </a:p>
        </p:txBody>
      </p:sp>
      <p:sp>
        <p:nvSpPr>
          <p:cNvPr id="18" name="panel-119">
            <a:extLst xmlns:a="http://schemas.openxmlformats.org/drawingml/2006/main">
              <a:ext uri="{FF2B5EF4-FFF2-40B4-BE49-F238E27FC236}">
                <a16:creationId xmlns:a16="http://schemas.microsoft.com/office/drawing/2014/main" id="{72E49357-3383-427C-B0A0-79CD12FCE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86200"/>
            <a:ext cx="535305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FE4"/>
          </a:solidFill>
          <a:ln xmlns:a="http://schemas.openxmlformats.org/drawingml/2006/main" w="0">
            <a:noFill/>
          </a:ln>
        </p:spPr>
      </p:sp>
      <p:sp>
        <p:nvSpPr>
          <p:cNvPr id="19" name="text-120">
            <a:extLst xmlns:a="http://schemas.openxmlformats.org/drawingml/2006/main">
              <a:ext uri="{FF2B5EF4-FFF2-40B4-BE49-F238E27FC236}">
                <a16:creationId xmlns:a16="http://schemas.microsoft.com/office/drawing/2014/main" id="{89BB99ED-10B3-4E4C-8A36-218B34A0A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38600"/>
            <a:ext cx="48387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72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172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Promotion</a:t>
            </a:r>
          </a:p>
        </p:txBody>
      </p:sp>
      <p:sp>
        <p:nvSpPr>
          <p:cNvPr id="20" name="text-121">
            <a:extLst xmlns:a="http://schemas.openxmlformats.org/drawingml/2006/main">
              <a:ext uri="{FF2B5EF4-FFF2-40B4-BE49-F238E27FC236}">
                <a16:creationId xmlns:a16="http://schemas.microsoft.com/office/drawing/2014/main" id="{0F2B348B-BD0F-49C2-967E-7D24E857C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05325"/>
            <a:ext cx="48387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7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217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QR หน้าร้าน + เพจนักศึกษา</a:t>
            </a:r>
          </a:p>
        </p:txBody>
      </p:sp>
      <p:sp>
        <p:nvSpPr>
          <p:cNvPr id="21" name="text-122">
            <a:extLst xmlns:a="http://schemas.openxmlformats.org/drawingml/2006/main">
              <a:ext uri="{FF2B5EF4-FFF2-40B4-BE49-F238E27FC236}">
                <a16:creationId xmlns:a16="http://schemas.microsoft.com/office/drawing/2014/main" id="{85056DF0-849E-4956-9DCD-BD0542610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076825"/>
            <a:ext cx="483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8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8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ทีมสาธิตใช้งานในช่วงนำร่อง</a:t>
            </a:r>
          </a:p>
        </p:txBody>
      </p:sp>
      <p:sp>
        <p:nvSpPr>
          <p:cNvPr id="22" name="text-123">
            <a:extLst xmlns:a="http://schemas.openxmlformats.org/drawingml/2006/main">
              <a:ext uri="{FF2B5EF4-FFF2-40B4-BE49-F238E27FC236}">
                <a16:creationId xmlns:a16="http://schemas.microsoft.com/office/drawing/2014/main" id="{96B7C40F-D6D8-4616-B31B-70DFA892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34075"/>
            <a:ext cx="108966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3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เป้าหมายการตลาดระยะแรก: ให้ผู้ใช้สั่งสำเร็จ และให้ร้านใช้ KDS ได้คล่อง</a:t>
            </a:r>
          </a:p>
        </p:txBody>
      </p:sp>
    </p:spTree>
    <p:extLst>
      <p:ext uri="{BB962C8B-B14F-4D97-AF65-F5344CB8AC3E}">
        <p14:creationId xmlns:p14="http://schemas.microsoft.com/office/powerpoint/2010/main" val="159053523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ext-124">
            <a:extLst xmlns:a="http://schemas.openxmlformats.org/drawingml/2006/main">
              <a:ext uri="{FF2B5EF4-FFF2-40B4-BE49-F238E27FC236}">
                <a16:creationId xmlns:a16="http://schemas.microsoft.com/office/drawing/2014/main" id="{6FE5270D-DA19-4B33-B2CE-1AC7304CF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สถาปัตยกรรมที่เสนอ</a:t>
            </a:r>
          </a:p>
        </p:txBody>
      </p:sp>
      <p:sp>
        <p:nvSpPr>
          <p:cNvPr id="2" name="text-125">
            <a:extLst xmlns:a="http://schemas.openxmlformats.org/drawingml/2006/main">
              <a:ext uri="{FF2B5EF4-FFF2-40B4-BE49-F238E27FC236}">
                <a16:creationId xmlns:a16="http://schemas.microsoft.com/office/drawing/2014/main" id="{F0B798B7-4E28-4086-8A6C-02E0BC81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62000"/>
            <a:ext cx="108966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322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322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ตรวจสอบการชำระเงินก่อนส่งงานเข้าครัว</a:t>
            </a:r>
          </a:p>
        </p:txBody>
      </p:sp>
      <p:sp>
        <p:nvSpPr>
          <p:cNvPr id="3" name="rule-126">
            <a:extLst xmlns:a="http://schemas.openxmlformats.org/drawingml/2006/main">
              <a:ext uri="{FF2B5EF4-FFF2-40B4-BE49-F238E27FC236}">
                <a16:creationId xmlns:a16="http://schemas.microsoft.com/office/drawing/2014/main" id="{B0ADD28B-4DAD-4C77-8DA6-9587F08E2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CD5CB"/>
            </a:solidFill>
          </a:ln>
        </p:spPr>
      </p:sp>
      <p:sp>
        <p:nvSpPr>
          <p:cNvPr id="4" name="text-127">
            <a:extLst xmlns:a="http://schemas.openxmlformats.org/drawingml/2006/main">
              <a:ext uri="{FF2B5EF4-FFF2-40B4-BE49-F238E27FC236}">
                <a16:creationId xmlns:a16="http://schemas.microsoft.com/office/drawing/2014/main" id="{E9A4FF47-2783-4592-8DDE-6B6DD5380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8652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050" b="1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050" b="1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SMART QUEUE FOOD</a:t>
            </a:r>
          </a:p>
        </p:txBody>
      </p:sp>
      <p:sp>
        <p:nvSpPr>
          <p:cNvPr id="5" name="text-128">
            <a:extLst xmlns:a="http://schemas.openxmlformats.org/drawingml/2006/main">
              <a:ext uri="{FF2B5EF4-FFF2-40B4-BE49-F238E27FC236}">
                <a16:creationId xmlns:a16="http://schemas.microsoft.com/office/drawing/2014/main" id="{5A3354BC-3F1C-491F-AFA6-27FD62D3C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67475"/>
            <a:ext cx="1066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7620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20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20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09 / 15</a:t>
            </a:r>
          </a:p>
        </p:txBody>
      </p:sp>
      <p:sp>
        <p:nvSpPr>
          <p:cNvPr id="6" name="panel-129">
            <a:extLst xmlns:a="http://schemas.openxmlformats.org/drawingml/2006/main">
              <a:ext uri="{FF2B5EF4-FFF2-40B4-BE49-F238E27FC236}">
                <a16:creationId xmlns:a16="http://schemas.microsoft.com/office/drawing/2014/main" id="{351052FE-5E1D-4A3B-B1BC-5C614C790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47900"/>
            <a:ext cx="3238500" cy="1685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FE4"/>
          </a:solidFill>
          <a:ln xmlns:a="http://schemas.openxmlformats.org/drawingml/2006/main" w="0">
            <a:noFill/>
          </a:ln>
        </p:spPr>
      </p:sp>
      <p:sp>
        <p:nvSpPr>
          <p:cNvPr id="7" name="text-130">
            <a:extLst xmlns:a="http://schemas.openxmlformats.org/drawingml/2006/main">
              <a:ext uri="{FF2B5EF4-FFF2-40B4-BE49-F238E27FC236}">
                <a16:creationId xmlns:a16="http://schemas.microsoft.com/office/drawing/2014/main" id="{C6123A5E-72AB-4785-8C1D-FE2C3C3D4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400" b="1">
                <a:solidFill>
                  <a:srgbClr val="173F35"/>
                </a:solidFill>
                <a:latin typeface="Leelawadee UI"/>
                <a:ea typeface="Leelawadee UI"/>
                <a:cs typeface="Leelawadee UI"/>
              </a:defRPr>
            </a:pPr>
            <a:r>
              <a:rPr sz="2400" b="1">
                <a:solidFill>
                  <a:srgbClr val="173F35"/>
                </a:solidFill>
                <a:latin typeface="Leelawadee UI"/>
                <a:ea typeface="Leelawadee UI"/>
                <a:cs typeface="Leelawadee UI"/>
              </a:rPr>
              <a:t>LINE LIFF</a:t>
            </a:r>
          </a:p>
        </p:txBody>
      </p:sp>
      <p:sp>
        <p:nvSpPr>
          <p:cNvPr id="8" name="text-131">
            <a:extLst xmlns:a="http://schemas.openxmlformats.org/drawingml/2006/main">
              <a:ext uri="{FF2B5EF4-FFF2-40B4-BE49-F238E27FC236}">
                <a16:creationId xmlns:a16="http://schemas.microsoft.com/office/drawing/2014/main" id="{BD9176F8-4AAB-4BA6-9615-96102DF93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57525"/>
            <a:ext cx="285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8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8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เมนู / เวลารับ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8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8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บัตรคิวผู้ใช้</a:t>
            </a:r>
          </a:p>
        </p:txBody>
      </p:sp>
      <p:sp>
        <p:nvSpPr>
          <p:cNvPr id="9" name="panel-132">
            <a:extLst xmlns:a="http://schemas.openxmlformats.org/drawingml/2006/main">
              <a:ext uri="{FF2B5EF4-FFF2-40B4-BE49-F238E27FC236}">
                <a16:creationId xmlns:a16="http://schemas.microsoft.com/office/drawing/2014/main" id="{BF02A72D-D26A-4EED-82FD-A408C1A84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47900"/>
            <a:ext cx="3238500" cy="1685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F35"/>
          </a:solidFill>
          <a:ln xmlns:a="http://schemas.openxmlformats.org/drawingml/2006/main" w="0">
            <a:noFill/>
          </a:ln>
        </p:spPr>
      </p:sp>
      <p:sp>
        <p:nvSpPr>
          <p:cNvPr id="10" name="text-133">
            <a:extLst xmlns:a="http://schemas.openxmlformats.org/drawingml/2006/main">
              <a:ext uri="{FF2B5EF4-FFF2-40B4-BE49-F238E27FC236}">
                <a16:creationId xmlns:a16="http://schemas.microsoft.com/office/drawing/2014/main" id="{511CEEE6-7F9B-4D12-95C7-FBA5C57F0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4574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pPr>
            <a:r>
              <a:rPr sz="2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Cloud API</a:t>
            </a:r>
          </a:p>
        </p:txBody>
      </p:sp>
      <p:sp>
        <p:nvSpPr>
          <p:cNvPr id="11" name="text-134">
            <a:extLst xmlns:a="http://schemas.openxmlformats.org/drawingml/2006/main">
              <a:ext uri="{FF2B5EF4-FFF2-40B4-BE49-F238E27FC236}">
                <a16:creationId xmlns:a16="http://schemas.microsoft.com/office/drawing/2014/main" id="{52597DB4-64B2-4BF4-9103-977109EC8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057525"/>
            <a:ext cx="285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875" b="0">
                <a:solidFill>
                  <a:srgbClr val="F7F6F0"/>
                </a:solidFill>
                <a:latin typeface="Leelawadee UI"/>
                <a:ea typeface="Leelawadee UI"/>
                <a:cs typeface="Leelawadee UI"/>
              </a:defRPr>
            </a:pPr>
            <a:r>
              <a:rPr sz="1875" b="0">
                <a:solidFill>
                  <a:srgbClr val="F7F6F0"/>
                </a:solidFill>
                <a:latin typeface="Leelawadee UI"/>
                <a:ea typeface="Leelawadee UI"/>
                <a:cs typeface="Leelawadee UI"/>
              </a:rPr>
              <a:t>ตรวจยอดและสลิป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875" b="0">
                <a:solidFill>
                  <a:srgbClr val="F7F6F0"/>
                </a:solidFill>
                <a:latin typeface="Leelawadee UI"/>
                <a:ea typeface="Leelawadee UI"/>
                <a:cs typeface="Leelawadee UI"/>
              </a:defRPr>
            </a:pPr>
            <a:r>
              <a:rPr sz="1875" b="0">
                <a:solidFill>
                  <a:srgbClr val="F7F6F0"/>
                </a:solidFill>
                <a:latin typeface="Leelawadee UI"/>
                <a:ea typeface="Leelawadee UI"/>
                <a:cs typeface="Leelawadee UI"/>
              </a:rPr>
              <a:t>จัดคิว / เก็บออเดอร์</a:t>
            </a:r>
          </a:p>
        </p:txBody>
      </p:sp>
      <p:sp>
        <p:nvSpPr>
          <p:cNvPr id="12" name="panel-135">
            <a:extLst xmlns:a="http://schemas.openxmlformats.org/drawingml/2006/main">
              <a:ext uri="{FF2B5EF4-FFF2-40B4-BE49-F238E27FC236}">
                <a16:creationId xmlns:a16="http://schemas.microsoft.com/office/drawing/2014/main" id="{E5784B7F-111B-4EE7-8283-B2A9FD8D2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47900"/>
            <a:ext cx="3238500" cy="1685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FE4"/>
          </a:solidFill>
          <a:ln xmlns:a="http://schemas.openxmlformats.org/drawingml/2006/main" w="0">
            <a:noFill/>
          </a:ln>
        </p:spPr>
      </p:sp>
      <p:sp>
        <p:nvSpPr>
          <p:cNvPr id="13" name="text-136">
            <a:extLst xmlns:a="http://schemas.openxmlformats.org/drawingml/2006/main">
              <a:ext uri="{FF2B5EF4-FFF2-40B4-BE49-F238E27FC236}">
                <a16:creationId xmlns:a16="http://schemas.microsoft.com/office/drawing/2014/main" id="{8423FFCA-7F72-4FDE-990E-CDA5692A3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4574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2400" b="1">
                <a:solidFill>
                  <a:srgbClr val="173F35"/>
                </a:solidFill>
                <a:latin typeface="Leelawadee UI"/>
                <a:ea typeface="Leelawadee UI"/>
                <a:cs typeface="Leelawadee UI"/>
              </a:defRPr>
            </a:pPr>
            <a:r>
              <a:rPr sz="2400" b="1">
                <a:solidFill>
                  <a:srgbClr val="173F35"/>
                </a:solidFill>
                <a:latin typeface="Leelawadee UI"/>
                <a:ea typeface="Leelawadee UI"/>
                <a:cs typeface="Leelawadee UI"/>
              </a:rPr>
              <a:t>KDS ร้านค้า</a:t>
            </a:r>
          </a:p>
        </p:txBody>
      </p:sp>
      <p:sp>
        <p:nvSpPr>
          <p:cNvPr id="14" name="text-137">
            <a:extLst xmlns:a="http://schemas.openxmlformats.org/drawingml/2006/main">
              <a:ext uri="{FF2B5EF4-FFF2-40B4-BE49-F238E27FC236}">
                <a16:creationId xmlns:a16="http://schemas.microsoft.com/office/drawing/2014/main" id="{49BD8034-6B60-4694-AEAD-370C6C48C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057525"/>
            <a:ext cx="285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8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8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เห็นงานล่วงหน้า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8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8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จัดกลุ่ม / อัปเดตสถานะ</a:t>
            </a:r>
          </a:p>
        </p:txBody>
      </p:sp>
      <p:cxnSp>
        <p:nvCxnSpPr>
          <p:cNvPr id="34" name=""/>
          <p:cNvCxnSpPr>
            <a:stCxn xmlns:a="http://schemas.openxmlformats.org/drawingml/2006/main" id="6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886200" y="3090863"/>
            <a:ext cx="590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87B58"/>
            </a:solidFill>
            <a:tailEnd type="triangle" w="med" len="med"/>
          </a:ln>
        </p:spPr>
      </p:cxnSp>
      <p:cxnSp>
        <p:nvCxnSpPr>
          <p:cNvPr id="35" name=""/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7715250" y="3090863"/>
            <a:ext cx="590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87B58"/>
            </a:solidFill>
            <a:tailEnd type="triangle" w="med" len="med"/>
          </a:ln>
        </p:spPr>
      </p:cxnSp>
      <p:sp>
        <p:nvSpPr>
          <p:cNvPr id="17" name="text-138">
            <a:extLst xmlns:a="http://schemas.openxmlformats.org/drawingml/2006/main">
              <a:ext uri="{FF2B5EF4-FFF2-40B4-BE49-F238E27FC236}">
                <a16:creationId xmlns:a16="http://schemas.microsoft.com/office/drawing/2014/main" id="{0748DA49-2BBB-472F-B00F-5A79C8CC8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05325"/>
            <a:ext cx="10896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25" b="1">
                <a:solidFill>
                  <a:srgbClr val="173F35"/>
                </a:solidFill>
                <a:latin typeface="Leelawadee UI"/>
                <a:ea typeface="Leelawadee UI"/>
                <a:cs typeface="Leelawadee UI"/>
              </a:defRPr>
            </a:pPr>
            <a:r>
              <a:rPr sz="2325" b="1">
                <a:solidFill>
                  <a:srgbClr val="173F35"/>
                </a:solidFill>
                <a:latin typeface="Leelawadee UI"/>
                <a:ea typeface="Leelawadee UI"/>
                <a:cs typeface="Leelawadee UI"/>
              </a:rPr>
              <a:t>ข้อมูลออเดอร์และสถานะเก็บในฐานข้อมูลกลาง</a:t>
            </a:r>
          </a:p>
        </p:txBody>
      </p:sp>
      <p:sp>
        <p:nvSpPr>
          <p:cNvPr id="18" name="text-139">
            <a:extLst xmlns:a="http://schemas.openxmlformats.org/drawingml/2006/main">
              <a:ext uri="{FF2B5EF4-FFF2-40B4-BE49-F238E27FC236}">
                <a16:creationId xmlns:a16="http://schemas.microsoft.com/office/drawing/2014/main" id="{0F8C4DB1-954F-49B4-A0C1-D0A5469EE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33975"/>
            <a:ext cx="108966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20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ร้านทำเสร็จแล้วแจ้งผ่าน LINE OA พร้อมบันทึกธุรกรรมและป้องกันสลิปซ้ำ</a:t>
            </a:r>
          </a:p>
        </p:txBody>
      </p:sp>
      <p:sp>
        <p:nvSpPr>
          <p:cNvPr id="19" name="text-140">
            <a:extLst xmlns:a="http://schemas.openxmlformats.org/drawingml/2006/main">
              <a:ext uri="{FF2B5EF4-FFF2-40B4-BE49-F238E27FC236}">
                <a16:creationId xmlns:a16="http://schemas.microsoft.com/office/drawing/2014/main" id="{0EAA3104-E9CA-4348-8D94-F9A7AAA1E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34075"/>
            <a:ext cx="108966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3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เป็นแบบสถาปัตยกรรมที่เสนอ ต้องเชื่อมต่อและทดสอบผู้ให้บริการตรวจสลิปก่อนใช้งานจริง</a:t>
            </a:r>
          </a:p>
        </p:txBody>
      </p:sp>
    </p:spTree>
    <p:extLst>
      <p:ext uri="{BB962C8B-B14F-4D97-AF65-F5344CB8AC3E}">
        <p14:creationId xmlns:p14="http://schemas.microsoft.com/office/powerpoint/2010/main" val="4457873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141">
            <a:extLst xmlns:a="http://schemas.openxmlformats.org/drawingml/2006/main">
              <a:ext uri="{FF2B5EF4-FFF2-40B4-BE49-F238E27FC236}">
                <a16:creationId xmlns:a16="http://schemas.microsoft.com/office/drawing/2014/main" id="{FAFD8C2F-C648-49B2-A434-551C1EBE5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DOBLIN’S TEN TYPES</a:t>
            </a:r>
          </a:p>
        </p:txBody>
      </p:sp>
      <p:sp>
        <p:nvSpPr>
          <p:cNvPr id="2" name="text-142">
            <a:extLst xmlns:a="http://schemas.openxmlformats.org/drawingml/2006/main">
              <a:ext uri="{FF2B5EF4-FFF2-40B4-BE49-F238E27FC236}">
                <a16:creationId xmlns:a16="http://schemas.microsoft.com/office/drawing/2014/main" id="{595434BE-A737-4F2A-920F-AC0BB6097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62000"/>
            <a:ext cx="108966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322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322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นวัตกรรมหลักอยู่ที่กระบวนการและช่องทาง</a:t>
            </a:r>
          </a:p>
        </p:txBody>
      </p:sp>
      <p:sp>
        <p:nvSpPr>
          <p:cNvPr id="3" name="rule-143">
            <a:extLst xmlns:a="http://schemas.openxmlformats.org/drawingml/2006/main">
              <a:ext uri="{FF2B5EF4-FFF2-40B4-BE49-F238E27FC236}">
                <a16:creationId xmlns:a16="http://schemas.microsoft.com/office/drawing/2014/main" id="{D7ACCBF3-2D10-47CB-BD2B-92D762D40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CD5CB"/>
            </a:solidFill>
          </a:ln>
        </p:spPr>
      </p:sp>
      <p:sp>
        <p:nvSpPr>
          <p:cNvPr id="4" name="text-144">
            <a:extLst xmlns:a="http://schemas.openxmlformats.org/drawingml/2006/main">
              <a:ext uri="{FF2B5EF4-FFF2-40B4-BE49-F238E27FC236}">
                <a16:creationId xmlns:a16="http://schemas.microsoft.com/office/drawing/2014/main" id="{FC9CF00E-9BD2-4262-846C-88BA23980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8652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050" b="1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050" b="1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SMART QUEUE FOOD</a:t>
            </a:r>
          </a:p>
        </p:txBody>
      </p:sp>
      <p:sp>
        <p:nvSpPr>
          <p:cNvPr id="5" name="text-145">
            <a:extLst xmlns:a="http://schemas.openxmlformats.org/drawingml/2006/main">
              <a:ext uri="{FF2B5EF4-FFF2-40B4-BE49-F238E27FC236}">
                <a16:creationId xmlns:a16="http://schemas.microsoft.com/office/drawing/2014/main" id="{3C6F69D8-BFCB-4E55-99A6-F1ADDC72D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67475"/>
            <a:ext cx="1066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7620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20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20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10 / 15</a:t>
            </a:r>
          </a:p>
        </p:txBody>
      </p:sp>
      <p:sp>
        <p:nvSpPr>
          <p:cNvPr id="6" name="text-146">
            <a:extLst xmlns:a="http://schemas.openxmlformats.org/drawingml/2006/main">
              <a:ext uri="{FF2B5EF4-FFF2-40B4-BE49-F238E27FC236}">
                <a16:creationId xmlns:a16="http://schemas.microsoft.com/office/drawing/2014/main" id="{030C40C0-BED3-4B16-B73C-23E75FBE7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240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2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202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Configuration</a:t>
            </a:r>
          </a:p>
        </p:txBody>
      </p:sp>
      <p:sp>
        <p:nvSpPr>
          <p:cNvPr id="7" name="rule-147">
            <a:extLst xmlns:a="http://schemas.openxmlformats.org/drawingml/2006/main">
              <a:ext uri="{FF2B5EF4-FFF2-40B4-BE49-F238E27FC236}">
                <a16:creationId xmlns:a16="http://schemas.microsoft.com/office/drawing/2014/main" id="{7AC8D414-48CB-4223-9E2E-E11A80FAD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003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CD5CB"/>
            </a:solidFill>
          </a:ln>
        </p:spPr>
      </p:sp>
      <p:sp>
        <p:nvSpPr>
          <p:cNvPr id="8" name="text-148">
            <a:extLst xmlns:a="http://schemas.openxmlformats.org/drawingml/2006/main">
              <a:ext uri="{FF2B5EF4-FFF2-40B4-BE49-F238E27FC236}">
                <a16:creationId xmlns:a16="http://schemas.microsoft.com/office/drawing/2014/main" id="{CBA2A6FD-A9F7-4C85-A1E8-1B23D6FD0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00325"/>
            <a:ext cx="323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1650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01 Profit Model</a:t>
            </a:r>
          </a:p>
        </p:txBody>
      </p:sp>
      <p:sp>
        <p:nvSpPr>
          <p:cNvPr id="9" name="text-149">
            <a:extLst xmlns:a="http://schemas.openxmlformats.org/drawingml/2006/main">
              <a:ext uri="{FF2B5EF4-FFF2-40B4-BE49-F238E27FC236}">
                <a16:creationId xmlns:a16="http://schemas.microsoft.com/office/drawing/2014/main" id="{E3A36B72-776B-4563-8DD8-957A927CF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62275"/>
            <a:ext cx="3238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7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7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GP ต่อออเดอร์</a:t>
            </a:r>
          </a:p>
        </p:txBody>
      </p:sp>
      <p:sp>
        <p:nvSpPr>
          <p:cNvPr id="10" name="text-150">
            <a:extLst xmlns:a="http://schemas.openxmlformats.org/drawingml/2006/main">
              <a:ext uri="{FF2B5EF4-FFF2-40B4-BE49-F238E27FC236}">
                <a16:creationId xmlns:a16="http://schemas.microsoft.com/office/drawing/2014/main" id="{219B5A64-6F14-4626-BD24-4C457E685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71850"/>
            <a:ext cx="323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1650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02 Network</a:t>
            </a:r>
          </a:p>
        </p:txBody>
      </p:sp>
      <p:sp>
        <p:nvSpPr>
          <p:cNvPr id="11" name="text-151">
            <a:extLst xmlns:a="http://schemas.openxmlformats.org/drawingml/2006/main">
              <a:ext uri="{FF2B5EF4-FFF2-40B4-BE49-F238E27FC236}">
                <a16:creationId xmlns:a16="http://schemas.microsoft.com/office/drawing/2014/main" id="{8A47477E-12F4-40DE-89E0-1847932AB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33800"/>
            <a:ext cx="3238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7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7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พันธมิตรร้านและมหาวิทยาลัย</a:t>
            </a:r>
          </a:p>
        </p:txBody>
      </p:sp>
      <p:sp>
        <p:nvSpPr>
          <p:cNvPr id="12" name="text-152">
            <a:extLst xmlns:a="http://schemas.openxmlformats.org/drawingml/2006/main">
              <a:ext uri="{FF2B5EF4-FFF2-40B4-BE49-F238E27FC236}">
                <a16:creationId xmlns:a16="http://schemas.microsoft.com/office/drawing/2014/main" id="{90B4FC8D-8F88-4A26-9F9A-B1738198C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43375"/>
            <a:ext cx="323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1650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03 Structure</a:t>
            </a:r>
          </a:p>
        </p:txBody>
      </p:sp>
      <p:sp>
        <p:nvSpPr>
          <p:cNvPr id="13" name="text-153">
            <a:extLst xmlns:a="http://schemas.openxmlformats.org/drawingml/2006/main">
              <a:ext uri="{FF2B5EF4-FFF2-40B4-BE49-F238E27FC236}">
                <a16:creationId xmlns:a16="http://schemas.microsoft.com/office/drawing/2014/main" id="{1DA40DE7-56A1-40BF-B852-50C0CFE01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05325"/>
            <a:ext cx="3238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7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7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ทีม 7 บทบาท</a:t>
            </a:r>
          </a:p>
        </p:txBody>
      </p:sp>
      <p:sp>
        <p:nvSpPr>
          <p:cNvPr id="14" name="text-154">
            <a:extLst xmlns:a="http://schemas.openxmlformats.org/drawingml/2006/main">
              <a:ext uri="{FF2B5EF4-FFF2-40B4-BE49-F238E27FC236}">
                <a16:creationId xmlns:a16="http://schemas.microsoft.com/office/drawing/2014/main" id="{21F58309-CBCD-43F8-91BB-91C00EA4A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14900"/>
            <a:ext cx="323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1650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04 Process</a:t>
            </a:r>
          </a:p>
        </p:txBody>
      </p:sp>
      <p:sp>
        <p:nvSpPr>
          <p:cNvPr id="15" name="text-155">
            <a:extLst xmlns:a="http://schemas.openxmlformats.org/drawingml/2006/main">
              <a:ext uri="{FF2B5EF4-FFF2-40B4-BE49-F238E27FC236}">
                <a16:creationId xmlns:a16="http://schemas.microsoft.com/office/drawing/2014/main" id="{82AFA4B2-41CE-41E0-A4E6-4ABF735CC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76850"/>
            <a:ext cx="3238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7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7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จัดคิวและปรุงเป็นชุด</a:t>
            </a:r>
          </a:p>
        </p:txBody>
      </p:sp>
      <p:sp>
        <p:nvSpPr>
          <p:cNvPr id="16" name="text-156">
            <a:extLst xmlns:a="http://schemas.openxmlformats.org/drawingml/2006/main">
              <a:ext uri="{FF2B5EF4-FFF2-40B4-BE49-F238E27FC236}">
                <a16:creationId xmlns:a16="http://schemas.microsoft.com/office/drawing/2014/main" id="{6182D0BD-E85E-4F38-A988-8515E8E78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9240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2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202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Offering</a:t>
            </a:r>
          </a:p>
        </p:txBody>
      </p:sp>
      <p:sp>
        <p:nvSpPr>
          <p:cNvPr id="17" name="rule-157">
            <a:extLst xmlns:a="http://schemas.openxmlformats.org/drawingml/2006/main">
              <a:ext uri="{FF2B5EF4-FFF2-40B4-BE49-F238E27FC236}">
                <a16:creationId xmlns:a16="http://schemas.microsoft.com/office/drawing/2014/main" id="{007CD550-6819-48C3-AC8A-8D4904E36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4003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CD5CB"/>
            </a:solidFill>
          </a:ln>
        </p:spPr>
      </p:sp>
      <p:sp>
        <p:nvSpPr>
          <p:cNvPr id="18" name="text-158">
            <a:extLst xmlns:a="http://schemas.openxmlformats.org/drawingml/2006/main">
              <a:ext uri="{FF2B5EF4-FFF2-40B4-BE49-F238E27FC236}">
                <a16:creationId xmlns:a16="http://schemas.microsoft.com/office/drawing/2014/main" id="{F7947455-06D9-42B7-9DD8-51B5F86AA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600325"/>
            <a:ext cx="323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1650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05 Product Performance</a:t>
            </a:r>
          </a:p>
        </p:txBody>
      </p:sp>
      <p:sp>
        <p:nvSpPr>
          <p:cNvPr id="19" name="text-159">
            <a:extLst xmlns:a="http://schemas.openxmlformats.org/drawingml/2006/main">
              <a:ext uri="{FF2B5EF4-FFF2-40B4-BE49-F238E27FC236}">
                <a16:creationId xmlns:a16="http://schemas.microsoft.com/office/drawing/2014/main" id="{201CF6F7-5F6D-42CB-B420-F5ED628EB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962275"/>
            <a:ext cx="3238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7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7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สั่งและติดตามสถานะ</a:t>
            </a:r>
          </a:p>
        </p:txBody>
      </p:sp>
      <p:sp>
        <p:nvSpPr>
          <p:cNvPr id="20" name="text-160">
            <a:extLst xmlns:a="http://schemas.openxmlformats.org/drawingml/2006/main">
              <a:ext uri="{FF2B5EF4-FFF2-40B4-BE49-F238E27FC236}">
                <a16:creationId xmlns:a16="http://schemas.microsoft.com/office/drawing/2014/main" id="{E8B81847-7611-40E4-A33F-C3C001C03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371850"/>
            <a:ext cx="323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1650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06 Product System</a:t>
            </a:r>
          </a:p>
        </p:txBody>
      </p:sp>
      <p:sp>
        <p:nvSpPr>
          <p:cNvPr id="21" name="text-161">
            <a:extLst xmlns:a="http://schemas.openxmlformats.org/drawingml/2006/main">
              <a:ext uri="{FF2B5EF4-FFF2-40B4-BE49-F238E27FC236}">
                <a16:creationId xmlns:a16="http://schemas.microsoft.com/office/drawing/2014/main" id="{5C67784A-6C78-4EF5-A8C3-33319550C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733800"/>
            <a:ext cx="3238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7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7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LINE เชื่อมจอ KDS</a:t>
            </a:r>
          </a:p>
        </p:txBody>
      </p:sp>
      <p:sp>
        <p:nvSpPr>
          <p:cNvPr id="22" name="text-162">
            <a:extLst xmlns:a="http://schemas.openxmlformats.org/drawingml/2006/main">
              <a:ext uri="{FF2B5EF4-FFF2-40B4-BE49-F238E27FC236}">
                <a16:creationId xmlns:a16="http://schemas.microsoft.com/office/drawing/2014/main" id="{C55B7933-E7E7-4C72-9967-ABF2D33BA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9240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2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202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Experience</a:t>
            </a:r>
          </a:p>
        </p:txBody>
      </p:sp>
      <p:sp>
        <p:nvSpPr>
          <p:cNvPr id="23" name="rule-163">
            <a:extLst xmlns:a="http://schemas.openxmlformats.org/drawingml/2006/main">
              <a:ext uri="{FF2B5EF4-FFF2-40B4-BE49-F238E27FC236}">
                <a16:creationId xmlns:a16="http://schemas.microsoft.com/office/drawing/2014/main" id="{7B2D77ED-ABE4-462B-9D9D-987C313C1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003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CD5CB"/>
            </a:solidFill>
          </a:ln>
        </p:spPr>
      </p:sp>
      <p:sp>
        <p:nvSpPr>
          <p:cNvPr id="24" name="text-164">
            <a:extLst xmlns:a="http://schemas.openxmlformats.org/drawingml/2006/main">
              <a:ext uri="{FF2B5EF4-FFF2-40B4-BE49-F238E27FC236}">
                <a16:creationId xmlns:a16="http://schemas.microsoft.com/office/drawing/2014/main" id="{4095D980-FF89-45DF-A0A8-8A9B6D178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00325"/>
            <a:ext cx="323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1650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07 Service</a:t>
            </a:r>
          </a:p>
        </p:txBody>
      </p:sp>
      <p:sp>
        <p:nvSpPr>
          <p:cNvPr id="25" name="text-165">
            <a:extLst xmlns:a="http://schemas.openxmlformats.org/drawingml/2006/main">
              <a:ext uri="{FF2B5EF4-FFF2-40B4-BE49-F238E27FC236}">
                <a16:creationId xmlns:a16="http://schemas.microsoft.com/office/drawing/2014/main" id="{DCABCEC0-5167-4915-BB85-4E1B8E1A9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962275"/>
            <a:ext cx="3238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7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7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แจ้งพร้อมรับอาหาร</a:t>
            </a:r>
          </a:p>
        </p:txBody>
      </p:sp>
      <p:sp>
        <p:nvSpPr>
          <p:cNvPr id="26" name="text-166">
            <a:extLst xmlns:a="http://schemas.openxmlformats.org/drawingml/2006/main">
              <a:ext uri="{FF2B5EF4-FFF2-40B4-BE49-F238E27FC236}">
                <a16:creationId xmlns:a16="http://schemas.microsoft.com/office/drawing/2014/main" id="{27267957-6F88-4973-B341-0C8EF44CC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371850"/>
            <a:ext cx="323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1650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08 Channel</a:t>
            </a:r>
          </a:p>
        </p:txBody>
      </p:sp>
      <p:sp>
        <p:nvSpPr>
          <p:cNvPr id="27" name="text-167">
            <a:extLst xmlns:a="http://schemas.openxmlformats.org/drawingml/2006/main">
              <a:ext uri="{FF2B5EF4-FFF2-40B4-BE49-F238E27FC236}">
                <a16:creationId xmlns:a16="http://schemas.microsoft.com/office/drawing/2014/main" id="{1FD709AD-8D15-4FE5-89D7-0671DE6EC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733800"/>
            <a:ext cx="3238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7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7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เข้าถึงผ่าน LINE</a:t>
            </a:r>
          </a:p>
        </p:txBody>
      </p:sp>
      <p:sp>
        <p:nvSpPr>
          <p:cNvPr id="28" name="text-168">
            <a:extLst xmlns:a="http://schemas.openxmlformats.org/drawingml/2006/main">
              <a:ext uri="{FF2B5EF4-FFF2-40B4-BE49-F238E27FC236}">
                <a16:creationId xmlns:a16="http://schemas.microsoft.com/office/drawing/2014/main" id="{B12B01E2-4261-4D67-904B-8F642C1B0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143375"/>
            <a:ext cx="323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1650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09 Brand</a:t>
            </a:r>
          </a:p>
        </p:txBody>
      </p:sp>
      <p:sp>
        <p:nvSpPr>
          <p:cNvPr id="29" name="text-169">
            <a:extLst xmlns:a="http://schemas.openxmlformats.org/drawingml/2006/main">
              <a:ext uri="{FF2B5EF4-FFF2-40B4-BE49-F238E27FC236}">
                <a16:creationId xmlns:a16="http://schemas.microsoft.com/office/drawing/2014/main" id="{E59D1870-E0AD-4F80-8EFB-12EFD501B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505325"/>
            <a:ext cx="3238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7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7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บริการมื้อเที่ยงในวิทยาเขต</a:t>
            </a:r>
          </a:p>
        </p:txBody>
      </p:sp>
      <p:sp>
        <p:nvSpPr>
          <p:cNvPr id="30" name="text-170">
            <a:extLst xmlns:a="http://schemas.openxmlformats.org/drawingml/2006/main">
              <a:ext uri="{FF2B5EF4-FFF2-40B4-BE49-F238E27FC236}">
                <a16:creationId xmlns:a16="http://schemas.microsoft.com/office/drawing/2014/main" id="{31CA9BA1-89B3-484F-A921-BBEF32094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914900"/>
            <a:ext cx="3238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1650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10 Customer Engagement</a:t>
            </a:r>
          </a:p>
        </p:txBody>
      </p:sp>
      <p:sp>
        <p:nvSpPr>
          <p:cNvPr id="31" name="text-171">
            <a:extLst xmlns:a="http://schemas.openxmlformats.org/drawingml/2006/main">
              <a:ext uri="{FF2B5EF4-FFF2-40B4-BE49-F238E27FC236}">
                <a16:creationId xmlns:a16="http://schemas.microsoft.com/office/drawing/2014/main" id="{E3158BD8-B80F-4EC7-A3E0-2BA09ACB0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76850"/>
            <a:ext cx="3238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7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7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รับรีวิว / แต้มในอนาคต</a:t>
            </a:r>
          </a:p>
        </p:txBody>
      </p:sp>
      <p:sp>
        <p:nvSpPr>
          <p:cNvPr id="32" name="text-172">
            <a:extLst xmlns:a="http://schemas.openxmlformats.org/drawingml/2006/main">
              <a:ext uri="{FF2B5EF4-FFF2-40B4-BE49-F238E27FC236}">
                <a16:creationId xmlns:a16="http://schemas.microsoft.com/office/drawing/2014/main" id="{65936B8C-0220-46BD-AFCA-9027B4D3E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34075"/>
            <a:ext cx="108966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3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จุดเน้นของโครงการ: Process, Product System, Service และ Channel</a:t>
            </a:r>
          </a:p>
        </p:txBody>
      </p:sp>
    </p:spTree>
    <p:extLst>
      <p:ext uri="{BB962C8B-B14F-4D97-AF65-F5344CB8AC3E}">
        <p14:creationId xmlns:p14="http://schemas.microsoft.com/office/powerpoint/2010/main" val="123492689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173">
            <a:extLst xmlns:a="http://schemas.openxmlformats.org/drawingml/2006/main">
              <a:ext uri="{FF2B5EF4-FFF2-40B4-BE49-F238E27FC236}">
                <a16:creationId xmlns:a16="http://schemas.microsoft.com/office/drawing/2014/main" id="{73F93D8E-CEFD-4C96-9A41-1E32FC5CD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ทรัพย์สินทางปัญญาและข้อมูล</a:t>
            </a:r>
          </a:p>
        </p:txBody>
      </p:sp>
      <p:sp>
        <p:nvSpPr>
          <p:cNvPr id="2" name="text-174">
            <a:extLst xmlns:a="http://schemas.openxmlformats.org/drawingml/2006/main">
              <a:ext uri="{FF2B5EF4-FFF2-40B4-BE49-F238E27FC236}">
                <a16:creationId xmlns:a16="http://schemas.microsoft.com/office/drawing/2014/main" id="{5DC0C04A-2DC4-4242-B1D2-8C9AD64ED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62000"/>
            <a:ext cx="108966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322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322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เตรียมสิทธิซอฟต์แวร์และการดูแลข้อมูล</a:t>
            </a:r>
          </a:p>
        </p:txBody>
      </p:sp>
      <p:sp>
        <p:nvSpPr>
          <p:cNvPr id="3" name="rule-175">
            <a:extLst xmlns:a="http://schemas.openxmlformats.org/drawingml/2006/main">
              <a:ext uri="{FF2B5EF4-FFF2-40B4-BE49-F238E27FC236}">
                <a16:creationId xmlns:a16="http://schemas.microsoft.com/office/drawing/2014/main" id="{F22E5656-266D-42BD-8CE0-4EE13F655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CD5CB"/>
            </a:solidFill>
          </a:ln>
        </p:spPr>
      </p:sp>
      <p:sp>
        <p:nvSpPr>
          <p:cNvPr id="4" name="text-176">
            <a:extLst xmlns:a="http://schemas.openxmlformats.org/drawingml/2006/main">
              <a:ext uri="{FF2B5EF4-FFF2-40B4-BE49-F238E27FC236}">
                <a16:creationId xmlns:a16="http://schemas.microsoft.com/office/drawing/2014/main" id="{CFEE9BE1-4ACB-44CD-8AFF-3640505B3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8652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050" b="1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050" b="1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SMART QUEUE FOOD</a:t>
            </a:r>
          </a:p>
        </p:txBody>
      </p:sp>
      <p:sp>
        <p:nvSpPr>
          <p:cNvPr id="5" name="text-177">
            <a:extLst xmlns:a="http://schemas.openxmlformats.org/drawingml/2006/main">
              <a:ext uri="{FF2B5EF4-FFF2-40B4-BE49-F238E27FC236}">
                <a16:creationId xmlns:a16="http://schemas.microsoft.com/office/drawing/2014/main" id="{39E1CE8E-E945-4644-8B85-8B95B16F1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67475"/>
            <a:ext cx="1066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7620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20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20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11 / 15</a:t>
            </a:r>
          </a:p>
        </p:txBody>
      </p:sp>
      <p:sp>
        <p:nvSpPr>
          <p:cNvPr id="6" name="text-178">
            <a:extLst xmlns:a="http://schemas.openxmlformats.org/drawingml/2006/main">
              <a:ext uri="{FF2B5EF4-FFF2-40B4-BE49-F238E27FC236}">
                <a16:creationId xmlns:a16="http://schemas.microsoft.com/office/drawing/2014/main" id="{C3030C31-91DD-4BD6-82D9-EE00063A6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24050"/>
            <a:ext cx="34861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2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232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ลิขสิทธิ์ซอฟต์แวร์</a:t>
            </a:r>
          </a:p>
        </p:txBody>
      </p:sp>
      <p:sp>
        <p:nvSpPr>
          <p:cNvPr id="7" name="text-179">
            <a:extLst xmlns:a="http://schemas.openxmlformats.org/drawingml/2006/main">
              <a:ext uri="{FF2B5EF4-FFF2-40B4-BE49-F238E27FC236}">
                <a16:creationId xmlns:a16="http://schemas.microsoft.com/office/drawing/2014/main" id="{60167411-F319-49FB-B282-7A5599E9D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962150"/>
            <a:ext cx="7105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2100" b="0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บันทึกผู้สร้างสรรค์ และข้อตกลงใช้สิทธิ</a:t>
            </a:r>
          </a:p>
        </p:txBody>
      </p:sp>
      <p:sp>
        <p:nvSpPr>
          <p:cNvPr id="8" name="rule-180">
            <a:extLst xmlns:a="http://schemas.openxmlformats.org/drawingml/2006/main">
              <a:ext uri="{FF2B5EF4-FFF2-40B4-BE49-F238E27FC236}">
                <a16:creationId xmlns:a16="http://schemas.microsoft.com/office/drawing/2014/main" id="{27D61749-C6B4-4B3D-89E3-A5DB40C04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2415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CD5CB"/>
            </a:solidFill>
          </a:ln>
        </p:spPr>
      </p:sp>
      <p:sp>
        <p:nvSpPr>
          <p:cNvPr id="9" name="text-181">
            <a:extLst xmlns:a="http://schemas.openxmlformats.org/drawingml/2006/main">
              <a:ext uri="{FF2B5EF4-FFF2-40B4-BE49-F238E27FC236}">
                <a16:creationId xmlns:a16="http://schemas.microsoft.com/office/drawing/2014/main" id="{AACEB104-B6AE-4C87-B4C7-DBA5E1B8F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34861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2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232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ชื่อและโลโก้</a:t>
            </a:r>
          </a:p>
        </p:txBody>
      </p:sp>
      <p:sp>
        <p:nvSpPr>
          <p:cNvPr id="10" name="text-182">
            <a:extLst xmlns:a="http://schemas.openxmlformats.org/drawingml/2006/main">
              <a:ext uri="{FF2B5EF4-FFF2-40B4-BE49-F238E27FC236}">
                <a16:creationId xmlns:a16="http://schemas.microsoft.com/office/drawing/2014/main" id="{6404FCFC-A53B-4142-A3C4-AC02FB20C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914650"/>
            <a:ext cx="7105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2100" b="0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ตรวจชื่อซ้ำก่อนยื่นเครื่องหมายการค้า</a:t>
            </a:r>
          </a:p>
        </p:txBody>
      </p:sp>
      <p:sp>
        <p:nvSpPr>
          <p:cNvPr id="11" name="rule-183">
            <a:extLst xmlns:a="http://schemas.openxmlformats.org/drawingml/2006/main">
              <a:ext uri="{FF2B5EF4-FFF2-40B4-BE49-F238E27FC236}">
                <a16:creationId xmlns:a16="http://schemas.microsoft.com/office/drawing/2014/main" id="{0C7EC394-474D-4575-A40D-1DCB0BEAA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7665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CD5CB"/>
            </a:solidFill>
          </a:ln>
        </p:spPr>
      </p:sp>
      <p:sp>
        <p:nvSpPr>
          <p:cNvPr id="12" name="text-184">
            <a:extLst xmlns:a="http://schemas.openxmlformats.org/drawingml/2006/main">
              <a:ext uri="{FF2B5EF4-FFF2-40B4-BE49-F238E27FC236}">
                <a16:creationId xmlns:a16="http://schemas.microsoft.com/office/drawing/2014/main" id="{B4A4CC9F-AB63-431D-8B7E-D6C3791C6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29050"/>
            <a:ext cx="34861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2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232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ความลับทางการค้า</a:t>
            </a:r>
          </a:p>
        </p:txBody>
      </p:sp>
      <p:sp>
        <p:nvSpPr>
          <p:cNvPr id="13" name="text-185">
            <a:extLst xmlns:a="http://schemas.openxmlformats.org/drawingml/2006/main">
              <a:ext uri="{FF2B5EF4-FFF2-40B4-BE49-F238E27FC236}">
                <a16:creationId xmlns:a16="http://schemas.microsoft.com/office/drawing/2014/main" id="{5A9528AB-FA0F-4E10-BB88-81A5FC4B7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867150"/>
            <a:ext cx="7105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2100" b="0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จำกัดสิทธิการเข้าถึง และทำข้อตกลง NDA</a:t>
            </a:r>
          </a:p>
        </p:txBody>
      </p:sp>
      <p:sp>
        <p:nvSpPr>
          <p:cNvPr id="14" name="rule-186">
            <a:extLst xmlns:a="http://schemas.openxmlformats.org/drawingml/2006/main">
              <a:ext uri="{FF2B5EF4-FFF2-40B4-BE49-F238E27FC236}">
                <a16:creationId xmlns:a16="http://schemas.microsoft.com/office/drawing/2014/main" id="{FE395874-F527-4D2B-B6C1-7987AACF5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CD5CB"/>
            </a:solidFill>
          </a:ln>
        </p:spPr>
      </p:sp>
      <p:sp>
        <p:nvSpPr>
          <p:cNvPr id="15" name="text-187">
            <a:extLst xmlns:a="http://schemas.openxmlformats.org/drawingml/2006/main">
              <a:ext uri="{FF2B5EF4-FFF2-40B4-BE49-F238E27FC236}">
                <a16:creationId xmlns:a16="http://schemas.microsoft.com/office/drawing/2014/main" id="{D88192F2-E34C-4893-9DEA-A342B0215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81550"/>
            <a:ext cx="34861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2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232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ข้อมูลส่วนบุคคล</a:t>
            </a:r>
          </a:p>
        </p:txBody>
      </p:sp>
      <p:sp>
        <p:nvSpPr>
          <p:cNvPr id="16" name="text-188">
            <a:extLst xmlns:a="http://schemas.openxmlformats.org/drawingml/2006/main">
              <a:ext uri="{FF2B5EF4-FFF2-40B4-BE49-F238E27FC236}">
                <a16:creationId xmlns:a16="http://schemas.microsoft.com/office/drawing/2014/main" id="{50B552F5-032E-4D83-9209-743DEB689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819650"/>
            <a:ext cx="7105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2100" b="0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เก็บเท่าที่จำเป็น แจ้งวัตถุประสงค์ และกำหนดอายุข้อมูล</a:t>
            </a:r>
          </a:p>
        </p:txBody>
      </p:sp>
      <p:sp>
        <p:nvSpPr>
          <p:cNvPr id="17" name="text-189">
            <a:extLst xmlns:a="http://schemas.openxmlformats.org/drawingml/2006/main">
              <a:ext uri="{FF2B5EF4-FFF2-40B4-BE49-F238E27FC236}">
                <a16:creationId xmlns:a16="http://schemas.microsoft.com/office/drawing/2014/main" id="{0DFF8237-0F80-4260-A511-6EA51E9DC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34075"/>
            <a:ext cx="108966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3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สิทธิบัตร / อนุสิทธิบัตร: ต้องประเมินคุณสมบัติของการประดิษฐ์ก่อน ไม่อ้างว่าอัลกอริทึมได้รับสิทธิแล้ว</a:t>
            </a:r>
          </a:p>
        </p:txBody>
      </p:sp>
    </p:spTree>
    <p:extLst>
      <p:ext uri="{BB962C8B-B14F-4D97-AF65-F5344CB8AC3E}">
        <p14:creationId xmlns:p14="http://schemas.microsoft.com/office/powerpoint/2010/main" val="130853761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190">
            <a:extLst xmlns:a="http://schemas.openxmlformats.org/drawingml/2006/main">
              <a:ext uri="{FF2B5EF4-FFF2-40B4-BE49-F238E27FC236}">
                <a16:creationId xmlns:a16="http://schemas.microsoft.com/office/drawing/2014/main" id="{0209499C-16EA-4562-AAD3-C3E5D36D3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ความเสี่ยงและมาตรการรับมือ</a:t>
            </a:r>
          </a:p>
        </p:txBody>
      </p:sp>
      <p:sp>
        <p:nvSpPr>
          <p:cNvPr id="2" name="text-191">
            <a:extLst xmlns:a="http://schemas.openxmlformats.org/drawingml/2006/main">
              <a:ext uri="{FF2B5EF4-FFF2-40B4-BE49-F238E27FC236}">
                <a16:creationId xmlns:a16="http://schemas.microsoft.com/office/drawing/2014/main" id="{91B6F029-7A71-47F9-8F19-D4850E6A0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62000"/>
            <a:ext cx="108966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322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322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เตรียมทางเลือกเมื่อระบบหรือครัวติดขัด</a:t>
            </a:r>
          </a:p>
        </p:txBody>
      </p:sp>
      <p:sp>
        <p:nvSpPr>
          <p:cNvPr id="3" name="rule-192">
            <a:extLst xmlns:a="http://schemas.openxmlformats.org/drawingml/2006/main">
              <a:ext uri="{FF2B5EF4-FFF2-40B4-BE49-F238E27FC236}">
                <a16:creationId xmlns:a16="http://schemas.microsoft.com/office/drawing/2014/main" id="{966D7159-DEAA-4C4D-AAD1-5D83FF177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CD5CB"/>
            </a:solidFill>
          </a:ln>
        </p:spPr>
      </p:sp>
      <p:sp>
        <p:nvSpPr>
          <p:cNvPr id="4" name="text-193">
            <a:extLst xmlns:a="http://schemas.openxmlformats.org/drawingml/2006/main">
              <a:ext uri="{FF2B5EF4-FFF2-40B4-BE49-F238E27FC236}">
                <a16:creationId xmlns:a16="http://schemas.microsoft.com/office/drawing/2014/main" id="{CF24FAB1-27EB-4351-974B-7BF916EDA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8652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050" b="1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050" b="1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SMART QUEUE FOOD</a:t>
            </a:r>
          </a:p>
        </p:txBody>
      </p:sp>
      <p:sp>
        <p:nvSpPr>
          <p:cNvPr id="5" name="text-194">
            <a:extLst xmlns:a="http://schemas.openxmlformats.org/drawingml/2006/main">
              <a:ext uri="{FF2B5EF4-FFF2-40B4-BE49-F238E27FC236}">
                <a16:creationId xmlns:a16="http://schemas.microsoft.com/office/drawing/2014/main" id="{0A75ACF5-2594-41CC-8BED-B78A6410E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67475"/>
            <a:ext cx="1066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7620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20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20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12 / 15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47700" y="2009775"/>
          <a:ext xmlns:a="http://schemas.openxmlformats.org/drawingml/2006/main" cx="10896600" cy="3581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5810250"/>
                <a:gridCol w="1943100"/>
              </a:tblGrid>
              <a:tr h="716280"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ความเสี่ยง</a:t>
                      </a:r>
                    </a:p>
                  </a:txBody>
                  <a:tcPr marL="91440" marR="91440" marT="45720" marB="45720" anchor="ctr">
                    <a:solidFill>
                      <a:srgbClr val="173F35"/>
                    </a:solidFill>
                  </a:tcPr>
                </a:tc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มาตรการก่อนเปิดนำร่อง</a:t>
                      </a:r>
                    </a:p>
                  </a:txBody>
                  <a:tcPr marL="91440" marR="91440" marT="45720" marB="45720" anchor="ctr">
                    <a:solidFill>
                      <a:srgbClr val="173F35"/>
                    </a:solidFill>
                  </a:tcPr>
                </a:tc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ผู้ดูแล</a:t>
                      </a:r>
                    </a:p>
                  </a:txBody>
                  <a:tcPr marL="91440" marR="91440" marT="45720" marB="45720" anchor="ctr">
                    <a:solidFill>
                      <a:srgbClr val="173F35"/>
                    </a:solidFill>
                  </a:tcPr>
                </a:tc>
              </a:tr>
              <a:tr h="716280"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อินเทอร์เน็ตขัดข้อง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เครือข่ายสำรอง และแผนรับคิวด้วยมือ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CTO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ร้านใช้ระบบไม่คล่อง</a:t>
                      </a:r>
                    </a:p>
                  </a:txBody>
                  <a:tcPr marL="91440" marR="91440" marT="45720" marB="45720" anchor="ctr">
                    <a:solidFill>
                      <a:srgbClr val="E9EFE4"/>
                    </a:solidFill>
                  </a:tcPr>
                </a:tc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ฝึกแบบตัวต่อตัว และทดลองช่วงคิวน้อย</a:t>
                      </a:r>
                    </a:p>
                  </a:txBody>
                  <a:tcPr marL="91440" marR="91440" marT="45720" marB="45720" anchor="ctr">
                    <a:solidFill>
                      <a:srgbClr val="E9EFE4"/>
                    </a:solidFill>
                  </a:tcPr>
                </a:tc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COO / CPO</a:t>
                      </a:r>
                    </a:p>
                  </a:txBody>
                  <a:tcPr marL="91440" marR="91440" marT="45720" marB="45720" anchor="ctr">
                    <a:solidFill>
                      <a:srgbClr val="E9EFE4"/>
                    </a:solidFill>
                  </a:tcPr>
                </a:tc>
              </a:tr>
              <a:tr h="716280"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ชำระเงินหรือคืนเงินผิด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ตรวจธุรกรรมซ้ำ และมีขั้นตอนทบทวน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CFO / QA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ออเดอร์เกินกำลังครัว</a:t>
                      </a:r>
                    </a:p>
                  </a:txBody>
                  <a:tcPr marL="91440" marR="91440" marT="45720" marB="45720" anchor="ctr">
                    <a:solidFill>
                      <a:srgbClr val="E9EFE4"/>
                    </a:solidFill>
                  </a:tcPr>
                </a:tc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จำกัดสล็อต และพักรับออเดอร์เมื่อเต็ม</a:t>
                      </a:r>
                    </a:p>
                  </a:txBody>
                  <a:tcPr marL="91440" marR="91440" marT="45720" marB="45720" anchor="ctr">
                    <a:solidFill>
                      <a:srgbClr val="E9EFE4"/>
                    </a:solidFill>
                  </a:tcPr>
                </a:tc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COO / CTO</a:t>
                      </a:r>
                    </a:p>
                  </a:txBody>
                  <a:tcPr marL="91440" marR="91440" marT="45720" marB="45720" anchor="ctr">
                    <a:solidFill>
                      <a:srgbClr val="E9EFE4"/>
                    </a:solidFill>
                  </a:tcPr>
                </a:tc>
              </a:tr>
            </a:tbl>
          </a:graphicData>
        </a:graphic>
      </p:graphicFrame>
      <p:sp>
        <p:nvSpPr>
          <p:cNvPr id="7" name="text-195">
            <a:extLst xmlns:a="http://schemas.openxmlformats.org/drawingml/2006/main">
              <a:ext uri="{FF2B5EF4-FFF2-40B4-BE49-F238E27FC236}">
                <a16:creationId xmlns:a16="http://schemas.microsoft.com/office/drawing/2014/main" id="{18B265CE-ED91-4404-A4DC-5C9E8D0DB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34075"/>
            <a:ext cx="108966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3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ติดตามเพิ่ม: ยอดสั่งช่วงปิดเทอม โปรโมชั่นคู่แข่ง สุขอนามัย และเหตุข้อมูลส่วนบุคคล</a:t>
            </a:r>
          </a:p>
        </p:txBody>
      </p:sp>
    </p:spTree>
    <p:extLst>
      <p:ext uri="{BB962C8B-B14F-4D97-AF65-F5344CB8AC3E}">
        <p14:creationId xmlns:p14="http://schemas.microsoft.com/office/powerpoint/2010/main" val="83477489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196">
            <a:extLst xmlns:a="http://schemas.openxmlformats.org/drawingml/2006/main">
              <a:ext uri="{FF2B5EF4-FFF2-40B4-BE49-F238E27FC236}">
                <a16:creationId xmlns:a16="http://schemas.microsoft.com/office/drawing/2014/main" id="{47111D09-EB02-486D-BE82-769B60D70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ประมาณการทางการเงิน</a:t>
            </a:r>
          </a:p>
        </p:txBody>
      </p:sp>
      <p:sp>
        <p:nvSpPr>
          <p:cNvPr id="2" name="text-197">
            <a:extLst xmlns:a="http://schemas.openxmlformats.org/drawingml/2006/main">
              <a:ext uri="{FF2B5EF4-FFF2-40B4-BE49-F238E27FC236}">
                <a16:creationId xmlns:a16="http://schemas.microsoft.com/office/drawing/2014/main" id="{216597DA-40DF-4FC2-B25E-D28DDCAE4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62000"/>
            <a:ext cx="108966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322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322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กรณีฐานคืนทุนประมาณ 3.8 เดือน</a:t>
            </a:r>
          </a:p>
        </p:txBody>
      </p:sp>
      <p:sp>
        <p:nvSpPr>
          <p:cNvPr id="3" name="rule-198">
            <a:extLst xmlns:a="http://schemas.openxmlformats.org/drawingml/2006/main">
              <a:ext uri="{FF2B5EF4-FFF2-40B4-BE49-F238E27FC236}">
                <a16:creationId xmlns:a16="http://schemas.microsoft.com/office/drawing/2014/main" id="{E6634CEC-60AD-475E-9A23-14BB5090B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CD5CB"/>
            </a:solidFill>
          </a:ln>
        </p:spPr>
      </p:sp>
      <p:sp>
        <p:nvSpPr>
          <p:cNvPr id="4" name="text-199">
            <a:extLst xmlns:a="http://schemas.openxmlformats.org/drawingml/2006/main">
              <a:ext uri="{FF2B5EF4-FFF2-40B4-BE49-F238E27FC236}">
                <a16:creationId xmlns:a16="http://schemas.microsoft.com/office/drawing/2014/main" id="{FFD17411-CA89-4F8D-A8A6-2086BE039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8652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050" b="1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050" b="1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SMART QUEUE FOOD</a:t>
            </a:r>
          </a:p>
        </p:txBody>
      </p:sp>
      <p:sp>
        <p:nvSpPr>
          <p:cNvPr id="5" name="text-200">
            <a:extLst xmlns:a="http://schemas.openxmlformats.org/drawingml/2006/main">
              <a:ext uri="{FF2B5EF4-FFF2-40B4-BE49-F238E27FC236}">
                <a16:creationId xmlns:a16="http://schemas.microsoft.com/office/drawing/2014/main" id="{586B97AF-76C2-41B1-AAEA-8D7F91598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67475"/>
            <a:ext cx="1066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7620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20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20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13 / 15</a:t>
            </a:r>
          </a:p>
        </p:txBody>
      </p:sp>
      <p:sp>
        <p:nvSpPr>
          <p:cNvPr id="6" name="text-201">
            <a:extLst xmlns:a="http://schemas.openxmlformats.org/drawingml/2006/main">
              <a:ext uri="{FF2B5EF4-FFF2-40B4-BE49-F238E27FC236}">
                <a16:creationId xmlns:a16="http://schemas.microsoft.com/office/drawing/2014/main" id="{E8C37007-14FB-4EF1-ADC8-41D467911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352425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4950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4950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28,500</a:t>
            </a:r>
          </a:p>
        </p:txBody>
      </p:sp>
      <p:sp>
        <p:nvSpPr>
          <p:cNvPr id="7" name="text-202">
            <a:extLst xmlns:a="http://schemas.openxmlformats.org/drawingml/2006/main">
              <a:ext uri="{FF2B5EF4-FFF2-40B4-BE49-F238E27FC236}">
                <a16:creationId xmlns:a16="http://schemas.microsoft.com/office/drawing/2014/main" id="{3013D692-55AB-48B2-8460-FCFEF7164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24150"/>
            <a:ext cx="352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7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7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บาท ลงทุนเริ่มต้น</a:t>
            </a:r>
          </a:p>
        </p:txBody>
      </p:sp>
      <p:sp>
        <p:nvSpPr>
          <p:cNvPr id="8" name="text-203">
            <a:extLst xmlns:a="http://schemas.openxmlformats.org/drawingml/2006/main">
              <a:ext uri="{FF2B5EF4-FFF2-40B4-BE49-F238E27FC236}">
                <a16:creationId xmlns:a16="http://schemas.microsoft.com/office/drawing/2014/main" id="{32E7215A-7213-467C-8CD5-4039A88B4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09750"/>
            <a:ext cx="352425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4950" b="1">
                <a:solidFill>
                  <a:srgbClr val="C66A36"/>
                </a:solidFill>
                <a:latin typeface="Leelawadee UI"/>
                <a:ea typeface="Leelawadee UI"/>
                <a:cs typeface="Leelawadee UI"/>
              </a:defRPr>
            </a:pPr>
            <a:r>
              <a:rPr sz="4950" b="1">
                <a:solidFill>
                  <a:srgbClr val="C66A36"/>
                </a:solidFill>
                <a:latin typeface="Leelawadee UI"/>
                <a:ea typeface="Leelawadee UI"/>
                <a:cs typeface="Leelawadee UI"/>
              </a:rPr>
              <a:t>7,600</a:t>
            </a:r>
          </a:p>
        </p:txBody>
      </p:sp>
      <p:sp>
        <p:nvSpPr>
          <p:cNvPr id="9" name="text-204">
            <a:extLst xmlns:a="http://schemas.openxmlformats.org/drawingml/2006/main">
              <a:ext uri="{FF2B5EF4-FFF2-40B4-BE49-F238E27FC236}">
                <a16:creationId xmlns:a16="http://schemas.microsoft.com/office/drawing/2014/main" id="{1CA3F971-4BCF-4B96-A2A9-C2595A9CD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724150"/>
            <a:ext cx="352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7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7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บาท ส่วนต่างต่อเดือน</a:t>
            </a:r>
          </a:p>
        </p:txBody>
      </p:sp>
      <p:sp>
        <p:nvSpPr>
          <p:cNvPr id="10" name="text-205">
            <a:extLst xmlns:a="http://schemas.openxmlformats.org/drawingml/2006/main">
              <a:ext uri="{FF2B5EF4-FFF2-40B4-BE49-F238E27FC236}">
                <a16:creationId xmlns:a16="http://schemas.microsoft.com/office/drawing/2014/main" id="{4E63330B-374D-4CD1-98A9-0B6B14758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09750"/>
            <a:ext cx="352425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4950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4950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119</a:t>
            </a:r>
          </a:p>
        </p:txBody>
      </p:sp>
      <p:sp>
        <p:nvSpPr>
          <p:cNvPr id="11" name="text-206">
            <a:extLst xmlns:a="http://schemas.openxmlformats.org/drawingml/2006/main">
              <a:ext uri="{FF2B5EF4-FFF2-40B4-BE49-F238E27FC236}">
                <a16:creationId xmlns:a16="http://schemas.microsoft.com/office/drawing/2014/main" id="{6EF42B5F-533E-44EA-9D4B-122D46C5E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724150"/>
            <a:ext cx="352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7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72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ออเดอร์/วัน คุ้มค่าใช้จ่ายระบบ</a:t>
            </a:r>
          </a:p>
        </p:txBody>
      </p:sp>
      <p:sp>
        <p:nvSpPr>
          <p:cNvPr id="12" name="text-207">
            <a:extLst xmlns:a="http://schemas.openxmlformats.org/drawingml/2006/main">
              <a:ext uri="{FF2B5EF4-FFF2-40B4-BE49-F238E27FC236}">
                <a16:creationId xmlns:a16="http://schemas.microsoft.com/office/drawing/2014/main" id="{30933E1D-187D-45F2-850D-6E23FA31A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81375"/>
            <a:ext cx="10896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950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1950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สมมติฐาน: 400 ออเดอร์/วัน × 45 บาท × GP 3% × 20 วัน/เดือน</a:t>
            </a:r>
          </a:p>
        </p:txBody>
      </p:sp>
      <p:graphicFrame>
        <p:nvGraphicFramePr>
          <p:cNvPr id="30" name=""/>
          <p:cNvGraphicFramePr/>
          <p:nvPr/>
        </p:nvGraphicFramePr>
        <p:xfrm>
          <a:off xmlns:a="http://schemas.openxmlformats.org/drawingml/2006/main" x="647700" y="3952875"/>
          <a:ext xmlns:a="http://schemas.openxmlformats.org/drawingml/2006/main" cx="7210425" cy="1828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2476500"/>
                <a:gridCol w="2447925"/>
              </a:tblGrid>
              <a:tr h="457200"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l"/>
                      <a:r>
                        <a:rPr sz="165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ออเดอร์/วัน</a:t>
                      </a:r>
                    </a:p>
                  </a:txBody>
                  <a:tcPr marL="91440" marR="91440" marT="45720" marB="45720" anchor="ctr">
                    <a:solidFill>
                      <a:srgbClr val="173F35"/>
                    </a:solidFill>
                  </a:tcPr>
                </a:tc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รายได้ GP / เดือน</a:t>
                      </a:r>
                    </a:p>
                  </a:txBody>
                  <a:tcPr marL="91440" marR="91440" marT="45720" marB="45720" anchor="ctr">
                    <a:solidFill>
                      <a:srgbClr val="173F35"/>
                    </a:solidFill>
                  </a:tcPr>
                </a:tc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ส่วนต่างหลัง OPEX</a:t>
                      </a:r>
                    </a:p>
                  </a:txBody>
                  <a:tcPr marL="91440" marR="91440" marT="45720" marB="45720" anchor="ctr">
                    <a:solidFill>
                      <a:srgbClr val="173F35"/>
                    </a:solidFill>
                  </a:tcPr>
                </a:tc>
              </a:tr>
              <a:tr h="457200"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5,400 บาท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2,200 บาท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400 (กรณีฐาน)</a:t>
                      </a:r>
                    </a:p>
                  </a:txBody>
                  <a:tcPr marL="91440" marR="91440" marT="45720" marB="45720" anchor="ctr">
                    <a:solidFill>
                      <a:srgbClr val="E9EFE4"/>
                    </a:solidFill>
                  </a:tcPr>
                </a:tc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10,800 บาท</a:t>
                      </a:r>
                    </a:p>
                  </a:txBody>
                  <a:tcPr marL="91440" marR="91440" marT="45720" marB="45720" anchor="ctr">
                    <a:solidFill>
                      <a:srgbClr val="E9EFE4"/>
                    </a:solidFill>
                  </a:tcPr>
                </a:tc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7,600 บาท</a:t>
                      </a:r>
                    </a:p>
                  </a:txBody>
                  <a:tcPr marL="91440" marR="91440" marT="45720" marB="45720" anchor="ctr">
                    <a:solidFill>
                      <a:srgbClr val="E9EFE4"/>
                    </a:solidFill>
                  </a:tcPr>
                </a:tc>
              </a:tr>
              <a:tr h="457200"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600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16,200 บาท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95250" rIns="133350" bIns="95250">
                      <a:no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8322B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13,000 บาท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-208">
            <a:extLst xmlns:a="http://schemas.openxmlformats.org/drawingml/2006/main">
              <a:ext uri="{FF2B5EF4-FFF2-40B4-BE49-F238E27FC236}">
                <a16:creationId xmlns:a16="http://schemas.microsoft.com/office/drawing/2014/main" id="{14CE2C00-553F-4F21-897A-E822DE557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876675"/>
            <a:ext cx="31051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577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577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3.8</a:t>
            </a:r>
          </a:p>
        </p:txBody>
      </p:sp>
      <p:sp>
        <p:nvSpPr>
          <p:cNvPr id="15" name="text-209">
            <a:extLst xmlns:a="http://schemas.openxmlformats.org/drawingml/2006/main">
              <a:ext uri="{FF2B5EF4-FFF2-40B4-BE49-F238E27FC236}">
                <a16:creationId xmlns:a16="http://schemas.microsoft.com/office/drawing/2014/main" id="{421570EB-EFBC-4BC4-811F-72D0C0A7C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933950"/>
            <a:ext cx="31051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800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1800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เดือนคืนทุนโดยประมาณ</a:t>
            </a:r>
          </a:p>
        </p:txBody>
      </p:sp>
      <p:sp>
        <p:nvSpPr>
          <p:cNvPr id="16" name="text-210">
            <a:extLst xmlns:a="http://schemas.openxmlformats.org/drawingml/2006/main">
              <a:ext uri="{FF2B5EF4-FFF2-40B4-BE49-F238E27FC236}">
                <a16:creationId xmlns:a16="http://schemas.microsoft.com/office/drawing/2014/main" id="{FEB4785D-E88D-4EAB-AC09-95BFF2CE9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381625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50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28,500 ÷ 7,600 = 3.75</a:t>
            </a:r>
          </a:p>
        </p:txBody>
      </p:sp>
      <p:sp>
        <p:nvSpPr>
          <p:cNvPr id="17" name="text-211">
            <a:extLst xmlns:a="http://schemas.openxmlformats.org/drawingml/2006/main">
              <a:ext uri="{FF2B5EF4-FFF2-40B4-BE49-F238E27FC236}">
                <a16:creationId xmlns:a16="http://schemas.microsoft.com/office/drawing/2014/main" id="{A7446FE6-F40B-4FAB-B2B8-505629B6C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24550"/>
            <a:ext cx="108966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3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OPEX 3,200 บาท/เดือน ยังไม่รวมค่าแรง ค่าตรวจสลิป ภาษี ส่วนลด และต้นทุนผันแปรอื่น</a:t>
            </a:r>
          </a:p>
        </p:txBody>
      </p:sp>
    </p:spTree>
    <p:extLst>
      <p:ext uri="{BB962C8B-B14F-4D97-AF65-F5344CB8AC3E}">
        <p14:creationId xmlns:p14="http://schemas.microsoft.com/office/powerpoint/2010/main" val="56938207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text-212">
            <a:extLst xmlns:a="http://schemas.openxmlformats.org/drawingml/2006/main">
              <a:ext uri="{FF2B5EF4-FFF2-40B4-BE49-F238E27FC236}">
                <a16:creationId xmlns:a16="http://schemas.microsoft.com/office/drawing/2014/main" id="{4E3CE22D-1138-46DB-AAF3-29B7E0D04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ทีมผู้รับผิดชอบ</a:t>
            </a:r>
          </a:p>
        </p:txBody>
      </p:sp>
      <p:sp>
        <p:nvSpPr>
          <p:cNvPr id="2" name="text-213">
            <a:extLst xmlns:a="http://schemas.openxmlformats.org/drawingml/2006/main">
              <a:ext uri="{FF2B5EF4-FFF2-40B4-BE49-F238E27FC236}">
                <a16:creationId xmlns:a16="http://schemas.microsoft.com/office/drawing/2014/main" id="{5DFE57C2-63DF-418A-8141-C7E845226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62000"/>
            <a:ext cx="108966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322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322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ทีม 7 คน ครอบคลุมระบบ ธุรกิจ และร้านค้า</a:t>
            </a:r>
          </a:p>
        </p:txBody>
      </p:sp>
      <p:sp>
        <p:nvSpPr>
          <p:cNvPr id="3" name="rule-214">
            <a:extLst xmlns:a="http://schemas.openxmlformats.org/drawingml/2006/main">
              <a:ext uri="{FF2B5EF4-FFF2-40B4-BE49-F238E27FC236}">
                <a16:creationId xmlns:a16="http://schemas.microsoft.com/office/drawing/2014/main" id="{0DE764F6-41AA-4794-B488-EA8CACF07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CD5CB"/>
            </a:solidFill>
          </a:ln>
        </p:spPr>
      </p:sp>
      <p:sp>
        <p:nvSpPr>
          <p:cNvPr id="4" name="text-215">
            <a:extLst xmlns:a="http://schemas.openxmlformats.org/drawingml/2006/main">
              <a:ext uri="{FF2B5EF4-FFF2-40B4-BE49-F238E27FC236}">
                <a16:creationId xmlns:a16="http://schemas.microsoft.com/office/drawing/2014/main" id="{9544B347-CF9F-4843-94C2-002C9C5F4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8652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050" b="1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050" b="1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SMART QUEUE FOOD</a:t>
            </a:r>
          </a:p>
        </p:txBody>
      </p:sp>
      <p:sp>
        <p:nvSpPr>
          <p:cNvPr id="5" name="text-216">
            <a:extLst xmlns:a="http://schemas.openxmlformats.org/drawingml/2006/main">
              <a:ext uri="{FF2B5EF4-FFF2-40B4-BE49-F238E27FC236}">
                <a16:creationId xmlns:a16="http://schemas.microsoft.com/office/drawing/2014/main" id="{B5BA9DC2-80A6-43BF-82D5-02EC5A884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67475"/>
            <a:ext cx="1066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7620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20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20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14 / 15</a:t>
            </a:r>
          </a:p>
        </p:txBody>
      </p:sp>
      <p:sp>
        <p:nvSpPr>
          <p:cNvPr id="6" name="text-217">
            <a:extLst xmlns:a="http://schemas.openxmlformats.org/drawingml/2006/main">
              <a:ext uri="{FF2B5EF4-FFF2-40B4-BE49-F238E27FC236}">
                <a16:creationId xmlns:a16="http://schemas.microsoft.com/office/drawing/2014/main" id="{C63E0ADB-3110-488D-8359-0EDDDD468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47850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1650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CEO</a:t>
            </a:r>
          </a:p>
        </p:txBody>
      </p:sp>
      <p:sp>
        <p:nvSpPr>
          <p:cNvPr id="7" name="text-218">
            <a:extLst xmlns:a="http://schemas.openxmlformats.org/drawingml/2006/main">
              <a:ext uri="{FF2B5EF4-FFF2-40B4-BE49-F238E27FC236}">
                <a16:creationId xmlns:a16="http://schemas.microsoft.com/office/drawing/2014/main" id="{D14FD7A7-C9C1-4010-8A51-2DD0474C2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847850"/>
            <a:ext cx="36861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2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202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ปรัชญา เรืองโรจน์</a:t>
            </a:r>
          </a:p>
        </p:txBody>
      </p:sp>
      <p:sp>
        <p:nvSpPr>
          <p:cNvPr id="8" name="text-219">
            <a:extLst xmlns:a="http://schemas.openxmlformats.org/drawingml/2006/main">
              <a:ext uri="{FF2B5EF4-FFF2-40B4-BE49-F238E27FC236}">
                <a16:creationId xmlns:a16="http://schemas.microsoft.com/office/drawing/2014/main" id="{71860DFA-9ADA-4B54-82E3-2A57F7067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247900"/>
            <a:ext cx="3686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6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6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ทิศทางธุรกิจและโครงการ</a:t>
            </a:r>
          </a:p>
        </p:txBody>
      </p:sp>
      <p:sp>
        <p:nvSpPr>
          <p:cNvPr id="9" name="text-220">
            <a:extLst xmlns:a="http://schemas.openxmlformats.org/drawingml/2006/main">
              <a:ext uri="{FF2B5EF4-FFF2-40B4-BE49-F238E27FC236}">
                <a16:creationId xmlns:a16="http://schemas.microsoft.com/office/drawing/2014/main" id="{CC14AEC3-4052-4062-A19D-807346ECD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562225"/>
            <a:ext cx="36861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6806021612347</a:t>
            </a:r>
          </a:p>
        </p:txBody>
      </p:sp>
      <p:sp>
        <p:nvSpPr>
          <p:cNvPr id="10" name="rule-221">
            <a:extLst xmlns:a="http://schemas.openxmlformats.org/drawingml/2006/main">
              <a:ext uri="{FF2B5EF4-FFF2-40B4-BE49-F238E27FC236}">
                <a16:creationId xmlns:a16="http://schemas.microsoft.com/office/drawing/2014/main" id="{8B9058ED-9DA3-4D80-903B-CBD9CB171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19400"/>
            <a:ext cx="5219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CD5CB"/>
            </a:solidFill>
          </a:ln>
        </p:spPr>
      </p:sp>
      <p:sp>
        <p:nvSpPr>
          <p:cNvPr id="11" name="text-222">
            <a:extLst xmlns:a="http://schemas.openxmlformats.org/drawingml/2006/main">
              <a:ext uri="{FF2B5EF4-FFF2-40B4-BE49-F238E27FC236}">
                <a16:creationId xmlns:a16="http://schemas.microsoft.com/office/drawing/2014/main" id="{192A0363-4B9C-4649-8160-E9BC64BA3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4797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1650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CTO</a:t>
            </a:r>
          </a:p>
        </p:txBody>
      </p:sp>
      <p:sp>
        <p:nvSpPr>
          <p:cNvPr id="12" name="text-223">
            <a:extLst xmlns:a="http://schemas.openxmlformats.org/drawingml/2006/main">
              <a:ext uri="{FF2B5EF4-FFF2-40B4-BE49-F238E27FC236}">
                <a16:creationId xmlns:a16="http://schemas.microsoft.com/office/drawing/2014/main" id="{813A92FB-806B-417E-8D3D-88500AE3E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847975"/>
            <a:ext cx="36861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2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202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กลวัชร กุลเกษ</a:t>
            </a:r>
          </a:p>
        </p:txBody>
      </p:sp>
      <p:sp>
        <p:nvSpPr>
          <p:cNvPr id="13" name="text-224">
            <a:extLst xmlns:a="http://schemas.openxmlformats.org/drawingml/2006/main">
              <a:ext uri="{FF2B5EF4-FFF2-40B4-BE49-F238E27FC236}">
                <a16:creationId xmlns:a16="http://schemas.microsoft.com/office/drawing/2014/main" id="{1FC3C75F-3F34-4AA1-B6F6-4CB95FEE0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248025"/>
            <a:ext cx="3686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6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6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สถาปัตยกรรมและระบบ</a:t>
            </a:r>
          </a:p>
        </p:txBody>
      </p:sp>
      <p:sp>
        <p:nvSpPr>
          <p:cNvPr id="14" name="text-225">
            <a:extLst xmlns:a="http://schemas.openxmlformats.org/drawingml/2006/main">
              <a:ext uri="{FF2B5EF4-FFF2-40B4-BE49-F238E27FC236}">
                <a16:creationId xmlns:a16="http://schemas.microsoft.com/office/drawing/2014/main" id="{7888EDB2-C721-4AD9-B0E6-1F234A317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562350"/>
            <a:ext cx="36861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6806021612363</a:t>
            </a:r>
          </a:p>
        </p:txBody>
      </p:sp>
      <p:sp>
        <p:nvSpPr>
          <p:cNvPr id="15" name="rule-226">
            <a:extLst xmlns:a="http://schemas.openxmlformats.org/drawingml/2006/main">
              <a:ext uri="{FF2B5EF4-FFF2-40B4-BE49-F238E27FC236}">
                <a16:creationId xmlns:a16="http://schemas.microsoft.com/office/drawing/2014/main" id="{CC16EEDB-FE83-43C5-A576-70447C2CD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19525"/>
            <a:ext cx="5219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CD5CB"/>
            </a:solidFill>
          </a:ln>
        </p:spPr>
      </p:sp>
      <p:sp>
        <p:nvSpPr>
          <p:cNvPr id="16" name="text-227">
            <a:extLst xmlns:a="http://schemas.openxmlformats.org/drawingml/2006/main">
              <a:ext uri="{FF2B5EF4-FFF2-40B4-BE49-F238E27FC236}">
                <a16:creationId xmlns:a16="http://schemas.microsoft.com/office/drawing/2014/main" id="{7A20210A-2214-4468-B554-97D8E7DA1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48100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1650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CPO</a:t>
            </a:r>
          </a:p>
        </p:txBody>
      </p:sp>
      <p:sp>
        <p:nvSpPr>
          <p:cNvPr id="17" name="text-228">
            <a:extLst xmlns:a="http://schemas.openxmlformats.org/drawingml/2006/main">
              <a:ext uri="{FF2B5EF4-FFF2-40B4-BE49-F238E27FC236}">
                <a16:creationId xmlns:a16="http://schemas.microsoft.com/office/drawing/2014/main" id="{E89B5FA5-1B16-4769-A79C-80B2E7072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848100"/>
            <a:ext cx="36861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2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202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ดนุสรณ์ อุปรี</a:t>
            </a:r>
          </a:p>
        </p:txBody>
      </p:sp>
      <p:sp>
        <p:nvSpPr>
          <p:cNvPr id="18" name="text-229">
            <a:extLst xmlns:a="http://schemas.openxmlformats.org/drawingml/2006/main">
              <a:ext uri="{FF2B5EF4-FFF2-40B4-BE49-F238E27FC236}">
                <a16:creationId xmlns:a16="http://schemas.microsoft.com/office/drawing/2014/main" id="{C8CCE6EB-5C92-4B21-867D-556278719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248150"/>
            <a:ext cx="3686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6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6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ผลิตภัณฑ์และประสบการณ์ผู้ใช้</a:t>
            </a:r>
          </a:p>
        </p:txBody>
      </p:sp>
      <p:sp>
        <p:nvSpPr>
          <p:cNvPr id="19" name="text-230">
            <a:extLst xmlns:a="http://schemas.openxmlformats.org/drawingml/2006/main">
              <a:ext uri="{FF2B5EF4-FFF2-40B4-BE49-F238E27FC236}">
                <a16:creationId xmlns:a16="http://schemas.microsoft.com/office/drawing/2014/main" id="{AB788417-4A75-447C-8E73-D28E5815C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562475"/>
            <a:ext cx="36861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6806021611413</a:t>
            </a:r>
          </a:p>
        </p:txBody>
      </p:sp>
      <p:sp>
        <p:nvSpPr>
          <p:cNvPr id="20" name="rule-231">
            <a:extLst xmlns:a="http://schemas.openxmlformats.org/drawingml/2006/main">
              <a:ext uri="{FF2B5EF4-FFF2-40B4-BE49-F238E27FC236}">
                <a16:creationId xmlns:a16="http://schemas.microsoft.com/office/drawing/2014/main" id="{58F631EE-74D8-4A0E-9F6B-F8060EC6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19650"/>
            <a:ext cx="5219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CD5CB"/>
            </a:solidFill>
          </a:ln>
        </p:spPr>
      </p:sp>
      <p:sp>
        <p:nvSpPr>
          <p:cNvPr id="21" name="text-232">
            <a:extLst xmlns:a="http://schemas.openxmlformats.org/drawingml/2006/main">
              <a:ext uri="{FF2B5EF4-FFF2-40B4-BE49-F238E27FC236}">
                <a16:creationId xmlns:a16="http://schemas.microsoft.com/office/drawing/2014/main" id="{79C91DD9-4BCF-458C-B39B-B4A9FF406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4822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1650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COO</a:t>
            </a:r>
          </a:p>
        </p:txBody>
      </p:sp>
      <p:sp>
        <p:nvSpPr>
          <p:cNvPr id="22" name="text-233">
            <a:extLst xmlns:a="http://schemas.openxmlformats.org/drawingml/2006/main">
              <a:ext uri="{FF2B5EF4-FFF2-40B4-BE49-F238E27FC236}">
                <a16:creationId xmlns:a16="http://schemas.microsoft.com/office/drawing/2014/main" id="{6C95B2FB-5728-48F9-9690-2A0F88000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848225"/>
            <a:ext cx="36861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2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202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สรภัทร ชัยวงศ์</a:t>
            </a:r>
          </a:p>
        </p:txBody>
      </p:sp>
      <p:sp>
        <p:nvSpPr>
          <p:cNvPr id="23" name="text-234">
            <a:extLst xmlns:a="http://schemas.openxmlformats.org/drawingml/2006/main">
              <a:ext uri="{FF2B5EF4-FFF2-40B4-BE49-F238E27FC236}">
                <a16:creationId xmlns:a16="http://schemas.microsoft.com/office/drawing/2014/main" id="{536D282D-3310-4597-B2E8-DC43D8400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248275"/>
            <a:ext cx="3686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6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6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ร้านค้าและปฏิบัติการ</a:t>
            </a:r>
          </a:p>
        </p:txBody>
      </p:sp>
      <p:sp>
        <p:nvSpPr>
          <p:cNvPr id="24" name="text-235">
            <a:extLst xmlns:a="http://schemas.openxmlformats.org/drawingml/2006/main">
              <a:ext uri="{FF2B5EF4-FFF2-40B4-BE49-F238E27FC236}">
                <a16:creationId xmlns:a16="http://schemas.microsoft.com/office/drawing/2014/main" id="{C4D6ED46-5D0C-44F0-A236-C06CB3B10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562600"/>
            <a:ext cx="36861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6806021612274</a:t>
            </a:r>
          </a:p>
        </p:txBody>
      </p:sp>
      <p:sp>
        <p:nvSpPr>
          <p:cNvPr id="25" name="text-236">
            <a:extLst xmlns:a="http://schemas.openxmlformats.org/drawingml/2006/main">
              <a:ext uri="{FF2B5EF4-FFF2-40B4-BE49-F238E27FC236}">
                <a16:creationId xmlns:a16="http://schemas.microsoft.com/office/drawing/2014/main" id="{FA1AE62B-C897-4F86-A26C-A6BD6BA64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847850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1650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CMO</a:t>
            </a:r>
          </a:p>
        </p:txBody>
      </p:sp>
      <p:sp>
        <p:nvSpPr>
          <p:cNvPr id="26" name="text-237">
            <a:extLst xmlns:a="http://schemas.openxmlformats.org/drawingml/2006/main">
              <a:ext uri="{FF2B5EF4-FFF2-40B4-BE49-F238E27FC236}">
                <a16:creationId xmlns:a16="http://schemas.microsoft.com/office/drawing/2014/main" id="{ED4FA5F8-A06F-4EF2-AD42-6A8CF083D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847850"/>
            <a:ext cx="36861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2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202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ธวัชชัย คำเขียน</a:t>
            </a:r>
          </a:p>
        </p:txBody>
      </p:sp>
      <p:sp>
        <p:nvSpPr>
          <p:cNvPr id="27" name="text-238">
            <a:extLst xmlns:a="http://schemas.openxmlformats.org/drawingml/2006/main">
              <a:ext uri="{FF2B5EF4-FFF2-40B4-BE49-F238E27FC236}">
                <a16:creationId xmlns:a16="http://schemas.microsoft.com/office/drawing/2014/main" id="{B941B93A-D4B1-457E-ACB7-DE7A403AA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47900"/>
            <a:ext cx="3686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6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6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การตลาดและการเติบโต</a:t>
            </a:r>
          </a:p>
        </p:txBody>
      </p:sp>
      <p:sp>
        <p:nvSpPr>
          <p:cNvPr id="28" name="text-239">
            <a:extLst xmlns:a="http://schemas.openxmlformats.org/drawingml/2006/main">
              <a:ext uri="{FF2B5EF4-FFF2-40B4-BE49-F238E27FC236}">
                <a16:creationId xmlns:a16="http://schemas.microsoft.com/office/drawing/2014/main" id="{3BDFB085-708D-42D0-9C8F-798059BB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562225"/>
            <a:ext cx="36861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6806021612169</a:t>
            </a:r>
          </a:p>
        </p:txBody>
      </p:sp>
      <p:sp>
        <p:nvSpPr>
          <p:cNvPr id="29" name="rule-240">
            <a:extLst xmlns:a="http://schemas.openxmlformats.org/drawingml/2006/main">
              <a:ext uri="{FF2B5EF4-FFF2-40B4-BE49-F238E27FC236}">
                <a16:creationId xmlns:a16="http://schemas.microsoft.com/office/drawing/2014/main" id="{FDD41594-1341-4A29-AFD2-EC38DDDF3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819400"/>
            <a:ext cx="5219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CD5CB"/>
            </a:solidFill>
          </a:ln>
        </p:spPr>
      </p:sp>
      <p:sp>
        <p:nvSpPr>
          <p:cNvPr id="30" name="text-241">
            <a:extLst xmlns:a="http://schemas.openxmlformats.org/drawingml/2006/main">
              <a:ext uri="{FF2B5EF4-FFF2-40B4-BE49-F238E27FC236}">
                <a16:creationId xmlns:a16="http://schemas.microsoft.com/office/drawing/2014/main" id="{3D517F3B-20EA-40F0-862F-4CF0CDC9F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84797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1650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CFO</a:t>
            </a:r>
          </a:p>
        </p:txBody>
      </p:sp>
      <p:sp>
        <p:nvSpPr>
          <p:cNvPr id="31" name="text-242">
            <a:extLst xmlns:a="http://schemas.openxmlformats.org/drawingml/2006/main">
              <a:ext uri="{FF2B5EF4-FFF2-40B4-BE49-F238E27FC236}">
                <a16:creationId xmlns:a16="http://schemas.microsoft.com/office/drawing/2014/main" id="{DA2BC0F8-22B7-4B7D-B84F-16D41CF1E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847975"/>
            <a:ext cx="36861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2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202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ทัพหน้า นิลวัฒน์</a:t>
            </a:r>
          </a:p>
        </p:txBody>
      </p:sp>
      <p:sp>
        <p:nvSpPr>
          <p:cNvPr id="32" name="text-243">
            <a:extLst xmlns:a="http://schemas.openxmlformats.org/drawingml/2006/main">
              <a:ext uri="{FF2B5EF4-FFF2-40B4-BE49-F238E27FC236}">
                <a16:creationId xmlns:a16="http://schemas.microsoft.com/office/drawing/2014/main" id="{CE7F2980-E2FD-4B31-9268-56F45D0A3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248025"/>
            <a:ext cx="3686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6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6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งบประมาณและความเป็นไปได้</a:t>
            </a:r>
          </a:p>
        </p:txBody>
      </p:sp>
      <p:sp>
        <p:nvSpPr>
          <p:cNvPr id="33" name="text-244">
            <a:extLst xmlns:a="http://schemas.openxmlformats.org/drawingml/2006/main">
              <a:ext uri="{FF2B5EF4-FFF2-40B4-BE49-F238E27FC236}">
                <a16:creationId xmlns:a16="http://schemas.microsoft.com/office/drawing/2014/main" id="{4E241BAA-3920-4522-A983-6652EB731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562350"/>
            <a:ext cx="36861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6806021612193</a:t>
            </a:r>
          </a:p>
        </p:txBody>
      </p:sp>
      <p:sp>
        <p:nvSpPr>
          <p:cNvPr id="34" name="rule-245">
            <a:extLst xmlns:a="http://schemas.openxmlformats.org/drawingml/2006/main">
              <a:ext uri="{FF2B5EF4-FFF2-40B4-BE49-F238E27FC236}">
                <a16:creationId xmlns:a16="http://schemas.microsoft.com/office/drawing/2014/main" id="{5B9AD5E1-62B2-40A0-8901-B6FE44A0F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819525"/>
            <a:ext cx="5219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CD5CB"/>
            </a:solidFill>
          </a:ln>
        </p:spPr>
      </p:sp>
      <p:sp>
        <p:nvSpPr>
          <p:cNvPr id="35" name="text-246">
            <a:extLst xmlns:a="http://schemas.openxmlformats.org/drawingml/2006/main">
              <a:ext uri="{FF2B5EF4-FFF2-40B4-BE49-F238E27FC236}">
                <a16:creationId xmlns:a16="http://schemas.microsoft.com/office/drawing/2014/main" id="{20E7FCA9-3641-4DD2-92E1-343AD5F5B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848100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1650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Legal &amp; QA</a:t>
            </a:r>
          </a:p>
        </p:txBody>
      </p:sp>
      <p:sp>
        <p:nvSpPr>
          <p:cNvPr id="36" name="text-247">
            <a:extLst xmlns:a="http://schemas.openxmlformats.org/drawingml/2006/main">
              <a:ext uri="{FF2B5EF4-FFF2-40B4-BE49-F238E27FC236}">
                <a16:creationId xmlns:a16="http://schemas.microsoft.com/office/drawing/2014/main" id="{48E57191-78AF-4FF8-8018-090B0A8A8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848100"/>
            <a:ext cx="36861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2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2025" b="1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ปภาวิน ธิติชุณหกุล</a:t>
            </a:r>
          </a:p>
        </p:txBody>
      </p:sp>
      <p:sp>
        <p:nvSpPr>
          <p:cNvPr id="37" name="text-248">
            <a:extLst xmlns:a="http://schemas.openxmlformats.org/drawingml/2006/main">
              <a:ext uri="{FF2B5EF4-FFF2-40B4-BE49-F238E27FC236}">
                <a16:creationId xmlns:a16="http://schemas.microsoft.com/office/drawing/2014/main" id="{6EFAEA41-0FBD-4C53-A38B-712142BAB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248150"/>
            <a:ext cx="3686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6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650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ทรัพย์สินทางปัญญาและคุณภาพ</a:t>
            </a:r>
          </a:p>
        </p:txBody>
      </p:sp>
      <p:sp>
        <p:nvSpPr>
          <p:cNvPr id="38" name="text-249">
            <a:extLst xmlns:a="http://schemas.openxmlformats.org/drawingml/2006/main">
              <a:ext uri="{FF2B5EF4-FFF2-40B4-BE49-F238E27FC236}">
                <a16:creationId xmlns:a16="http://schemas.microsoft.com/office/drawing/2014/main" id="{64D4572B-4E84-4123-BCB8-DD76EFB18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562475"/>
            <a:ext cx="36861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0">
                <a:solidFill>
                  <a:srgbClr val="57695F"/>
                </a:solidFill>
                <a:latin typeface="Leelawadee UI"/>
                <a:ea typeface="Leelawadee UI"/>
                <a:cs typeface="Leelawadee UI"/>
              </a:rPr>
              <a:t>6806021612037</a:t>
            </a:r>
          </a:p>
        </p:txBody>
      </p:sp>
      <p:sp>
        <p:nvSpPr>
          <p:cNvPr id="39" name="rule-250">
            <a:extLst xmlns:a="http://schemas.openxmlformats.org/drawingml/2006/main">
              <a:ext uri="{FF2B5EF4-FFF2-40B4-BE49-F238E27FC236}">
                <a16:creationId xmlns:a16="http://schemas.microsoft.com/office/drawing/2014/main" id="{150BA90D-DF51-4764-9636-2DF6010E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819650"/>
            <a:ext cx="5219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CD5CB"/>
            </a:solidFill>
          </a:ln>
        </p:spPr>
      </p:sp>
      <p:sp>
        <p:nvSpPr>
          <p:cNvPr id="40" name="text-251">
            <a:extLst xmlns:a="http://schemas.openxmlformats.org/drawingml/2006/main">
              <a:ext uri="{FF2B5EF4-FFF2-40B4-BE49-F238E27FC236}">
                <a16:creationId xmlns:a16="http://schemas.microsoft.com/office/drawing/2014/main" id="{8852A525-AA03-4BF5-96D3-8238DDAE8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000625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2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defRPr>
            </a:pPr>
            <a:r>
              <a:rPr sz="2025" b="1">
                <a:solidFill>
                  <a:srgbClr val="287B58"/>
                </a:solidFill>
                <a:latin typeface="Leelawadee UI"/>
                <a:ea typeface="Leelawadee UI"/>
                <a:cs typeface="Leelawadee UI"/>
              </a:rPr>
              <a:t>งานก่อนเปิดนำร่อง</a:t>
            </a:r>
          </a:p>
        </p:txBody>
      </p:sp>
      <p:sp>
        <p:nvSpPr>
          <p:cNvPr id="41" name="text-252">
            <a:extLst xmlns:a="http://schemas.openxmlformats.org/drawingml/2006/main">
              <a:ext uri="{FF2B5EF4-FFF2-40B4-BE49-F238E27FC236}">
                <a16:creationId xmlns:a16="http://schemas.microsoft.com/office/drawing/2014/main" id="{B1D49391-5787-4836-89AA-64B001589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48300"/>
            <a:ext cx="5048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800" b="0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1800" b="0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ระบบพร้อมทดสอบ  ร้านค้าฝึกใช้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800" b="0">
                <a:solidFill>
                  <a:srgbClr val="18322B"/>
                </a:solidFill>
                <a:latin typeface="Leelawadee UI"/>
                <a:ea typeface="Leelawadee UI"/>
                <a:cs typeface="Leelawadee UI"/>
              </a:defRPr>
            </a:pPr>
            <a:r>
              <a:rPr sz="1800" b="0">
                <a:solidFill>
                  <a:srgbClr val="18322B"/>
                </a:solidFill>
                <a:latin typeface="Leelawadee UI"/>
                <a:ea typeface="Leelawadee UI"/>
                <a:cs typeface="Leelawadee UI"/>
              </a:rPr>
              <a:t>งบประมาณและข้อกำหนดครบ</a:t>
            </a:r>
          </a:p>
        </p:txBody>
      </p:sp>
    </p:spTree>
    <p:extLst>
      <p:ext uri="{BB962C8B-B14F-4D97-AF65-F5344CB8AC3E}">
        <p14:creationId xmlns:p14="http://schemas.microsoft.com/office/powerpoint/2010/main" val="168334051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173F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253">
            <a:extLst xmlns:a="http://schemas.openxmlformats.org/drawingml/2006/main">
              <a:ext uri="{FF2B5EF4-FFF2-40B4-BE49-F238E27FC236}">
                <a16:creationId xmlns:a16="http://schemas.microsoft.com/office/drawing/2014/main" id="{C176C784-AFEB-4634-8AB1-1ACBF29A5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D5E8B6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1">
                <a:solidFill>
                  <a:srgbClr val="D5E8B6"/>
                </a:solidFill>
                <a:latin typeface="Leelawadee UI"/>
                <a:ea typeface="Leelawadee UI"/>
                <a:cs typeface="Leelawadee UI"/>
              </a:rPr>
              <a:t>แผนนำร่องและข้อเสนอ</a:t>
            </a:r>
          </a:p>
        </p:txBody>
      </p:sp>
      <p:sp>
        <p:nvSpPr>
          <p:cNvPr id="2" name="text-254">
            <a:extLst xmlns:a="http://schemas.openxmlformats.org/drawingml/2006/main">
              <a:ext uri="{FF2B5EF4-FFF2-40B4-BE49-F238E27FC236}">
                <a16:creationId xmlns:a16="http://schemas.microsoft.com/office/drawing/2014/main" id="{4B27DDE0-5275-485B-9B5C-3C0DC2C46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62000"/>
            <a:ext cx="108966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3225" b="1">
                <a:solidFill>
                  <a:srgbClr val="F7F6F0"/>
                </a:solidFill>
                <a:latin typeface="Leelawadee UI"/>
                <a:ea typeface="Leelawadee UI"/>
                <a:cs typeface="Leelawadee UI"/>
              </a:defRPr>
            </a:pPr>
            <a:r>
              <a:rPr sz="3225" b="1">
                <a:solidFill>
                  <a:srgbClr val="F7F6F0"/>
                </a:solidFill>
                <a:latin typeface="Leelawadee UI"/>
                <a:ea typeface="Leelawadee UI"/>
                <a:cs typeface="Leelawadee UI"/>
              </a:rPr>
              <a:t>ขอเริ่มนำร่อง FITM 3 ร้าน ภายใน 60 วัน</a:t>
            </a:r>
          </a:p>
        </p:txBody>
      </p:sp>
      <p:sp>
        <p:nvSpPr>
          <p:cNvPr id="3" name="rule-255">
            <a:extLst xmlns:a="http://schemas.openxmlformats.org/drawingml/2006/main">
              <a:ext uri="{FF2B5EF4-FFF2-40B4-BE49-F238E27FC236}">
                <a16:creationId xmlns:a16="http://schemas.microsoft.com/office/drawing/2014/main" id="{397C3EF1-46F7-487E-8FE4-7DB0BC302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43650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57265"/>
            </a:solidFill>
          </a:ln>
        </p:spPr>
      </p:sp>
      <p:sp>
        <p:nvSpPr>
          <p:cNvPr id="4" name="text-256">
            <a:extLst xmlns:a="http://schemas.openxmlformats.org/drawingml/2006/main">
              <a:ext uri="{FF2B5EF4-FFF2-40B4-BE49-F238E27FC236}">
                <a16:creationId xmlns:a16="http://schemas.microsoft.com/office/drawing/2014/main" id="{3E98A695-7095-42BD-94F6-A4BBFB0DD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8652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050" b="1">
                <a:solidFill>
                  <a:srgbClr val="D5E8B6"/>
                </a:solidFill>
                <a:latin typeface="Leelawadee UI"/>
                <a:ea typeface="Leelawadee UI"/>
                <a:cs typeface="Leelawadee UI"/>
              </a:defRPr>
            </a:pPr>
            <a:r>
              <a:rPr sz="1050" b="1">
                <a:solidFill>
                  <a:srgbClr val="D5E8B6"/>
                </a:solidFill>
                <a:latin typeface="Leelawadee UI"/>
                <a:ea typeface="Leelawadee UI"/>
                <a:cs typeface="Leelawadee UI"/>
              </a:rPr>
              <a:t>SMART QUEUE FOOD</a:t>
            </a:r>
          </a:p>
        </p:txBody>
      </p:sp>
      <p:sp>
        <p:nvSpPr>
          <p:cNvPr id="5" name="text-257">
            <a:extLst xmlns:a="http://schemas.openxmlformats.org/drawingml/2006/main">
              <a:ext uri="{FF2B5EF4-FFF2-40B4-BE49-F238E27FC236}">
                <a16:creationId xmlns:a16="http://schemas.microsoft.com/office/drawing/2014/main" id="{56383409-60A4-4A30-8747-CFFA4726E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67475"/>
            <a:ext cx="1066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7620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200" b="0">
                <a:solidFill>
                  <a:srgbClr val="D5E8B6"/>
                </a:solidFill>
                <a:latin typeface="Leelawadee UI"/>
                <a:ea typeface="Leelawadee UI"/>
                <a:cs typeface="Leelawadee UI"/>
              </a:defRPr>
            </a:pPr>
            <a:r>
              <a:rPr sz="1200" b="0">
                <a:solidFill>
                  <a:srgbClr val="D5E8B6"/>
                </a:solidFill>
                <a:latin typeface="Leelawadee UI"/>
                <a:ea typeface="Leelawadee UI"/>
                <a:cs typeface="Leelawadee UI"/>
              </a:rPr>
              <a:t>15 / 15</a:t>
            </a:r>
          </a:p>
        </p:txBody>
      </p:sp>
      <p:sp>
        <p:nvSpPr>
          <p:cNvPr id="6" name="text-258">
            <a:extLst xmlns:a="http://schemas.openxmlformats.org/drawingml/2006/main">
              <a:ext uri="{FF2B5EF4-FFF2-40B4-BE49-F238E27FC236}">
                <a16:creationId xmlns:a16="http://schemas.microsoft.com/office/drawing/2014/main" id="{203E0F32-A2E6-4FD4-937C-770E5C6C2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323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3525" b="1">
                <a:solidFill>
                  <a:srgbClr val="D5E8B6"/>
                </a:solidFill>
                <a:latin typeface="Leelawadee UI"/>
                <a:ea typeface="Leelawadee UI"/>
                <a:cs typeface="Leelawadee UI"/>
              </a:defRPr>
            </a:pPr>
            <a:r>
              <a:rPr sz="3525" b="1">
                <a:solidFill>
                  <a:srgbClr val="D5E8B6"/>
                </a:solidFill>
                <a:latin typeface="Leelawadee UI"/>
                <a:ea typeface="Leelawadee UI"/>
                <a:cs typeface="Leelawadee UI"/>
              </a:rPr>
              <a:t>01</a:t>
            </a:r>
          </a:p>
        </p:txBody>
      </p:sp>
      <p:sp>
        <p:nvSpPr>
          <p:cNvPr id="7" name="text-259">
            <a:extLst xmlns:a="http://schemas.openxmlformats.org/drawingml/2006/main">
              <a:ext uri="{FF2B5EF4-FFF2-40B4-BE49-F238E27FC236}">
                <a16:creationId xmlns:a16="http://schemas.microsoft.com/office/drawing/2014/main" id="{1A3F5B26-7FCD-41F7-953F-1D4EE47E0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47975"/>
            <a:ext cx="323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25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pPr>
            <a:r>
              <a:rPr sz="2325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วัน 1–15</a:t>
            </a:r>
          </a:p>
        </p:txBody>
      </p:sp>
      <p:sp>
        <p:nvSpPr>
          <p:cNvPr id="8" name="text-260">
            <a:extLst xmlns:a="http://schemas.openxmlformats.org/drawingml/2006/main">
              <a:ext uri="{FF2B5EF4-FFF2-40B4-BE49-F238E27FC236}">
                <a16:creationId xmlns:a16="http://schemas.microsoft.com/office/drawing/2014/main" id="{38CFFB44-75E2-43B7-88A3-2F19A5D32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09950"/>
            <a:ext cx="32385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75" b="0">
                <a:solidFill>
                  <a:srgbClr val="F7F6F0"/>
                </a:solidFill>
                <a:latin typeface="Leelawadee UI"/>
                <a:ea typeface="Leelawadee UI"/>
                <a:cs typeface="Leelawadee UI"/>
              </a:defRPr>
            </a:pPr>
            <a:r>
              <a:rPr sz="2175" b="0">
                <a:solidFill>
                  <a:srgbClr val="F7F6F0"/>
                </a:solidFill>
                <a:latin typeface="Leelawadee UI"/>
                <a:ea typeface="Leelawadee UI"/>
                <a:cs typeface="Leelawadee UI"/>
              </a:rPr>
              <a:t>สำรวจเวลารอ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2175" b="0">
                <a:solidFill>
                  <a:srgbClr val="F7F6F0"/>
                </a:solidFill>
                <a:latin typeface="Leelawadee UI"/>
                <a:ea typeface="Leelawadee UI"/>
                <a:cs typeface="Leelawadee UI"/>
              </a:defRPr>
            </a:pPr>
            <a:r>
              <a:rPr sz="2175" b="0">
                <a:solidFill>
                  <a:srgbClr val="F7F6F0"/>
                </a:solidFill>
                <a:latin typeface="Leelawadee UI"/>
                <a:ea typeface="Leelawadee UI"/>
                <a:cs typeface="Leelawadee UI"/>
              </a:rPr>
              <a:t>และตกลงกับร้าน</a:t>
            </a:r>
          </a:p>
        </p:txBody>
      </p:sp>
      <p:sp>
        <p:nvSpPr>
          <p:cNvPr id="9" name="text-261">
            <a:extLst xmlns:a="http://schemas.openxmlformats.org/drawingml/2006/main">
              <a:ext uri="{FF2B5EF4-FFF2-40B4-BE49-F238E27FC236}">
                <a16:creationId xmlns:a16="http://schemas.microsoft.com/office/drawing/2014/main" id="{8DFB6882-D00A-458D-9C62-C784ED3C3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00250"/>
            <a:ext cx="323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3525" b="1">
                <a:solidFill>
                  <a:srgbClr val="D5E8B6"/>
                </a:solidFill>
                <a:latin typeface="Leelawadee UI"/>
                <a:ea typeface="Leelawadee UI"/>
                <a:cs typeface="Leelawadee UI"/>
              </a:defRPr>
            </a:pPr>
            <a:r>
              <a:rPr sz="3525" b="1">
                <a:solidFill>
                  <a:srgbClr val="D5E8B6"/>
                </a:solidFill>
                <a:latin typeface="Leelawadee UI"/>
                <a:ea typeface="Leelawadee UI"/>
                <a:cs typeface="Leelawadee UI"/>
              </a:rPr>
              <a:t>02</a:t>
            </a:r>
          </a:p>
        </p:txBody>
      </p:sp>
      <p:sp>
        <p:nvSpPr>
          <p:cNvPr id="10" name="text-262">
            <a:extLst xmlns:a="http://schemas.openxmlformats.org/drawingml/2006/main">
              <a:ext uri="{FF2B5EF4-FFF2-40B4-BE49-F238E27FC236}">
                <a16:creationId xmlns:a16="http://schemas.microsoft.com/office/drawing/2014/main" id="{E59383D8-F7E4-4787-BC09-E9FF6469C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47975"/>
            <a:ext cx="323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25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pPr>
            <a:r>
              <a:rPr sz="2325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วัน 16–40</a:t>
            </a:r>
          </a:p>
        </p:txBody>
      </p:sp>
      <p:sp>
        <p:nvSpPr>
          <p:cNvPr id="11" name="text-263">
            <a:extLst xmlns:a="http://schemas.openxmlformats.org/drawingml/2006/main">
              <a:ext uri="{FF2B5EF4-FFF2-40B4-BE49-F238E27FC236}">
                <a16:creationId xmlns:a16="http://schemas.microsoft.com/office/drawing/2014/main" id="{3CA068B6-7F17-4665-A050-D043C5A1F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409950"/>
            <a:ext cx="32385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75" b="0">
                <a:solidFill>
                  <a:srgbClr val="F7F6F0"/>
                </a:solidFill>
                <a:latin typeface="Leelawadee UI"/>
                <a:ea typeface="Leelawadee UI"/>
                <a:cs typeface="Leelawadee UI"/>
              </a:defRPr>
            </a:pPr>
            <a:r>
              <a:rPr sz="2175" b="0">
                <a:solidFill>
                  <a:srgbClr val="F7F6F0"/>
                </a:solidFill>
                <a:latin typeface="Leelawadee UI"/>
                <a:ea typeface="Leelawadee UI"/>
                <a:cs typeface="Leelawadee UI"/>
              </a:rPr>
              <a:t>สร้างต้นแบบ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2175" b="0">
                <a:solidFill>
                  <a:srgbClr val="F7F6F0"/>
                </a:solidFill>
                <a:latin typeface="Leelawadee UI"/>
                <a:ea typeface="Leelawadee UI"/>
                <a:cs typeface="Leelawadee UI"/>
              </a:defRPr>
            </a:pPr>
            <a:r>
              <a:rPr sz="2175" b="0">
                <a:solidFill>
                  <a:srgbClr val="F7F6F0"/>
                </a:solidFill>
                <a:latin typeface="Leelawadee UI"/>
                <a:ea typeface="Leelawadee UI"/>
                <a:cs typeface="Leelawadee UI"/>
              </a:rPr>
              <a:t>ทดสอบและฝึกใช้</a:t>
            </a:r>
          </a:p>
        </p:txBody>
      </p:sp>
      <p:sp>
        <p:nvSpPr>
          <p:cNvPr id="12" name="text-264">
            <a:extLst xmlns:a="http://schemas.openxmlformats.org/drawingml/2006/main">
              <a:ext uri="{FF2B5EF4-FFF2-40B4-BE49-F238E27FC236}">
                <a16:creationId xmlns:a16="http://schemas.microsoft.com/office/drawing/2014/main" id="{76503BA6-DDB0-46AB-A09F-BA3A53859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00250"/>
            <a:ext cx="323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3525" b="1">
                <a:solidFill>
                  <a:srgbClr val="D5E8B6"/>
                </a:solidFill>
                <a:latin typeface="Leelawadee UI"/>
                <a:ea typeface="Leelawadee UI"/>
                <a:cs typeface="Leelawadee UI"/>
              </a:defRPr>
            </a:pPr>
            <a:r>
              <a:rPr sz="3525" b="1">
                <a:solidFill>
                  <a:srgbClr val="D5E8B6"/>
                </a:solidFill>
                <a:latin typeface="Leelawadee UI"/>
                <a:ea typeface="Leelawadee UI"/>
                <a:cs typeface="Leelawadee UI"/>
              </a:rPr>
              <a:t>03</a:t>
            </a:r>
          </a:p>
        </p:txBody>
      </p:sp>
      <p:sp>
        <p:nvSpPr>
          <p:cNvPr id="13" name="text-265">
            <a:extLst xmlns:a="http://schemas.openxmlformats.org/drawingml/2006/main">
              <a:ext uri="{FF2B5EF4-FFF2-40B4-BE49-F238E27FC236}">
                <a16:creationId xmlns:a16="http://schemas.microsoft.com/office/drawing/2014/main" id="{4A4727DB-B949-432B-836F-032C1BAE9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47975"/>
            <a:ext cx="323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25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pPr>
            <a:r>
              <a:rPr sz="2325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วัน 41–60</a:t>
            </a:r>
          </a:p>
        </p:txBody>
      </p:sp>
      <p:sp>
        <p:nvSpPr>
          <p:cNvPr id="14" name="text-266">
            <a:extLst xmlns:a="http://schemas.openxmlformats.org/drawingml/2006/main">
              <a:ext uri="{FF2B5EF4-FFF2-40B4-BE49-F238E27FC236}">
                <a16:creationId xmlns:a16="http://schemas.microsoft.com/office/drawing/2014/main" id="{182E2D45-7E69-4DE3-97B5-3DA47C992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409950"/>
            <a:ext cx="32385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75" b="0">
                <a:solidFill>
                  <a:srgbClr val="F7F6F0"/>
                </a:solidFill>
                <a:latin typeface="Leelawadee UI"/>
                <a:ea typeface="Leelawadee UI"/>
                <a:cs typeface="Leelawadee UI"/>
              </a:defRPr>
            </a:pPr>
            <a:r>
              <a:rPr sz="2175" b="0">
                <a:solidFill>
                  <a:srgbClr val="F7F6F0"/>
                </a:solidFill>
                <a:latin typeface="Leelawadee UI"/>
                <a:ea typeface="Leelawadee UI"/>
                <a:cs typeface="Leelawadee UI"/>
              </a:rPr>
              <a:t>นำร่องช่วงเที่ยง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2175" b="0">
                <a:solidFill>
                  <a:srgbClr val="F7F6F0"/>
                </a:solidFill>
                <a:latin typeface="Leelawadee UI"/>
                <a:ea typeface="Leelawadee UI"/>
                <a:cs typeface="Leelawadee UI"/>
              </a:defRPr>
            </a:pPr>
            <a:r>
              <a:rPr sz="2175" b="0">
                <a:solidFill>
                  <a:srgbClr val="F7F6F0"/>
                </a:solidFill>
                <a:latin typeface="Leelawadee UI"/>
                <a:ea typeface="Leelawadee UI"/>
                <a:cs typeface="Leelawadee UI"/>
              </a:rPr>
              <a:t>ประเมินก่อนขยาย</a:t>
            </a:r>
          </a:p>
        </p:txBody>
      </p:sp>
      <p:sp>
        <p:nvSpPr>
          <p:cNvPr id="15" name="rule-267">
            <a:extLst xmlns:a="http://schemas.openxmlformats.org/drawingml/2006/main">
              <a:ext uri="{FF2B5EF4-FFF2-40B4-BE49-F238E27FC236}">
                <a16:creationId xmlns:a16="http://schemas.microsoft.com/office/drawing/2014/main" id="{236CBDCC-DA38-4377-8F21-3C608D3D5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38675"/>
            <a:ext cx="10896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57265"/>
            </a:solidFill>
          </a:ln>
        </p:spPr>
      </p:sp>
      <p:sp>
        <p:nvSpPr>
          <p:cNvPr id="16" name="text-268">
            <a:extLst xmlns:a="http://schemas.openxmlformats.org/drawingml/2006/main">
              <a:ext uri="{FF2B5EF4-FFF2-40B4-BE49-F238E27FC236}">
                <a16:creationId xmlns:a16="http://schemas.microsoft.com/office/drawing/2014/main" id="{6F079D7C-BDB2-4DDC-8F5B-811AC3B8B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14900"/>
            <a:ext cx="108966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475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pPr>
            <a:r>
              <a:rPr sz="2475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ขออนุมัติพื้นที่ทดลอง และช่องทางประชาสัมพันธ์ของคณะ</a:t>
            </a:r>
          </a:p>
        </p:txBody>
      </p:sp>
      <p:sp>
        <p:nvSpPr>
          <p:cNvPr id="17" name="text-269">
            <a:extLst xmlns:a="http://schemas.openxmlformats.org/drawingml/2006/main">
              <a:ext uri="{FF2B5EF4-FFF2-40B4-BE49-F238E27FC236}">
                <a16:creationId xmlns:a16="http://schemas.microsoft.com/office/drawing/2014/main" id="{E166248B-1CB4-4052-8487-7DC5835D3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76900"/>
            <a:ext cx="108966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800" b="0">
                <a:solidFill>
                  <a:srgbClr val="D5E8B6"/>
                </a:solidFill>
                <a:latin typeface="Leelawadee UI"/>
                <a:ea typeface="Leelawadee UI"/>
                <a:cs typeface="Leelawadee UI"/>
              </a:defRPr>
            </a:pPr>
            <a:r>
              <a:rPr sz="1800" b="0">
                <a:solidFill>
                  <a:srgbClr val="D5E8B6"/>
                </a:solidFill>
                <a:latin typeface="Leelawadee UI"/>
                <a:ea typeface="Leelawadee UI"/>
                <a:cs typeface="Leelawadee UI"/>
              </a:rPr>
              <a:t>วัดเวลารอ ความผิดพลาดของออเดอร์ ความพึงพอใจ และความพร้อมร้านค้า</a:t>
            </a:r>
          </a:p>
        </p:txBody>
      </p:sp>
    </p:spTree>
    <p:extLst>
      <p:ext uri="{BB962C8B-B14F-4D97-AF65-F5344CB8AC3E}">
        <p14:creationId xmlns:p14="http://schemas.microsoft.com/office/powerpoint/2010/main" val="6152280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2026-09-27T12:38:20.2390000Z</dcterms:created>
  <dcterms:modified xsi:type="dcterms:W3CDTF">2026-09-27T12:38:20.2390000Z</dcterms:modified>
</coreProperties>
</file>