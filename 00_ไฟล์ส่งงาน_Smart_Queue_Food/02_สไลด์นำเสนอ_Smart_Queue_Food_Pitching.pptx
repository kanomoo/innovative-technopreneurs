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กราบเรียนอาจารย์ประจำวิชาผู้ประกอบการนวัตกรรม และสวัสดีเพื่อนๆ ทุกคนครับ พวกเรากลุ่ม Smart Queue Food ขอเสนอแนวคิดธุรกิจนวัตกรรมระบบสั่งอาหารล่วงหน้าและบริหารจัดการคิวอัจฉริยะ เพื่อยกระดับโรงอาหาร มจพ. วิทยาเขตปราจีนบุรี โครงงานนี้เป็นการศึกษาความเป็นไปได้และออกแบบโมเดลธุรกิจจริง โดยสมาชิกทั้ง 7 คนได้รับผิดชอบบทบาทการขับเคลื่อนธุรกิจสตาร์ทอัปอย่างครบวงจร วันนี้เราพร้อมนำเสนอในเวลา 10 นาทีครับ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มาเริ่มต้นที่สไลด์ที่ 2 ครับ ที่มาของแนวคิดธุรกิจนี้มาจากบริบทจริงของ มจพ. ปราจีนบุรี ซึ่งหลายคนอาจมองว่าคนไม่เยอะเท่ากรุงเทพฯ โต๊ะนั่งมีพอทาน ทำไมต้องมีระบบคิว? คำตอบคือ 'The Finite Capacity Paradox' ครับ เนื่องจากร้านอาหารในคณะ FITM มีเพียง 3-5 ร้าน เมื่อทุกคนเลิกเรียนพร้อมกันตอนเที่ยง ร้านอาหารตามสั่งต้องปรุงทีละจาน ทำให้เกิดแถวสะสม 5-10 นาที แม่ค้ามีคนเดียวต้องรับออเดอร์ ผัดข้าว และทอนเงิน ทำให้เสียเวลาพักผ่อนและเกิดความผิดพลาด Smart Queue Food จึงถูกออกแบบมาเพื่อแก้ปัญหานี้โดยตรงครับ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ในสไลด์ที่ 3 คือวิสัยทัศน์และพันธกิจของโครงการครับ วิสัยทัศน์ของเราคือมุ่งสู่การเป็นแพลตฟอร์มบริหารจัดการคิวและสั่งอาหารในโรงอาหารมหาวิทยาลัยอันดับหนึ่ง โดยมีพันธกิจ 3 เสาหลัก: หนึ่ง คืนเวลาพักผ่อนให้นักศึกษา สอง เพิ่มผลิตภาพให้ร้านค้าด้วย Batch Cooking และสาม ยกระดับสุขอนามัยด้วยการชำระเงินดิจิทัลไร้สัมผัส 100% สอดคล้องกับหัวข้อที่อาจารย์กำหนดในบทเรียนครับ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สไลด์ที่ 4 คือหัวใจสำคัญของโครงงานนี้ครับ: 4 เสาหลักการทำงานของ Smart Queue Food ข้อแรก เราสั่งล่วงหน้าก่อนหมดคาบ 10-15 นาที เพื่อเกลี่ยภาระงาน ข้อสอง ระบบในครัวจะใช้ Batch Cooking รวมเมนูเดียวกัน เช่น กะเพรา 3 จาน ผัดในกระทะเดียว ช่วยแม่ค้าประหยัดเวลา 40% ข้อสาม ชำระเงินล่วงหน้า 100% ผ่าน PromptPay ตัดปัญหาแม่ค้าจับเงินสด และคุ้มครองไม่ให้มีออเดอร์สั่งแล้วเบี้ยว และข้อสี่ แจ้งเตือนเมื่อเสร็จ พอเดินจากตึก FITM มาถึงโรงอาหาร อาหารเสร็จพอดี หยิบทานได้ทันที ไร้คิว 100% 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สไลด์ที่ 5 แสดงให้เห็นตัวสินค้าหรือบริการจริงตามที่อาจารย์ได้ให้คำแนะนำในห้องเรียนครับ เราใช้ AI Gen ภาพจำลอง Mockup หน้าจอสมาร์ตโฟนของผู้ใช้งานขึ้นมา โดยตัวระบบรันอยู่บน LINE LIFF Web App ด้านซ้ายมือจะเห็นว่ามีเมนูอาหารชัดเจน นักศึกษาสามารถเลือกเวลา Pickup Time Slot เช่น 12:00 น. พร้อมกดชำระเงินผ่าน Dynamic PromptPay และได้รับบัตรคิวดิจิทัล Q-024 ทันที ไม่ต้องติดตั้งแอปใหม่ให้ยุ่งยากครับ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ในสไลด์ที่ 6 นี้ คือภาพจำลองหน้าจอ Kitchen Display System (KDS) บนแท็บเล็ตในครัวของแม่ค้าครับ เราใช้ AI Gen ภาพแท็บเล็ตที่ติดตั้งจริงหน้าร้านตามสั่ง สังเกตบนหน้าจอจะเห็นการจัดกลุ่ม 'BATCH COOKING' ระบบจะดึงออเดอร์ผัดกะเพรา 3 จาน (Ticket #042) ขึ้นมาคู่กัน เพื่อให้แม่ค้าผัดพร้อมกันในรอบเดียว เมื่อทำเสร็จแม่ค้าแค่แตะปุ่มเขียว 'READY' ระบบก็จะส่งแจ้งเตือนไปที่โทรศัพท์ของนักศึกษาทันที ช่วยเพิ่มผลิตภาพในครัวขึ้นถึง 40% และแม่ค้าไม่ต้องจับเงินสดให้เปรอะเปื้อนเลยครับ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สไลด์ที่ 7 คือกลุ่มลูกค้าเป้าหมายและเพอร์โซนา (Persona) 2 กลุ่มหลักตามที่ระบุในรายงานครับ ฝั่งผู้ซื้อคือ น้องบาส นักศึกษา FITM ที่มีเวลาพักเที่ยงจำกัด เดินฝ่าแดดมาแล้วไม่อยากยืนรอคิว 10 นาที ส่วนฝั่งผู้ขายคือ ป้าสมใจ แม่ค้าร้านอาหารตามสั่ง วัย 52 ปี ที่เครียดกับออเดอร์กระดาษช่วงเที่ยง การเข้าใจ Persona ทั้งสองฝั่งช่วยให้เราออกแบบระบบที่นักศึกษาสะดวก และแม่ค้าใช้งานได้จริงโดยไม่กลัวเทคโนโลยีครับ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สไลด์ที่ 8 คือ Value Proposition Canvas (VPC) ครับ เราวิเคราะห์ความสอดคล้องระหว่าง Customer Profile ของนักศึกษาและร้านค้า กับ Value Map ของเรา โดยฟังก์ชัน Pre-Order และ Batch Cooking เข้ามาทำหน้าที่เป็น Pain Relievers ที่ช่วยลดการรอคอยหน้าเตาเหลือ 0 นาที และเป็น Gain Creators ที่คืนเวลาพักผ่อนให้นักศึกษาถึง 15-20 นาทีในแต่ละมื้อครับ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สไลด์ที่ 9 คือ Business Model Canvas 9 ช่องฉบับสมบูรณ์ครับ ซึ่งพัฒนาต่อยอดมาจากแผ่นกระดาษ BMC ที่กลุ่มเราได้นำเสนอในชั้นเรียนโดยตรง โครงสร้างทั้ง 9 ช่องสอดคล้องกันอย่างสมบูรณ์แบบ: ด้านซ้ายคือพันธมิตรและกิจกรรมในการพัฒนา LINE และ KDS ตรงกลางคือการลดเวลาต่อคิวและเพิ่มผลผลิตด้วย Batch Cooking และด้านล่างคือโครงสร้างต้นทุนต่ำแบบ Asset-Light ที่เก็บ GP เพียง 3-5% จึงไม่สร้างภาระแก่ร้านค้าครับ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สไลด์ที่ 10 คือกลยุทธ์การตลาดผ่าน Market Positioning Map (2x2 Matrix) ครับ เมื่อเทียบกับคู่แข่งทางอ้อม: แอปเดลิเวอรีทั่วไป (Grab/LINE MAN) อยู่มุมขวาบน มีค่าส่ง 30-50 บาท และหัก GP 30% ซึ่งไม่ตอบโจทย์โรงอาหารมหาวิทยาลัย ส่วนตู้คีออสก็ยังต้องเดินมาต่อแถวกด Smart Queue Food จึงเข้ายึดตำแหน่ง 'The Sweet Spot' มุมซ้ายบน คือสั่งล่วงหน้าได้รับอาหารทันที โดยคิดราคาปกติเท่าหน้าร้าน ไม่มีค่าส่ง ทำให้นักศึกษาเข้าถึงได้และร้านค้าเต็มใจเข้าร่วมครับ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สไลด์ที่ 11 คือส่วนประสมทางการตลาด 4Ps ครับ Product คือ LINE LIFF ร่วมกับจอ KDS ในครัว Price คือนักศึกษาจ่ายราคาปกติ ไม่เสียค่าส่ง ส่วนร้านค้าหัก GP เพียง 3% ไม่เป็นภาระ Place มีจุดรับอาหาร Fast Lane หน้าร้าน และเข้าถึงได้จากทุกตึกเรียน Promotion ร่วมมือกับสโมสรนักศึกษา FITM จัดแคมเปญ 'มื้อเที่ยงติดสปีด' 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สไลด์ที่ 12 คือกลยุทธ์นวัตกรรมตามกรอบ Ten Types of Innovation ที่เราเรียนในบทที่ 5 ครับ อาจารย์เน้นย้ำว่านวัตกรรมไม่ใช่แค่ตัวสินค้า แต่ต้องครอบคลุม 3 หมวด เราจึงเลือก 5 ยุทธวิธีสำคัญ: ในหมวด Configuration คือ Profit Model (GP 3%) และ Process (Batch Cooking) ในหมวด Offering คือ Product System (LINE LIFF ผสานกับ KDS) และในหมวด Experience คือ Service (แจ้งเตือน Just-in-Time) และ Channel (ใช้งานผ่าน LINE OA) 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สไลด์ที่ 13 คือการบริหารจัดการความเสี่ยงตามที่อาจารย์ได้เน้นย้ำในคลิปเสียงครับ เราวิเคราะห์ความเสี่ยง 4 ด้าน: ด้านเทคโนโลยีเรามีระบบ 4G สำรอง ด้านการยอมรับของแม่ค้าเราส่งทีมงานประกบฝึกอบรมตัวต่อตัว ด้านการเงินที่กังวลเรื่องลูกค้าสั่งแล้วไม่มารับ เราแก้ด้วย Pre-Payment 100% ผ่าน PromptPay ก่อนปรุง และด้านกฎหมายเราปฏิบัติตามมาตรฐาน PDPA อย่างเคร่งครัดครับ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สไลด์ที่ 14 คือการศึกษาความเป็นไปได้ทางการเงินครับ โครงงานของเราใช้โมเดล Asset-Light มีเงินลงทุนเริ่มต้นเพียง 28,500 บาท สำหรับแท็บเล็ต KDS 3 เครื่องและสื่อประชาสัมพันธ์ มี OPEX เพียงเดือนละ 3,200 บาท หากในระยะนำร่องมีคำสั่งซื้อ 400 ออเดอร์ต่อวัน เราจะมีรายได้ค่า GP 10,800 บาท/เดือน และคืนทุนได้ภายใน 4.2 เดือนเท่านั้น จึงมีความเป็นไปได้ทางการเงินสูงมากครับ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และสุดท้ายในสไลด์ที่ 15 คือบทสรุปผู้บริหารและข้อเสนอขอเริ่มโครงการนำร่อง (The Ask) ครับ Smart Queue Food ส่งมอบคุณค่า 3 ประการ: ประหยัดเวลาผู้ใช้ เพิ่มผลผลิตในครัว 40% และยกระดับสุขอนามัย ทีมงานเราพร้อม 100% และขอเสนอเริ่มโครงการนำร่องกับ 3 ร้านค้าในโรงอาหารคณะ FITM กลุ่ม Smart Queue Food ขอขอบพระคุณอาจารย์และพร้อมตอบข้อซักถามครับ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mutn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731520"/>
            <a:ext cx="1554480" cy="15544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2960" y="777240"/>
            <a:ext cx="6858000" cy="32004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59E0B"/>
                </a:solidFill>
                <a:latin typeface="Prompt"/>
              </a:defRPr>
            </a:pPr>
            <a:r>
              <a:t>080203914 ผู้ประกอบการนวัตกรรม (INNOVATIVE TECHNOPRENEURS)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8686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Prompt"/>
              </a:defRPr>
            </a:pPr>
            <a:r>
              <a:t>Smart Queue Food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Prompt"/>
              </a:defRPr>
            </a:pPr>
            <a:r>
              <a:t>นวัตกรรมระบบสั่งอาหารล่วงหน้าและบริหารจัดการคิวอัจฉริยะในโรงอาหารมหาวิทยาลัยผ่าน LINE Official Account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971800"/>
            <a:ext cx="10545775" cy="475488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Prompt"/>
              </a:defRPr>
            </a:pPr>
            <a:r>
              <a:t>คณะเทคโนโลยีและการจัดการอุตสาหกรรม (FITM) มหาวิทยาลัยเทคโนโลยีพระจอมเกล้าพระนครเหนือ วิทยาเขตปราจีนบุรี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611880"/>
            <a:ext cx="10545775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611880"/>
            <a:ext cx="10545775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A365D"/>
                </a:solidFill>
                <a:latin typeface="Prompt"/>
              </a:defRPr>
            </a:pPr>
            <a:r>
              <a:t>คณะผู้จัดทำโครงงานและบทบาทหน้าที่ (New Venture Founding Team)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06908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Prompt"/>
              </a:defRPr>
            </a:pPr>
            <a:r>
              <a:t>1. นาย ปรัชญา เรืองโรจน์ รหัสนักศึกษา 6806021612347 (CEO &amp; Project Lead)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Prompt"/>
              </a:defRPr>
            </a:pPr>
            <a:r>
              <a:t>2. นาย กลวัชร กุลเกษ รหัสนักศึกษา 6806021612363 (CTO &amp; System Architect)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Prompt"/>
              </a:defRPr>
            </a:pPr>
            <a:r>
              <a:t>3. นาย ดนุสรณ์ อุปรี รหัสนักศึกษา 6806021611413 (CPO &amp; UX/UI Designer)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Prompt"/>
              </a:defRPr>
            </a:pPr>
            <a:r>
              <a:t>4. นาย สรภัทร ชัยวงศ์ รหัสนักศึกษา 6806021612274 (COO &amp; Merchant Partner)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06908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0F172A"/>
                </a:solidFill>
                <a:latin typeface="Prompt"/>
              </a:defRPr>
            </a:pPr>
            <a:r>
              <a:t>5. นาย ธวัชชัย คำเขียน รหัสนักศึกษา 6806021612169 (CMO &amp; Growth Strategy)</a:t>
            </a:r>
          </a:p>
          <a:p>
            <a:pPr>
              <a:spcAft>
                <a:spcPts val="400"/>
              </a:spcAft>
              <a:defRPr sz="1000" b="0">
                <a:solidFill>
                  <a:srgbClr val="0F172A"/>
                </a:solidFill>
                <a:latin typeface="Prompt"/>
              </a:defRPr>
            </a:pPr>
            <a:r>
              <a:t>6. นาย ทัพหน้า นิลวัฒน์ รหัสนักศึกษา 6806021612193 (CFO &amp; Financial Feasibility)</a:t>
            </a:r>
          </a:p>
          <a:p>
            <a:pPr>
              <a:spcAft>
                <a:spcPts val="400"/>
              </a:spcAft>
              <a:defRPr sz="1000" b="0">
                <a:solidFill>
                  <a:srgbClr val="0F172A"/>
                </a:solidFill>
                <a:latin typeface="Prompt"/>
              </a:defRPr>
            </a:pPr>
            <a:r>
              <a:t>7. นาย ปภาวิน ธิติชุณหกุล รหัสนักศึกษา 6806021612037 (Head of Legal &amp; IP)</a:t>
            </a:r>
          </a:p>
          <a:p>
            <a:pPr>
              <a:spcAft>
                <a:spcPts val="400"/>
              </a:spcAft>
              <a:defRPr sz="1000" b="1">
                <a:solidFill>
                  <a:srgbClr val="D97706"/>
                </a:solidFill>
                <a:latin typeface="Prompt"/>
              </a:defRPr>
            </a:pPr>
            <a:r>
              <a:t>อาจารย์ผู้สอน: อาจารย์ประจำวิชาผู้ประกอบการนวัตกรรม คณะ FITM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172200"/>
            <a:ext cx="105457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Prompt"/>
              </a:defRPr>
            </a:pPr>
            <a:r>
              <a:t>กำหนดการนำเสนอ: ตุลาคม 2569 | เวลานำเสนอ 10 นาที (ถาม-ตอบ 5 นาที) | คะแนนเต็ม 28 คะแนน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56032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950" b="1">
                <a:solidFill>
                  <a:srgbClr val="D97706"/>
                </a:solidFill>
                <a:latin typeface="Prompt"/>
              </a:defRPr>
            </a:pPr>
            <a:r>
              <a:t>01 | BUSINESS IDEA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8356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Prompt"/>
              </a:defRPr>
            </a:pPr>
            <a:r>
              <a:t>บริบท มจพ. ปราจีนบุรี: ร้านค้าน้อย เกิดคอขวดรอคิวปรุงอาหาร 5-10 นาทีช่วงพักเที่ยง</a:t>
            </a:r>
          </a:p>
          <a:p>
            <a:pPr>
              <a:defRPr sz="1150">
                <a:solidFill>
                  <a:srgbClr val="475569"/>
                </a:solidFill>
                <a:latin typeface="Prompt"/>
              </a:defRPr>
            </a:pPr>
            <a:r>
              <a:t>วิเคราะห์ลักษณะทางกายภาพเฉพาะของวิทยาเขต และข้อจำกัดด้านกำลังการผลิตของร้านค้าในโรงอาหาร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Prompt"/>
              </a:defRPr>
            </a:pPr>
            <a:r>
              <a:t>080203914 ผู้ประกอบการนวัตกรรม (Innovative Technopreneurs) | มหาวิทยาลัยเทคโนโลยีพระจอมเกล้าพระนครเหนือ วิทยาเขตปราจีนบุรี</a:t>
            </a:r>
          </a:p>
          <a:p>
            <a:pPr algn="r">
              <a:defRPr sz="1000" b="1">
                <a:solidFill>
                  <a:srgbClr val="1A365D"/>
                </a:solidFill>
                <a:latin typeface="Prompt"/>
              </a:defRPr>
            </a:pPr>
            <a:r>
              <a:t>02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4389120" cy="39776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>
              <a:spcAft>
                <a:spcPts val="200"/>
              </a:spcAft>
              <a:defRPr sz="1000" b="1">
                <a:solidFill>
                  <a:srgbClr val="D97706"/>
                </a:solidFill>
                <a:latin typeface="Prompt"/>
              </a:defRPr>
            </a:pPr>
            <a:r>
              <a:t>THE CORE BOTTLENECK</a:t>
            </a:r>
          </a:p>
          <a:p>
            <a:pPr>
              <a:spcAft>
                <a:spcPts val="200"/>
              </a:spcAft>
              <a:defRPr sz="3400" b="1">
                <a:solidFill>
                  <a:srgbClr val="1A365D"/>
                </a:solidFill>
                <a:latin typeface="Prompt"/>
              </a:defRPr>
            </a:pPr>
            <a:r>
              <a:t>5-10 นาที</a:t>
            </a:r>
          </a:p>
          <a:p>
            <a:pPr>
              <a:spcAft>
                <a:spcPts val="1200"/>
              </a:spcAft>
              <a:defRPr sz="1100">
                <a:solidFill>
                  <a:srgbClr val="475569"/>
                </a:solidFill>
                <a:latin typeface="Prompt"/>
              </a:defRPr>
            </a:pPr>
            <a:r>
              <a:t>ระยะเวลารอคอยเฉลี่ยสะสมหน้าเตาปรุงสดต่อคน</a:t>
            </a:r>
          </a:p>
          <a:p>
            <a:pPr>
              <a:spcAft>
                <a:spcPts val="1200"/>
              </a:spcAft>
              <a:defRPr sz="1100" i="1">
                <a:solidFill>
                  <a:srgbClr val="0F172A"/>
                </a:solidFill>
                <a:latin typeface="Prompt"/>
              </a:defRPr>
            </a:pPr>
            <a:r>
              <a:t>"เวลาพักเที่ยง 1 ชั่วโมงถูกตัดทอนจากการเดินฝ่าแดดร้อนและการยืนรอคิว ทำให้นักศึกษาเหลือเวลารับประทานอาหารจริงเพียง 15-20 นาที เกิดความเครียดและเร่งรีบ"</a:t>
            </a:r>
          </a:p>
          <a:p>
            <a:pPr>
              <a:spcAft>
                <a:spcPts val="200"/>
              </a:spcAft>
              <a:defRPr sz="1100" b="1">
                <a:solidFill>
                  <a:srgbClr val="1A365D"/>
                </a:solidFill>
                <a:latin typeface="Prompt"/>
              </a:defRPr>
            </a:pPr>
            <a:r>
              <a:t>The Finite Capacity Paradox:</a:t>
            </a:r>
          </a:p>
          <a:p>
            <a:pPr>
              <a:defRPr sz="1000">
                <a:solidFill>
                  <a:srgbClr val="475569"/>
                </a:solidFill>
                <a:latin typeface="Prompt"/>
              </a:defRPr>
            </a:pPr>
            <a:r>
              <a:t>วิทยาเขตปราจีนบุรีมีที่นั่งรับประทานอาหารเพียงพอ ปัญหาไม่ได้อยู่ที่โต๊ะนั่ง แต่เกิดจากจำนวนร้านอาหารตามสั่งมีจำกัด เมื่อนักศึกษาเลิกเรียนพร้อมกัน จึงเกิดคอขวดสะสมทันที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76672" y="1691640"/>
            <a:ext cx="608076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59552" y="1856232"/>
            <a:ext cx="5715000" cy="15453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A365D"/>
                </a:solidFill>
                <a:latin typeface="Prompt"/>
              </a:defRPr>
            </a:pPr>
            <a:r>
              <a:t>[01] สภาพแวดล้อมทางกายภาพและพฤติกรรมวิทยาเขต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  <a:latin typeface="Prompt"/>
              </a:defRPr>
            </a:pPr>
            <a:r>
              <a:t>• บรรยากาศสงบและที่นั่งพอ: จำนวนนักศึกษาไม่แออัดเท่ากรุงเทพฯ พื้นที่โต๊ะรับประทานอาหารมีรองรับเพียงพอ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  <a:latin typeface="Prompt"/>
              </a:defRPr>
            </a:pPr>
            <a:r>
              <a:t>• ร้านค้ามีจำนวนจำกัด: โรงอาหารคณะ FITM มี 3-5 ร้าน และโรงอาหารกลางมี 8-10 ร้าน ทำให้ตัวเลือกกระจุกตัว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  <a:latin typeface="Prompt"/>
              </a:defRPr>
            </a:pPr>
            <a:r>
              <a:t>• การเลิกเรียนพร้อมกัน: นักศึกษาเลิกเรียนพร้อมกันช่วง 11:30 - 13:00 น. ออเดอร์ทะลักเข้าสู่ร้านค้าพร้อมกันในเวลาสั้น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76672" y="3794760"/>
            <a:ext cx="608076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59552" y="3959352"/>
            <a:ext cx="5715000" cy="15453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D97706"/>
                </a:solidFill>
                <a:latin typeface="Prompt"/>
              </a:defRPr>
            </a:pPr>
            <a:r>
              <a:t>[02] ข้อจำกัดในกระบวนการผลิตของร้านค้า (Kitchen Bottlenecks)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  <a:latin typeface="Prompt"/>
              </a:defRPr>
            </a:pPr>
            <a:r>
              <a:t>• กำลังคนจำกัด 1-2 คน: ร้านค้าดำเนินงานด้วยแม่ค้าคนเดียว ต้องรับออเดอร์ ผัดอาหาร และทอนเงินพร้อมกัน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  <a:latin typeface="Prompt"/>
              </a:defRPr>
            </a:pPr>
            <a:r>
              <a:t>• ขาดระบบจัดกลุ่มคำสั่งซื้อ: การจดกระดาษทำให้ปรุงตามลำดับคิว ไม่สามารถรวมเมนูเดียวกันมาผัดพร้อมกันได้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  <a:latin typeface="Prompt"/>
              </a:defRPr>
            </a:pPr>
            <a:r>
              <a:t>• สุขอนามัยการจับเงินสด: การสลับมือระหว่างสัมผัสธนบัตรเงินสดและการปรุงอาหาร ขัดต่อสุขอนามัยที่ดี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06440"/>
            <a:ext cx="10728655" cy="50292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92400E"/>
                </a:solidFill>
                <a:latin typeface="Prompt"/>
              </a:defRPr>
            </a:pPr>
            <a:r>
              <a:t>★ สาระสำคัญ: มุ่งเน้นการแก้ปัญหาคอขวดด้วยการ 'สั่งล่วงหน้า' เพื่อเกลี่ยภาระงาน และ 'จัดกลุ่มการปรุง (Batch Cooking)' เพิ่มผลผลิตในครัว โดยไม่สร้างภาระค่าใช้จ่ายแก่ร้านค้า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56032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950" b="1">
                <a:solidFill>
                  <a:srgbClr val="D97706"/>
                </a:solidFill>
                <a:latin typeface="Prompt"/>
              </a:defRPr>
            </a:pPr>
            <a:r>
              <a:t>02 | VISION &amp; 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8356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Prompt"/>
              </a:defRPr>
            </a:pPr>
            <a:r>
              <a:t>วิสัยทัศน์และพันธกิจ: ยกระดับสุขอนามัยและคุณภาพชีวิตในโรงอาหาร มจพ.</a:t>
            </a:r>
          </a:p>
          <a:p>
            <a:pPr>
              <a:defRPr sz="1150">
                <a:solidFill>
                  <a:srgbClr val="475569"/>
                </a:solidFill>
                <a:latin typeface="Prompt"/>
              </a:defRPr>
            </a:pPr>
            <a:r>
              <a:t>กรอบทิศทางเชิงกลยุทธ์ในการขับเคลื่อนนวัตกรรมบริการสู่การใช้งานจริงในมหาวิทยาลัย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Prompt"/>
              </a:defRPr>
            </a:pPr>
            <a:r>
              <a:t>080203914 ผู้ประกอบการนวัตกรรม (Innovative Technopreneurs) | มหาวิทยาลัยเทคโนโลยีพระจอมเกล้าพระนครเหนือ วิทยาเขตปราจีนบุรี</a:t>
            </a:r>
          </a:p>
          <a:p>
            <a:pPr algn="r">
              <a:defRPr sz="1000" b="1">
                <a:solidFill>
                  <a:srgbClr val="1A365D"/>
                </a:solidFill>
                <a:latin typeface="Prompt"/>
              </a:defRPr>
            </a:pPr>
            <a:r>
              <a:t>03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20640" cy="4572000"/>
          </a:xfrm>
          <a:prstGeom prst="roundRect">
            <a:avLst/>
          </a:prstGeom>
          <a:solidFill>
            <a:srgbClr val="0A192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74320"/>
          <a:lstStyle/>
          <a:p>
            <a:pPr algn="ctr">
              <a:spcAft>
                <a:spcPts val="1400"/>
              </a:spcAft>
              <a:defRPr sz="1500" b="1">
                <a:solidFill>
                  <a:srgbClr val="F59E0B"/>
                </a:solidFill>
                <a:latin typeface="Prompt"/>
              </a:defRPr>
            </a:pPr>
            <a:r>
              <a:t>🎯 VISION (วิสัยทัศน์ระยะ 3 ปี)</a:t>
            </a:r>
          </a:p>
          <a:p>
            <a:pPr>
              <a:spcAft>
                <a:spcPts val="1600"/>
              </a:spcAft>
              <a:defRPr sz="1350">
                <a:solidFill>
                  <a:srgbClr val="FFFFFF"/>
                </a:solidFill>
                <a:latin typeface="Prompt"/>
              </a:defRPr>
            </a:pPr>
            <a:r>
              <a:t>"มุ่งสู่การเป็นแพลตฟอร์มบริหารจัดการคิวและสั่งอาหารในโรงอาหารมหาวิทยาลัยอันดับหนึ่ง ที่เชื่อมโยงผู้บริโภคและผู้ประกอบการท้องถิ่นอย่างไร้รอยต่อ เพื่อยกระดับสุขอนามัย คุณภาพชีวิต และประสิทธิภาพการพักผ่อนของประชาคม มจพ. ปราจีนบุรี ภายในปี 2572"</a:t>
            </a:r>
          </a:p>
          <a:p>
            <a:pPr>
              <a:spcAft>
                <a:spcPts val="600"/>
              </a:spcAft>
              <a:defRPr sz="1150" b="1">
                <a:solidFill>
                  <a:srgbClr val="93C5FD"/>
                </a:solidFill>
                <a:latin typeface="Prompt"/>
              </a:defRPr>
            </a:pPr>
            <a:r>
              <a:t>เป้าหมายเชิงกลยุทธ์ (Strategic Milestones):</a:t>
            </a:r>
          </a:p>
          <a:p>
            <a:pPr>
              <a:spcAft>
                <a:spcPts val="400"/>
              </a:spcAft>
              <a:defRPr sz="1050">
                <a:solidFill>
                  <a:srgbClr val="E2E8F0"/>
                </a:solidFill>
                <a:latin typeface="Prompt"/>
              </a:defRPr>
            </a:pPr>
            <a:r>
              <a:t>• 1. นำร่องใช้งานจริงในโรงอาหาร FITM 3 ร้านค้าภายใน 60 วัน</a:t>
            </a:r>
          </a:p>
          <a:p>
            <a:pPr>
              <a:spcAft>
                <a:spcPts val="400"/>
              </a:spcAft>
              <a:defRPr sz="1050">
                <a:solidFill>
                  <a:srgbClr val="E2E8F0"/>
                </a:solidFill>
                <a:latin typeface="Prompt"/>
              </a:defRPr>
            </a:pPr>
            <a:r>
              <a:t>• 2. ขยายสู่โรงอาหารกลาง มจพ. ปราจีนบุรี ครอบคลุม 10-15 ร้านค้า</a:t>
            </a:r>
          </a:p>
          <a:p>
            <a:pPr>
              <a:spcAft>
                <a:spcPts val="400"/>
              </a:spcAft>
              <a:defRPr sz="1050">
                <a:solidFill>
                  <a:srgbClr val="E2E8F0"/>
                </a:solidFill>
                <a:latin typeface="Prompt"/>
              </a:defRPr>
            </a:pPr>
            <a:r>
              <a:t>• 3. อัตราการคืนเวลาพักเที่ยงให้นักศึกษา 15 นาทีต่อมื้อ 100%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691640"/>
            <a:ext cx="5376672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856232"/>
            <a:ext cx="5010912" cy="1088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A365D"/>
                </a:solidFill>
                <a:latin typeface="Prompt"/>
              </a:defRPr>
            </a:pPr>
            <a:r>
              <a:t>[01] การคืนเวลาพักผ่อนแก่นักศึกษา (Time Efficiency)</a:t>
            </a:r>
          </a:p>
          <a:p>
            <a:pPr>
              <a:defRPr sz="1000">
                <a:solidFill>
                  <a:srgbClr val="475569"/>
                </a:solidFill>
                <a:latin typeface="Prompt"/>
              </a:defRPr>
            </a:pPr>
            <a:r>
              <a:t>พัฒนาระบบสั่งอาหารล่วงหน้าที่ใช้งานง่ายผ่าน LINE OA เพื่อให้นักศึกษาสามารถวางแผนเวลารับประทานอาหารได้อย่างแม่นยำ ลดเวลาต่อคิวหน้าเตาให้เหลือศูนย์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3264408"/>
            <a:ext cx="5376672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3429000"/>
            <a:ext cx="5010912" cy="1088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D97706"/>
                </a:solidFill>
                <a:latin typeface="Prompt"/>
              </a:defRPr>
            </a:pPr>
            <a:r>
              <a:t>[02] เพิ่มผลิตภาพและรายได้แก่ร้านค้า (Merchant Empowerment)</a:t>
            </a:r>
          </a:p>
          <a:p>
            <a:pPr>
              <a:defRPr sz="1000">
                <a:solidFill>
                  <a:srgbClr val="475569"/>
                </a:solidFill>
                <a:latin typeface="Prompt"/>
              </a:defRPr>
            </a:pPr>
            <a:r>
              <a:t>จัดหาระบบ KDS พร้อมอัลกอริทึมจัดกลุ่มปรุงอาหาร (Batch Cooking) ช่วยให้แม่ค้าประหยัดเวลาปรุง 30-40% และรับออเดอร์ช่วงพักเที่ยงได้มากขึ้น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4837176"/>
            <a:ext cx="5376672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5001768"/>
            <a:ext cx="5010912" cy="1088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0B981"/>
                </a:solidFill>
                <a:latin typeface="Prompt"/>
              </a:defRPr>
            </a:pPr>
            <a:r>
              <a:t>[03] ยกระดับสุขอนามัยและสังคมไร้เงินสด (Cashless &amp; Hygiene)</a:t>
            </a:r>
          </a:p>
          <a:p>
            <a:pPr>
              <a:defRPr sz="1000">
                <a:solidFill>
                  <a:srgbClr val="475569"/>
                </a:solidFill>
                <a:latin typeface="Prompt"/>
              </a:defRPr>
            </a:pPr>
            <a:r>
              <a:t>ส่งเสริมการชำระเงินดิจิทัลไร้สัมผัสผ่าน Dynamic PromptPay QR เพื่อตัดขั้นตอนการสัมผัสเงินสดขณะประกอบอาหาร สร้างมาตรฐานความสะอาดใหม่ให้แก่โรงอาหาร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56032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950" b="1">
                <a:solidFill>
                  <a:srgbClr val="D97706"/>
                </a:solidFill>
                <a:latin typeface="Prompt"/>
              </a:defRPr>
            </a:pPr>
            <a:r>
              <a:t>03 | SYSTEM PRINCIPLES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8356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Prompt"/>
              </a:defRPr>
            </a:pPr>
            <a:r>
              <a:t>4 เสาหลักการทำงานของระบบ Smart Queue Food (The Core Mechanisms)</a:t>
            </a:r>
          </a:p>
          <a:p>
            <a:pPr>
              <a:defRPr sz="1150">
                <a:solidFill>
                  <a:srgbClr val="475569"/>
                </a:solidFill>
                <a:latin typeface="Prompt"/>
              </a:defRPr>
            </a:pPr>
            <a:r>
              <a:t>กลไกอัจฉริยะที่เปลี่ยนการรอคอยหน้าเตา 5-10 นาที ให้กลายเป็นการรับอาหารทันทีแบบ Just-In-Time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Prompt"/>
              </a:defRPr>
            </a:pPr>
            <a:r>
              <a:t>080203914 ผู้ประกอบการนวัตกรรม (Innovative Technopreneurs) | มหาวิทยาลัยเทคโนโลยีพระจอมเกล้าพระนครเหนือ วิทยาเขตปราจีนบุรี</a:t>
            </a:r>
          </a:p>
          <a:p>
            <a:pPr algn="r">
              <a:defRPr sz="1000" b="1">
                <a:solidFill>
                  <a:srgbClr val="1A365D"/>
                </a:solidFill>
                <a:latin typeface="Prompt"/>
              </a:defRPr>
            </a:pPr>
            <a:r>
              <a:t>04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947672"/>
            <a:ext cx="9418320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91640" y="1691640"/>
            <a:ext cx="566928" cy="566928"/>
          </a:xfrm>
          <a:prstGeom prst="ellipse">
            <a:avLst/>
          </a:prstGeom>
          <a:solidFill>
            <a:srgbClr val="1A365D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50" b="1">
                <a:solidFill>
                  <a:srgbClr val="FFFFFF"/>
                </a:solidFill>
                <a:latin typeface="Prompt"/>
              </a:defRPr>
            </a:pPr>
            <a: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2487168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/>
          <a:lstStyle/>
          <a:p>
            <a:pPr algn="ctr">
              <a:spcAft>
                <a:spcPts val="600"/>
              </a:spcAft>
              <a:defRPr sz="1100" b="1">
                <a:solidFill>
                  <a:srgbClr val="1A365D"/>
                </a:solidFill>
                <a:latin typeface="Prompt"/>
              </a:defRPr>
            </a:pPr>
            <a:r>
              <a:t>Pre-Ordering &amp; Load Balancing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Prompt"/>
              </a:defRPr>
            </a:pPr>
            <a:r>
              <a:t>• สั่งก่อนเลิกเรียน 10-15 นาที: นักศึกษาสั่งอาหารจากห้องเรียนขณะอาจารย์กำลังสรุปบทเรียน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Prompt"/>
              </a:defRPr>
            </a:pPr>
            <a:r>
              <a:t>• ระบบสล็อตเวลารับอาหาร: กำหนดเวลารับอาหารล่วงหน้า เช่น 12:00 - 12:15 น. อย่างแม่นยำ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Prompt"/>
              </a:defRPr>
            </a:pPr>
            <a:r>
              <a:t>• เกลี่ยภาระงานในครัว: กระจายคำสั่งซื้อล่วงหน้า ไม่ให้เกิดคอขวดทะลักพร้อมกันตอนเที่ยง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Prompt"/>
              </a:defRPr>
            </a:pPr>
            <a:r>
              <a:t>• ตัดเวลารอคอยสะสม: เปลี่ยนเวลาที่เคยสูญเปล่าหน้าเตาให้เป็นการเดินทางตามปกติ</a:t>
            </a:r>
          </a:p>
        </p:txBody>
      </p:sp>
      <p:sp>
        <p:nvSpPr>
          <p:cNvPr id="9" name="Oval 8"/>
          <p:cNvSpPr/>
          <p:nvPr/>
        </p:nvSpPr>
        <p:spPr>
          <a:xfrm>
            <a:off x="4416552" y="1691640"/>
            <a:ext cx="566928" cy="566928"/>
          </a:xfrm>
          <a:prstGeom prst="ellipse">
            <a:avLst/>
          </a:prstGeom>
          <a:solidFill>
            <a:srgbClr val="D9770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50" b="1">
                <a:solidFill>
                  <a:srgbClr val="FFFFFF"/>
                </a:solidFill>
                <a:latin typeface="Prompt"/>
              </a:defRPr>
            </a:pPr>
            <a: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2331720"/>
            <a:ext cx="2487168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/>
          <a:lstStyle/>
          <a:p>
            <a:pPr algn="ctr">
              <a:spcAft>
                <a:spcPts val="600"/>
              </a:spcAft>
              <a:defRPr sz="1100" b="1">
                <a:solidFill>
                  <a:srgbClr val="D97706"/>
                </a:solidFill>
                <a:latin typeface="Prompt"/>
              </a:defRPr>
            </a:pPr>
            <a:r>
              <a:t>Batch Cooking Optimization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Prompt"/>
              </a:defRPr>
            </a:pPr>
            <a:r>
              <a:t>• อัลกอริทึมจัดกลุ่มเมนู: ระบบ KDS ในครัวรวบรวมออเดอร์เมนูเดียวกัน เช่น กะเพราไก่ 3 จาน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Prompt"/>
              </a:defRPr>
            </a:pPr>
            <a:r>
              <a:t>• ปรุงพร้อมกันในกระทะเดียว: แม่ค้าผัดกะเพรา 3 จานพร้อมกันในรอบเดียว ไม่ต้องผัดทีละจาน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Prompt"/>
              </a:defRPr>
            </a:pPr>
            <a:r>
              <a:t>• ประหยัดเวลา 40%: ลดเวลาการปรุงเฉลี่ยจาก 3 นาที/จาน เหลือเพียง 1.2 นาที/จาน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Prompt"/>
              </a:defRPr>
            </a:pPr>
            <a:r>
              <a:t>• เพิ่มขีดความสามารถร้านค้า: รองรับออเดอร์ช่วงพักเที่ยงได้เพิ่มขึ้น 25-30% ต่อวัน</a:t>
            </a:r>
          </a:p>
        </p:txBody>
      </p:sp>
      <p:sp>
        <p:nvSpPr>
          <p:cNvPr id="11" name="Oval 10"/>
          <p:cNvSpPr/>
          <p:nvPr/>
        </p:nvSpPr>
        <p:spPr>
          <a:xfrm>
            <a:off x="7141464" y="1691640"/>
            <a:ext cx="566928" cy="566928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50" b="1">
                <a:solidFill>
                  <a:srgbClr val="FFFFFF"/>
                </a:solidFill>
                <a:latin typeface="Prompt"/>
              </a:defRPr>
            </a:pPr>
            <a:r>
              <a:t>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2331720"/>
            <a:ext cx="2487168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/>
          <a:lstStyle/>
          <a:p>
            <a:pPr algn="ctr">
              <a:spcAft>
                <a:spcPts val="600"/>
              </a:spcAft>
              <a:defRPr sz="1100" b="1">
                <a:solidFill>
                  <a:srgbClr val="10B981"/>
                </a:solidFill>
                <a:latin typeface="Prompt"/>
              </a:defRPr>
            </a:pPr>
            <a:r>
              <a:t>100% Pre-Paid Dynamic QR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Prompt"/>
              </a:defRPr>
            </a:pPr>
            <a:r>
              <a:t>• Dynamic PromptPay QR: สร้างยอดชำระเงินตรงตามบิลอัตโนมัติ สแกนจ่ายผ่าน Mobile Banking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Prompt"/>
              </a:defRPr>
            </a:pPr>
            <a:r>
              <a:t>• ตรวจสอบสลิปใน 3 วินาที: ระบบตรวจสอบยอดเงินเข้าบัญชีทันที ไม่ต้องให้แม่ค้าก้มดูสลิป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Prompt"/>
              </a:defRPr>
            </a:pPr>
            <a:r>
              <a:t>• คุ้มครองร้านค้า 100%: ขจัดปัญหาการสั่งอาหารแล้วไม่มารับ (No-Show Protection) สิ้นเชิง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Prompt"/>
              </a:defRPr>
            </a:pPr>
            <a:r>
              <a:t>• ยกระดับสุขอนามัยอาหาร: แม่ค้าไม่ต้องสัมผัสธนบัตรเปื้อนเชื้อโรคขณะผัดอาหาร</a:t>
            </a:r>
          </a:p>
        </p:txBody>
      </p:sp>
      <p:sp>
        <p:nvSpPr>
          <p:cNvPr id="13" name="Oval 12"/>
          <p:cNvSpPr/>
          <p:nvPr/>
        </p:nvSpPr>
        <p:spPr>
          <a:xfrm>
            <a:off x="9866376" y="1691640"/>
            <a:ext cx="566928" cy="566928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50" b="1">
                <a:solidFill>
                  <a:srgbClr val="FFFFFF"/>
                </a:solidFill>
                <a:latin typeface="Prompt"/>
              </a:defRPr>
            </a:pPr>
            <a:r>
              <a:t>04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2331720"/>
            <a:ext cx="2487168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/>
          <a:lstStyle/>
          <a:p>
            <a:pPr algn="ctr">
              <a:spcAft>
                <a:spcPts val="600"/>
              </a:spcAft>
              <a:defRPr sz="1100" b="1">
                <a:solidFill>
                  <a:srgbClr val="2563EB"/>
                </a:solidFill>
                <a:latin typeface="Prompt"/>
              </a:defRPr>
            </a:pPr>
            <a:r>
              <a:t>Just-In-Time Notification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Prompt"/>
              </a:defRPr>
            </a:pPr>
            <a:r>
              <a:t>• แจ้งเตือนผ่าน LINE OA: ระบบส่ง Push Notification อัตโนมัติเมื่ออาหารปรุงเสร็จสมบูรณ์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Prompt"/>
              </a:defRPr>
            </a:pPr>
            <a:r>
              <a:t>• มาถึงรับอาหารได้ทันที: นักศึกษาเดินจากอาคารเรียน FITM ถึงโรงอาหารพอดีเวลาที่อาหารเสร็จ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Prompt"/>
              </a:defRPr>
            </a:pPr>
            <a:r>
              <a:t>• ยื่นบัตรคิวดิจิทัลหน้าร้าน: แสดงรหัสคิว เช่น Q-024 บนหน้าจอมือถือเพื่อรับกล่องอาหาร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Prompt"/>
              </a:defRPr>
            </a:pPr>
            <a:r>
              <a:t>• สัมผัสประสบการณ์ไร้คิว: ระยะเวลารอคอยหน้าเตาเหลือ 0 นาที นั่งรับประทานได้ทันที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897880"/>
            <a:ext cx="10728655" cy="45720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A365D"/>
                </a:solidFill>
                <a:latin typeface="Prompt"/>
              </a:defRPr>
            </a:pPr>
            <a:r>
              <a:t>★ คุณค่าเชิงประจักษ์: ผสานการสั่งล่วงหน้า (Pre-Order) เข้ากับ Batch Cooking ทำให้คอยอาหารเหลือ 0 นาที และครัวผลิตอาหารเร็วขึ้น 40%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56032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950" b="1">
                <a:solidFill>
                  <a:srgbClr val="D97706"/>
                </a:solidFill>
                <a:latin typeface="Prompt"/>
              </a:defRPr>
            </a:pPr>
            <a:r>
              <a:t>04 | PRODUCT &amp; SERVICE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8356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Prompt"/>
              </a:defRPr>
            </a:pPr>
            <a:r>
              <a:t>หน้าต่างบริการผู้ใช้งาน: LINE Official Account &amp; LIFF Web App</a:t>
            </a:r>
          </a:p>
          <a:p>
            <a:pPr>
              <a:defRPr sz="1150">
                <a:solidFill>
                  <a:srgbClr val="475569"/>
                </a:solidFill>
                <a:latin typeface="Prompt"/>
              </a:defRPr>
            </a:pPr>
            <a:r>
              <a:t>เข้าถึงได้ทันทีโดยไม่ต้องติดตั้งแอปพลิเคชันเพิ่มเติม รองรับพฤติกรรมของนักศึกษาและบุคลากร 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Prompt"/>
              </a:defRPr>
            </a:pPr>
            <a:r>
              <a:t>080203914 ผู้ประกอบการนวัตกรรม (Innovative Technopreneurs) | มหาวิทยาลัยเทคโนโลยีพระจอมเกล้าพระนครเหนือ วิทยาเขตปราจีนบุรี</a:t>
            </a:r>
          </a:p>
          <a:p>
            <a:pPr algn="r">
              <a:defRPr sz="1000" b="1">
                <a:solidFill>
                  <a:srgbClr val="1A365D"/>
                </a:solidFill>
                <a:latin typeface="Prompt"/>
              </a:defRPr>
            </a:pPr>
            <a:r>
              <a:t>05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9319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mart_queue_mob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01368"/>
            <a:ext cx="3657600" cy="435254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892040" y="1691640"/>
            <a:ext cx="6568135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74920" y="1856232"/>
            <a:ext cx="6202375" cy="1088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A365D"/>
                </a:solidFill>
                <a:latin typeface="Prompt"/>
              </a:defRPr>
            </a:pPr>
            <a:r>
              <a:t>[01] การเข้าถึงผ่าน LINE OA &amp; LIFF ไร้รอยต่อ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  <a:latin typeface="Prompt"/>
              </a:defRPr>
            </a:pPr>
            <a:r>
              <a:t>• Zero Friction Onboarding: ใช้งานผ่านแอปพลิเคชัน LINE ที่ทุกคนมีติดตั้งอยู่แล้วในสมาร์ตโฟน ไม่เปลืองความจุเครื่อง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  <a:latin typeface="Prompt"/>
              </a:defRPr>
            </a:pPr>
            <a:r>
              <a:t>• สแกน QR Code ครั้งเดียว: สแกน Standee ป้ายบนโต๊ะ หรือเพิ่มเพื่อน LINE OA เพื่อเปิดหน้าต่าง LIFF Web App ทันที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3264408"/>
            <a:ext cx="6568135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3429000"/>
            <a:ext cx="6202375" cy="1088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D97706"/>
                </a:solidFill>
                <a:latin typeface="Prompt"/>
              </a:defRPr>
            </a:pPr>
            <a:r>
              <a:t>[02] ระบบเลือกเมนูและกำหนดเวลารับ (Pickup Time Slot)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  <a:latin typeface="Prompt"/>
              </a:defRPr>
            </a:pPr>
            <a:r>
              <a:t>• เลือกสล็อตเวลารับอาหาร: นักศึกษาสามารถระบุเวลามารับ เช่น 12:00 น. หรือ 12:15 น. ช่วยให้ร้านค้าวางแผนการปรุงได้แม่นยำ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  <a:latin typeface="Prompt"/>
              </a:defRPr>
            </a:pPr>
            <a:r>
              <a:t>• ระบบ Customization ละเอียด: เลือกเงื่อนไขพิเศษ เช่น เผ็ดน้อย, ไม่ใส่ผัก, เพิ่มไข่ดาว ได้ถูกต้องตรงตามต้องการ 100%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4837176"/>
            <a:ext cx="6568135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5001768"/>
            <a:ext cx="6202375" cy="1088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0B981"/>
                </a:solidFill>
                <a:latin typeface="Prompt"/>
              </a:defRPr>
            </a:pPr>
            <a:r>
              <a:t>[03] บัตรคิวดิจิทัลและการชำระเงิน Dynamic PromptPay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  <a:latin typeface="Prompt"/>
              </a:defRPr>
            </a:pPr>
            <a:r>
              <a:t>• ชำระเงิน Dynamic QR Code: สร้าง QR Code ตรงตามยอดบิลอัตโนมัติ ตรวจสอบสลิปโอนเงินเสร็จสิ้นภายใน 3 วินาที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  <a:latin typeface="Prompt"/>
              </a:defRPr>
            </a:pPr>
            <a:r>
              <a:t>• บัตรคิวดิจิทัลแบบเรียลไทม์: แสดงหมายเลขคิว (เช่น Q-024) พร้อมเวลาคาดการณ์ และส่งแจ้งเตือน Just-in-Time เมื่ออาหารปรุงเสร็จ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56032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950" b="1">
                <a:solidFill>
                  <a:srgbClr val="D97706"/>
                </a:solidFill>
                <a:latin typeface="Prompt"/>
              </a:defRPr>
            </a:pPr>
            <a:r>
              <a:t>04 | PRODUCT &amp; SERVICE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8356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Prompt"/>
              </a:defRPr>
            </a:pPr>
            <a:r>
              <a:t>ระบบจัดการครัวอัจฉริยะ: Kitchen Display System (KDS) สำหรับแม่ค้า</a:t>
            </a:r>
          </a:p>
          <a:p>
            <a:pPr>
              <a:defRPr sz="1150">
                <a:solidFill>
                  <a:srgbClr val="475569"/>
                </a:solidFill>
                <a:latin typeface="Prompt"/>
              </a:defRPr>
            </a:pPr>
            <a:r>
              <a:t>แท็บเล็ตประจำร้านค้าที่รวบรวมคำสั่งซื้อและจัดกลุ่มปรุงอาหาร (Batch Cooking) เพิ่มผลผลิตในครัว 40%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Prompt"/>
              </a:defRPr>
            </a:pPr>
            <a:r>
              <a:t>080203914 ผู้ประกอบการนวัตกรรม (Innovative Technopreneurs) | มหาวิทยาลัยเทคโนโลยีพระจอมเกล้าพระนครเหนือ วิทยาเขตปราจีนบุรี</a:t>
            </a:r>
          </a:p>
          <a:p>
            <a:pPr algn="r">
              <a:defRPr sz="1000" b="1">
                <a:solidFill>
                  <a:srgbClr val="1A365D"/>
                </a:solidFill>
                <a:latin typeface="Prompt"/>
              </a:defRPr>
            </a:pPr>
            <a:r>
              <a:t>06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mart_queue_k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56232"/>
            <a:ext cx="4846320" cy="3886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580644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475569"/>
                </a:solidFill>
                <a:latin typeface="Prompt"/>
              </a:defRPr>
            </a:pPr>
            <a:r>
              <a:t>จอแท็บเล็ต KDS ขนาด 10 นิ้ว แสดงคิวคำสั่งซื้อและสถานะ Batch Cooking ในครัว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691640"/>
            <a:ext cx="5376672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856232"/>
            <a:ext cx="5010912" cy="1088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D97706"/>
                </a:solidFill>
                <a:latin typeface="Prompt"/>
              </a:defRPr>
            </a:pPr>
            <a:r>
              <a:t>[01] อัลกอริทึม Batch Cooking Optimization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  <a:latin typeface="Prompt"/>
              </a:defRPr>
            </a:pPr>
            <a:r>
              <a:t>• รวมเมนูเดียวกันอัตโนมัติ: ระบบ KDS จัดกลุ่มเมนูเหมือนกัน เช่น ผัดกะเพราไก่ 3 จาน หรือข้าวผัด 2 จาน แสดงบนจอคู่กัน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  <a:latin typeface="Prompt"/>
              </a:defRPr>
            </a:pPr>
            <a:r>
              <a:t>• ลดเวลาปรุงต่อรอบ 40%: แม่ค้าสามารถผัดวัตถุดิบและปรุงรสพร้อมกันในกระทะเดียว ประหยัดแก๊สและเวลาในการปรุงอย่างมหาศาล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3264408"/>
            <a:ext cx="5376672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429000"/>
            <a:ext cx="5010912" cy="1088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A365D"/>
                </a:solidFill>
                <a:latin typeface="Prompt"/>
              </a:defRPr>
            </a:pPr>
            <a:r>
              <a:t>[02] หน้าจอสัมผัสปุ่มใหญ่ ใช้งานง่ายสำหรับแม่ค้า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  <a:latin typeface="Prompt"/>
              </a:defRPr>
            </a:pPr>
            <a:r>
              <a:t>• High-Contrast Interface: ออกแบบด้วยตัวหนังสือขนาดใหญ่ ตัวเลขคิวชัดเจน สีเขียว/ส้ม มองเห็นง่ายแม้ระยะ 1.5 เมตร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  <a:latin typeface="Prompt"/>
              </a:defRPr>
            </a:pPr>
            <a:r>
              <a:t>• แตะปุ่มเดียวเพื่อแจ้งเตือน: เมื่ออาหารปรุงเสร็จ แม่ค้าเพียงแตะปุ่มสีเขียว 'READY' ระบบจะส่งข้อความเข้า LINE ลูกค้าทันที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4837176"/>
            <a:ext cx="5376672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5001768"/>
            <a:ext cx="5010912" cy="1088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0B981"/>
                </a:solidFill>
                <a:latin typeface="Prompt"/>
              </a:defRPr>
            </a:pPr>
            <a:r>
              <a:t>[03] ยกระดับสุขอนามัยและขจัดความผิดพลาด 100%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  <a:latin typeface="Prompt"/>
              </a:defRPr>
            </a:pPr>
            <a:r>
              <a:t>• ตัดการจดกระดาษที่สูญหาย: คำสั่งซื้อแสดงบนหน้าจอตามคิวและเงื่อนไขพิเศษชัดเจน ไม่ตกหล่น ไม่สลับคิว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  <a:latin typeface="Prompt"/>
              </a:defRPr>
            </a:pPr>
            <a:r>
              <a:t>• ตัดการสัมผัสเงินสดในครัว: แม่ค้าไม่ต้องหยิบจับธนบัตรเปื้อนเชื้อโรคขณะผัดอาหาร สอดคล้องกับมาตรฐานสุขาภิบาลโรงอาหาร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56032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950" b="1">
                <a:solidFill>
                  <a:srgbClr val="D97706"/>
                </a:solidFill>
                <a:latin typeface="Prompt"/>
              </a:defRPr>
            </a:pPr>
            <a:r>
              <a:t>05 | TARGET CUSTOMERS &amp; DUAL PERSONAS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8356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Prompt"/>
              </a:defRPr>
            </a:pPr>
            <a:r>
              <a:t>กลุ่มลูกค้าเป้าหมายและเพอร์โซนา: สองฝั่งระบบนิเวศโรงอาหาร มจพ. ปราจีนบุรี</a:t>
            </a:r>
          </a:p>
          <a:p>
            <a:pPr>
              <a:defRPr sz="1150">
                <a:solidFill>
                  <a:srgbClr val="475569"/>
                </a:solidFill>
                <a:latin typeface="Prompt"/>
              </a:defRPr>
            </a:pPr>
            <a:r>
              <a:t>เจาะลึกความต้องการ พฤติกรรม และจุดเจ็บปวดของนักศึกษาและผู้ประกอบการร้านค้า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Prompt"/>
              </a:defRPr>
            </a:pPr>
            <a:r>
              <a:t>080203914 ผู้ประกอบการนวัตกรรม (Innovative Technopreneurs) | มหาวิทยาลัยเทคโนโลยีพระจอมเกล้าพระนครเหนือ วิทยาเขตปราจีนบุรี</a:t>
            </a:r>
          </a:p>
          <a:p>
            <a:pPr algn="r">
              <a:defRPr sz="1000" b="1">
                <a:solidFill>
                  <a:srgbClr val="1A365D"/>
                </a:solidFill>
                <a:latin typeface="Prompt"/>
              </a:defRPr>
            </a:pPr>
            <a:r>
              <a:t>07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856232"/>
            <a:ext cx="2926080" cy="27432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A365D"/>
                </a:solidFill>
                <a:latin typeface="Prompt"/>
              </a:defRPr>
            </a:pPr>
            <a:r>
              <a:t>🎓 STUDENT PERSONA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A365D"/>
                </a:solidFill>
                <a:latin typeface="Prompt"/>
              </a:defRPr>
            </a:pPr>
            <a:r>
              <a:t>น้องบาส (นายกิตติคุณ) - นักศึกษาคณะ FITM ปี 2</a:t>
            </a:r>
          </a:p>
          <a:p>
            <a:pPr>
              <a:spcAft>
                <a:spcPts val="800"/>
              </a:spcAft>
              <a:defRPr sz="950" i="1">
                <a:solidFill>
                  <a:srgbClr val="475569"/>
                </a:solidFill>
                <a:latin typeface="Prompt"/>
              </a:defRPr>
            </a:pPr>
            <a:r>
              <a:t>"พักเที่ยงแค่ชั่วโมงเดียว เดินฝ่าแดดมาถึงโรงอาหารก็เหนื่อยแล้ว ยังต้องยืนรอคิวผัดข้าวอีกเกือบสิบนาที เหลือเวลากินไม่ถึง 15 นาที ต้องรีบยัดข้าวลงคอแล้ววิ่งไปเรียนต่อบ่าย เครียดมากครับ"</a:t>
            </a:r>
          </a:p>
          <a:p>
            <a:pPr>
              <a:spcAft>
                <a:spcPts val="350"/>
              </a:spcAft>
              <a:defRPr sz="950">
                <a:solidFill>
                  <a:srgbClr val="0F172A"/>
                </a:solidFill>
                <a:latin typeface="Prompt"/>
              </a:defRPr>
            </a:pPr>
            <a:r>
              <a:t>• ข้อมูลทั่วไป: อายุ 20 ปี ภาควิชาเทคโนโลยีสารสนเทศ พักหอใกล้มหาวิทยาลัย มีงบอาหาร 40-50 บาท/มื้อ</a:t>
            </a:r>
          </a:p>
          <a:p>
            <a:pPr>
              <a:spcAft>
                <a:spcPts val="350"/>
              </a:spcAft>
              <a:defRPr sz="950">
                <a:solidFill>
                  <a:srgbClr val="0F172A"/>
                </a:solidFill>
                <a:latin typeface="Prompt"/>
              </a:defRPr>
            </a:pPr>
            <a:r>
              <a:t>• พฤติกรรมประจำวัน: เรียนคาบเช้า 09:00 - 12:00 น. เลิกเรียนพร้อมกัน มีเวลาพักเที่ยงเพียง 60 นาที</a:t>
            </a:r>
          </a:p>
          <a:p>
            <a:pPr>
              <a:spcAft>
                <a:spcPts val="350"/>
              </a:spcAft>
              <a:defRPr sz="950">
                <a:solidFill>
                  <a:srgbClr val="0F172A"/>
                </a:solidFill>
                <a:latin typeface="Prompt"/>
              </a:defRPr>
            </a:pPr>
            <a:r>
              <a:t>• จุดเจ็บปวด (Pain Points): ยืนรอคิวปรุงอาหาร 8-10 นาทีท่ามกลางอากาศร้อน กลืนข้าวไม่ทัน ออเดอร์จดกระดาษตกหล่น</a:t>
            </a:r>
          </a:p>
          <a:p>
            <a:pPr>
              <a:spcAft>
                <a:spcPts val="350"/>
              </a:spcAft>
              <a:defRPr sz="950">
                <a:solidFill>
                  <a:srgbClr val="0F172A"/>
                </a:solidFill>
                <a:latin typeface="Prompt"/>
              </a:defRPr>
            </a:pPr>
            <a:r>
              <a:t>• ความต้องการหลัก (Needs): ต้องการสั่งอาหารล่วงหน้าตั้งแต่ 11:45 น. ขณะอาจารย์สรุปบทเรียน เพื่อมาถึงแล้วหยิบทานได้ทันที</a:t>
            </a:r>
          </a:p>
          <a:p>
            <a:pPr>
              <a:spcAft>
                <a:spcPts val="350"/>
              </a:spcAft>
              <a:defRPr sz="950">
                <a:solidFill>
                  <a:srgbClr val="0F172A"/>
                </a:solidFill>
                <a:latin typeface="Prompt"/>
              </a:defRPr>
            </a:pPr>
            <a:r>
              <a:t>• ปัจจัยการตัดสินใจ: ต้องไม่มีค่าส่ง 30-50 บาทเหมือน Grab/LINE MAN และใช้งานผ่าน LINE ได้ทันทีโดยไม่ต้องโหลดแอป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91640"/>
            <a:ext cx="52120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30975" y="1856232"/>
            <a:ext cx="2926080" cy="27432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D97706"/>
                </a:solidFill>
                <a:latin typeface="Prompt"/>
              </a:defRPr>
            </a:pPr>
            <a:r>
              <a:t>👩‍🍳 MERCHANT PERSONA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0975" y="219456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97706"/>
                </a:solidFill>
                <a:latin typeface="Prompt"/>
              </a:defRPr>
            </a:pPr>
            <a:r>
              <a:t>ป้าสมใจ (นางสมใจ) - เจ้าของร้านอาหารตามสั่ง โรงอาหาร FITM</a:t>
            </a:r>
          </a:p>
          <a:p>
            <a:pPr>
              <a:spcAft>
                <a:spcPts val="800"/>
              </a:spcAft>
              <a:defRPr sz="950" i="1">
                <a:solidFill>
                  <a:srgbClr val="475569"/>
                </a:solidFill>
                <a:latin typeface="Prompt"/>
              </a:defRPr>
            </a:pPr>
            <a:r>
              <a:t>"ตอนเที่ยงเด็กมาพร้อมกันเป็นสิบๆ คน ป้ามือเป็นระวิง ผัดกะเพราทีละจานก็ช้า กระดาษคิวก็ปลิวหาย เด็กก็ตะโกนเร่ง แถมต้องคอยรับเงินทอนเงินมือเลอะไปหมด ถ้ามีเครื่องบอกว่าผัดอะไรพร้อมกันได้ ป้าจะสบายขึ้นเยอะ"</a:t>
            </a:r>
          </a:p>
          <a:p>
            <a:pPr>
              <a:spcAft>
                <a:spcPts val="350"/>
              </a:spcAft>
              <a:defRPr sz="950">
                <a:solidFill>
                  <a:srgbClr val="0F172A"/>
                </a:solidFill>
                <a:latin typeface="Prompt"/>
              </a:defRPr>
            </a:pPr>
            <a:r>
              <a:t>• ข้อมูลทั่วไป: อายุ 52 ปี ประกอบกิจการร้านตามสั่งมา 6 ปี ดำเนินการร่วมกับสามีเพียง 2 คน</a:t>
            </a:r>
          </a:p>
          <a:p>
            <a:pPr>
              <a:spcAft>
                <a:spcPts val="350"/>
              </a:spcAft>
              <a:defRPr sz="950">
                <a:solidFill>
                  <a:srgbClr val="0F172A"/>
                </a:solidFill>
                <a:latin typeface="Prompt"/>
              </a:defRPr>
            </a:pPr>
            <a:r>
              <a:t>• ลักษณะการทำงาน: ผัดอาหารตามคิวกระดาษทีละจาน มีช่วงพีคออเดอร์ทะลักหนักหน่วง 11:45 - 12:45 น. (60 นาทีทอง)</a:t>
            </a:r>
          </a:p>
          <a:p>
            <a:pPr>
              <a:spcAft>
                <a:spcPts val="350"/>
              </a:spcAft>
              <a:defRPr sz="950">
                <a:solidFill>
                  <a:srgbClr val="0F172A"/>
                </a:solidFill>
                <a:latin typeface="Prompt"/>
              </a:defRPr>
            </a:pPr>
            <a:r>
              <a:t>• จุดเจ็บปวด (Pain Points): เครียดมากช่วงเที่ยง จดคิวผิดพลาด สลับมือรับเงินสด ทอนเงินผิด และเสียดายเด็กเดินหนีเพราะคิวยาว</a:t>
            </a:r>
          </a:p>
          <a:p>
            <a:pPr>
              <a:spcAft>
                <a:spcPts val="350"/>
              </a:spcAft>
              <a:defRPr sz="950">
                <a:solidFill>
                  <a:srgbClr val="0F172A"/>
                </a:solidFill>
                <a:latin typeface="Prompt"/>
              </a:defRPr>
            </a:pPr>
            <a:r>
              <a:t>• ความต้องการหลัก (Needs): ต้องการระบบช่วยจัดกลุ่มเมนูเดียวกันให้ผัดพร้อมกัน และเงินเข้าบัญชีล่วงหน้าเพื่อความมั่นใจ</a:t>
            </a:r>
          </a:p>
          <a:p>
            <a:pPr>
              <a:spcAft>
                <a:spcPts val="350"/>
              </a:spcAft>
              <a:defRPr sz="950">
                <a:solidFill>
                  <a:srgbClr val="0F172A"/>
                </a:solidFill>
                <a:latin typeface="Prompt"/>
              </a:defRPr>
            </a:pPr>
            <a:r>
              <a:t>• ข้อจำกัดทางเทคโนโลยี: ไม่เก่งเทคโนโลยี หน้าจอต้องมีตัวหนังสือใหญ่ ชัดเจน แตะปุ่มเดียว และไม่มีค่าบริการรายเดือนแพง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56032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950" b="1">
                <a:solidFill>
                  <a:srgbClr val="D97706"/>
                </a:solidFill>
                <a:latin typeface="Prompt"/>
              </a:defRPr>
            </a:pPr>
            <a:r>
              <a:t>03 | VALUE PROPOSITION CANVAS (VPC)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8356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Prompt"/>
              </a:defRPr>
            </a:pPr>
            <a:r>
              <a:t>การวิเคราะห์คุณค่าที่ส่งมอบ: การจับคู่นวัตกรรมเข้ากับความต้องการของผู้ใช้</a:t>
            </a:r>
          </a:p>
          <a:p>
            <a:pPr>
              <a:defRPr sz="1150">
                <a:solidFill>
                  <a:srgbClr val="475569"/>
                </a:solidFill>
                <a:latin typeface="Prompt"/>
              </a:defRPr>
            </a:pPr>
            <a:r>
              <a:t>จับคู่ปัญหาและความคาดหวังของผู้บริโภค (Customer Profile) เข้ากับคุณสมบัติของระบบ (Value Map)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Prompt"/>
              </a:defRPr>
            </a:pPr>
            <a:r>
              <a:t>080203914 ผู้ประกอบการนวัตกรรม (Innovative Technopreneurs) | มหาวิทยาลัยเทคโนโลยีพระจอมเกล้าพระนครเหนือ วิทยาเขตปราจีนบุรี</a:t>
            </a:r>
          </a:p>
          <a:p>
            <a:pPr algn="r">
              <a:defRPr sz="1000" b="1">
                <a:solidFill>
                  <a:srgbClr val="1A365D"/>
                </a:solidFill>
                <a:latin typeface="Prompt"/>
              </a:defRPr>
            </a:pPr>
            <a:r>
              <a:t>08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347472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Prompt"/>
              </a:defRPr>
            </a:pPr>
            <a:r>
              <a:t>CUSTOMER PROFILE (กลุ่มผู้ใช้งานนักศึกษา &amp; ร้านค้า)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30552"/>
            <a:ext cx="5212080" cy="12984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spcAft>
                <a:spcPts val="300"/>
              </a:spcAft>
              <a:defRPr sz="1100" b="1">
                <a:solidFill>
                  <a:srgbClr val="1A365D"/>
                </a:solidFill>
                <a:latin typeface="Prompt"/>
              </a:defRPr>
            </a:pPr>
            <a:r>
              <a:t>[01] Customer Jobs (สิ่งที่ต้องทำ)</a:t>
            </a:r>
          </a:p>
          <a:p>
            <a:pPr>
              <a:defRPr sz="950">
                <a:solidFill>
                  <a:srgbClr val="0F172A"/>
                </a:solidFill>
                <a:latin typeface="Prompt"/>
              </a:defRPr>
            </a:pPr>
            <a:r>
              <a:t>รับประทานอาหารกลางวันให้ทันเวลาพัก 1 ชั่วโมง, สั่งอาหารตามสั่งที่ถูกใจ, จัดการเวลาเดินทางระหว่างอาคารเรียน FITM และโรงอาหาร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20440"/>
            <a:ext cx="5212080" cy="12984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spcAft>
                <a:spcPts val="300"/>
              </a:spcAft>
              <a:defRPr sz="1100" b="1">
                <a:solidFill>
                  <a:srgbClr val="DC2626"/>
                </a:solidFill>
                <a:latin typeface="Prompt"/>
              </a:defRPr>
            </a:pPr>
            <a:r>
              <a:t>[02] Customer Pains (ความเจ็บปวด)</a:t>
            </a:r>
          </a:p>
          <a:p>
            <a:pPr>
              <a:defRPr sz="950">
                <a:solidFill>
                  <a:srgbClr val="0F172A"/>
                </a:solidFill>
                <a:latin typeface="Prompt"/>
              </a:defRPr>
            </a:pPr>
            <a:r>
              <a:t>ยืนรอคิวปรุงอาหาร 5-10 นาทีท่ามกลางอากาศร้อน, ได้รับอาหารช้าทำให้ต้องรีบกิน, ออเดอร์กระดาษตกหล่น, แม่ค้าทอนเงินผิด/ช้า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910328"/>
            <a:ext cx="5212080" cy="12984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spcAft>
                <a:spcPts val="300"/>
              </a:spcAft>
              <a:defRPr sz="1100" b="1">
                <a:solidFill>
                  <a:srgbClr val="2563EB"/>
                </a:solidFill>
                <a:latin typeface="Prompt"/>
              </a:defRPr>
            </a:pPr>
            <a:r>
              <a:t>[03] Customer Gains (สิ่งที่คาดหวัง)</a:t>
            </a:r>
          </a:p>
          <a:p>
            <a:pPr>
              <a:defRPr sz="950">
                <a:solidFill>
                  <a:srgbClr val="0F172A"/>
                </a:solidFill>
                <a:latin typeface="Prompt"/>
              </a:defRPr>
            </a:pPr>
            <a:r>
              <a:t>ได้รับอาหารปรุงเสร็จตรงเวลาพักพอดี, มีเวลาพักผ่อนและพูดคุยกับเพื่อนเต็มที่, ชำระเงินสะดวกไร้สัมผัส, มั่นใจในความสะอาด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1691640"/>
            <a:ext cx="5212080" cy="34747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Prompt"/>
              </a:defRPr>
            </a:pPr>
            <a:r>
              <a:t>VALUE MAP (แผนผังคุณค่านวัตกรรม Smart Queue Food)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2130552"/>
            <a:ext cx="5212080" cy="12984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spcAft>
                <a:spcPts val="300"/>
              </a:spcAft>
              <a:defRPr sz="1100" b="1">
                <a:solidFill>
                  <a:srgbClr val="D97706"/>
                </a:solidFill>
                <a:latin typeface="Prompt"/>
              </a:defRPr>
            </a:pPr>
            <a:r>
              <a:t>[01] Products &amp; Services (สินค้า/บริการ)</a:t>
            </a:r>
          </a:p>
          <a:p>
            <a:pPr>
              <a:defRPr sz="950">
                <a:solidFill>
                  <a:srgbClr val="0F172A"/>
                </a:solidFill>
                <a:latin typeface="Prompt"/>
              </a:defRPr>
            </a:pPr>
            <a:r>
              <a:t>ระบบสั่งอาหารล่วงหน้าผ่าน LINE LIFF Web App, จอแท็บเล็ต KDS จัดการคิวในครัว, บัตรคิวดิจิทัล, และระบบแจ้งเตือน Real-Time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8095" y="3520440"/>
            <a:ext cx="5212080" cy="12984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spcAft>
                <a:spcPts val="300"/>
              </a:spcAft>
              <a:defRPr sz="1100" b="1">
                <a:solidFill>
                  <a:srgbClr val="10B981"/>
                </a:solidFill>
                <a:latin typeface="Prompt"/>
              </a:defRPr>
            </a:pPr>
            <a:r>
              <a:t>[02] Pain Relievers (ตัวช่วยบรรเทาปัญหา)</a:t>
            </a:r>
          </a:p>
          <a:p>
            <a:pPr>
              <a:defRPr sz="950">
                <a:solidFill>
                  <a:srgbClr val="0F172A"/>
                </a:solidFill>
                <a:latin typeface="Prompt"/>
              </a:defRPr>
            </a:pPr>
            <a:r>
              <a:t>ขจัดแถวคอยหน้าร้านเหลือ 0 นาที, แม่ค้าปรุงอาหารได้เร็วขึ้นด้วย Batch Cooking, ตัดปัญหาออเดอร์ตกหล่นด้วยระบบดิจิทัล 100%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8095" y="4910328"/>
            <a:ext cx="5212080" cy="12984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spcAft>
                <a:spcPts val="300"/>
              </a:spcAft>
              <a:defRPr sz="1100" b="1">
                <a:solidFill>
                  <a:srgbClr val="1A365D"/>
                </a:solidFill>
                <a:latin typeface="Prompt"/>
              </a:defRPr>
            </a:pPr>
            <a:r>
              <a:t>[03] Gain Creators (ตัวสร้างประโยชน์)</a:t>
            </a:r>
          </a:p>
          <a:p>
            <a:pPr>
              <a:defRPr sz="950">
                <a:solidFill>
                  <a:srgbClr val="0F172A"/>
                </a:solidFill>
                <a:latin typeface="Prompt"/>
              </a:defRPr>
            </a:pPr>
            <a:r>
              <a:t>คืนเวลาพักผ่อน 15-20 นาทีให้นักศึกษา, เพิ่มยอดขายช่วงเที่ยงให้ร้านค้า 25-30%, ยกระดับสุขอนามัยด้วยการชำระเงิน PromptPay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56032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950" b="1">
                <a:solidFill>
                  <a:srgbClr val="D97706"/>
                </a:solidFill>
                <a:latin typeface="Prompt"/>
              </a:defRPr>
            </a:pPr>
            <a:r>
              <a:t>06 | BUSINESS MODEL CANVAS (BMC)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8356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Prompt"/>
              </a:defRPr>
            </a:pPr>
            <a:r>
              <a:t>แบบจำลองธุรกิจ 9 ช่องฉบับสมบูรณ์ (Business Model Canvas)</a:t>
            </a:r>
          </a:p>
          <a:p>
            <a:pPr>
              <a:defRPr sz="1150">
                <a:solidFill>
                  <a:srgbClr val="475569"/>
                </a:solidFill>
                <a:latin typeface="Prompt"/>
              </a:defRPr>
            </a:pPr>
            <a:r>
              <a:t>โครงสร้างตัวแบบธุรกิจที่พัฒนาต่อยอดจากผลงานในชั้นเรียนวิชาผู้ประกอบการนวัตกรรม (1 หน้าเต็มสมบูรณ์)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Prompt"/>
              </a:defRPr>
            </a:pPr>
            <a:r>
              <a:t>080203914 ผู้ประกอบการนวัตกรรม (Innovative Technopreneurs) | มหาวิทยาลัยเทคโนโลยีพระจอมเกล้าพระนครเหนือ วิทยาเขตปราจีนบุรี</a:t>
            </a:r>
          </a:p>
          <a:p>
            <a:pPr algn="r">
              <a:defRPr sz="1000" b="1">
                <a:solidFill>
                  <a:srgbClr val="1A365D"/>
                </a:solidFill>
                <a:latin typeface="Prompt"/>
              </a:defRPr>
            </a:pPr>
            <a:r>
              <a:t>09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066543" cy="2999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764792"/>
            <a:ext cx="1920239" cy="256032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950" b="1">
                <a:solidFill>
                  <a:srgbClr val="FFFFFF"/>
                </a:solidFill>
                <a:latin typeface="Prompt"/>
              </a:defRPr>
            </a:pPr>
            <a:r>
              <a:t>1. Key Partners (พันธมิตร)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39112"/>
            <a:ext cx="1883663" cy="2615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900">
                <a:solidFill>
                  <a:srgbClr val="0F172A"/>
                </a:solidFill>
                <a:latin typeface="Prompt"/>
              </a:defRPr>
            </a:pPr>
            <a:r>
              <a:t>• ร้านอาหารในโรงอาหาร FITM &amp; โรงอาหารกลาง</a:t>
            </a:r>
          </a:p>
          <a:p>
            <a:pPr>
              <a:spcAft>
                <a:spcPts val="250"/>
              </a:spcAft>
              <a:defRPr sz="900">
                <a:solidFill>
                  <a:srgbClr val="0F172A"/>
                </a:solidFill>
                <a:latin typeface="Prompt"/>
              </a:defRPr>
            </a:pPr>
            <a:r>
              <a:t>• ผู้ให้บริการชำระเงิน PromptPay / ธนาคาร</a:t>
            </a:r>
          </a:p>
          <a:p>
            <a:pPr>
              <a:spcAft>
                <a:spcPts val="250"/>
              </a:spcAft>
              <a:defRPr sz="900">
                <a:solidFill>
                  <a:srgbClr val="0F172A"/>
                </a:solidFill>
                <a:latin typeface="Prompt"/>
              </a:defRPr>
            </a:pPr>
            <a:r>
              <a:t>• มหาวิทยาลัยและฝ่ายอาคารสถานที่ มจพ.</a:t>
            </a:r>
          </a:p>
          <a:p>
            <a:pPr>
              <a:spcAft>
                <a:spcPts val="250"/>
              </a:spcAft>
              <a:defRPr sz="900">
                <a:solidFill>
                  <a:srgbClr val="0F172A"/>
                </a:solidFill>
                <a:latin typeface="Prompt"/>
              </a:defRPr>
            </a:pPr>
            <a:r>
              <a:t>• แพลตฟอร์ม LINE Official Account</a:t>
            </a:r>
          </a:p>
          <a:p>
            <a:pPr>
              <a:spcAft>
                <a:spcPts val="250"/>
              </a:spcAft>
              <a:defRPr sz="900">
                <a:solidFill>
                  <a:srgbClr val="0F172A"/>
                </a:solidFill>
                <a:latin typeface="Prompt"/>
              </a:defRPr>
            </a:pPr>
            <a:r>
              <a:t>• สโมสรนักศึกษาคณะ FITM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71215" y="1691640"/>
            <a:ext cx="2066543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44367" y="1764792"/>
            <a:ext cx="1920239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950" b="1">
                <a:solidFill>
                  <a:srgbClr val="FFFFFF"/>
                </a:solidFill>
                <a:latin typeface="Prompt"/>
              </a:defRPr>
            </a:pPr>
            <a:r>
              <a:t>2. Key Activities (กิจกรรม)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2655" y="2039112"/>
            <a:ext cx="1883663" cy="107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900">
                <a:solidFill>
                  <a:srgbClr val="0F172A"/>
                </a:solidFill>
                <a:latin typeface="Prompt"/>
              </a:defRPr>
            </a:pPr>
            <a:r>
              <a:t>• พัฒนาระบบ LINE OA และ LIFF App</a:t>
            </a:r>
          </a:p>
          <a:p>
            <a:pPr>
              <a:spcAft>
                <a:spcPts val="250"/>
              </a:spcAft>
              <a:defRPr sz="900">
                <a:solidFill>
                  <a:srgbClr val="0F172A"/>
                </a:solidFill>
                <a:latin typeface="Prompt"/>
              </a:defRPr>
            </a:pPr>
            <a:r>
              <a:t>• จัดการระบบคิวและประมวลผล Batching</a:t>
            </a:r>
          </a:p>
          <a:p>
            <a:pPr>
              <a:spcAft>
                <a:spcPts val="250"/>
              </a:spcAft>
              <a:defRPr sz="900">
                <a:solidFill>
                  <a:srgbClr val="0F172A"/>
                </a:solidFill>
                <a:latin typeface="Prompt"/>
              </a:defRPr>
            </a:pPr>
            <a:r>
              <a:t>• เชื่อมต่อข้อมูลคำสั่งซื้อสู่จอ KDS ในครัว</a:t>
            </a:r>
          </a:p>
          <a:p>
            <a:pPr>
              <a:spcAft>
                <a:spcPts val="250"/>
              </a:spcAft>
              <a:defRPr sz="900">
                <a:solidFill>
                  <a:srgbClr val="0F172A"/>
                </a:solidFill>
                <a:latin typeface="Prompt"/>
              </a:defRPr>
            </a:pPr>
            <a:r>
              <a:t>• ฝึกอบรมและสนับสนุนร้านค้าหน้างาน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71215" y="3227832"/>
            <a:ext cx="2066543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44367" y="3300984"/>
            <a:ext cx="1920239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950" b="1">
                <a:solidFill>
                  <a:srgbClr val="FFFFFF"/>
                </a:solidFill>
                <a:latin typeface="Prompt"/>
              </a:defRPr>
            </a:pPr>
            <a:r>
              <a:t>6. Key Resources (ทรัพยากร)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62655" y="3575304"/>
            <a:ext cx="1883663" cy="107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900">
                <a:solidFill>
                  <a:srgbClr val="0F172A"/>
                </a:solidFill>
                <a:latin typeface="Prompt"/>
              </a:defRPr>
            </a:pPr>
            <a:r>
              <a:t>• ระบบซอฟต์แวร์ LINE LIFF &amp; Cloud API</a:t>
            </a:r>
          </a:p>
          <a:p>
            <a:pPr>
              <a:spcAft>
                <a:spcPts val="250"/>
              </a:spcAft>
              <a:defRPr sz="900">
                <a:solidFill>
                  <a:srgbClr val="0F172A"/>
                </a:solidFill>
                <a:latin typeface="Prompt"/>
              </a:defRPr>
            </a:pPr>
            <a:r>
              <a:t>• ฐานข้อมูล Realtime เมนูและคำสั่งซื้อ</a:t>
            </a:r>
          </a:p>
          <a:p>
            <a:pPr>
              <a:spcAft>
                <a:spcPts val="250"/>
              </a:spcAft>
              <a:defRPr sz="900">
                <a:solidFill>
                  <a:srgbClr val="0F172A"/>
                </a:solidFill>
                <a:latin typeface="Prompt"/>
              </a:defRPr>
            </a:pPr>
            <a:r>
              <a:t>• แท็บเล็ต KDS ประจำร้านค้า</a:t>
            </a:r>
          </a:p>
          <a:p>
            <a:pPr>
              <a:spcAft>
                <a:spcPts val="250"/>
              </a:spcAft>
              <a:defRPr sz="900">
                <a:solidFill>
                  <a:srgbClr val="0F172A"/>
                </a:solidFill>
                <a:latin typeface="Prompt"/>
              </a:defRPr>
            </a:pPr>
            <a:r>
              <a:t>• ทีมพัฒนานวัตกรรม 7 คน คณะ FITM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10910" y="1691640"/>
            <a:ext cx="2066543" cy="2999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84062" y="1764792"/>
            <a:ext cx="1920239" cy="25603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950" b="1">
                <a:solidFill>
                  <a:srgbClr val="FFFFFF"/>
                </a:solidFill>
                <a:latin typeface="Prompt"/>
              </a:defRPr>
            </a:pPr>
            <a:r>
              <a:t>3. Value Propositions (คุณค่า)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2350" y="2039112"/>
            <a:ext cx="1883663" cy="2615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900">
                <a:solidFill>
                  <a:srgbClr val="0F172A"/>
                </a:solidFill>
                <a:latin typeface="Prompt"/>
              </a:defRPr>
            </a:pPr>
            <a:r>
              <a:t>• ลดเวลารอคอยหน้าเตา 5-10 นาที</a:t>
            </a:r>
          </a:p>
          <a:p>
            <a:pPr>
              <a:spcAft>
                <a:spcPts val="250"/>
              </a:spcAft>
              <a:defRPr sz="900">
                <a:solidFill>
                  <a:srgbClr val="0F172A"/>
                </a:solidFill>
                <a:latin typeface="Prompt"/>
              </a:defRPr>
            </a:pPr>
            <a:r>
              <a:t>• สั่งอาหารล่วงหน้าตั้งแต่ในห้องเรียน</a:t>
            </a:r>
          </a:p>
          <a:p>
            <a:pPr>
              <a:spcAft>
                <a:spcPts val="250"/>
              </a:spcAft>
              <a:defRPr sz="900">
                <a:solidFill>
                  <a:srgbClr val="0F172A"/>
                </a:solidFill>
                <a:latin typeface="Prompt"/>
              </a:defRPr>
            </a:pPr>
            <a:r>
              <a:t>• ระบบรวมเมนูปรุงเป็นชุดเร็วขึ้น (Batch)</a:t>
            </a:r>
          </a:p>
          <a:p>
            <a:pPr>
              <a:spcAft>
                <a:spcPts val="250"/>
              </a:spcAft>
              <a:defRPr sz="900">
                <a:solidFill>
                  <a:srgbClr val="0F172A"/>
                </a:solidFill>
                <a:latin typeface="Prompt"/>
              </a:defRPr>
            </a:pPr>
            <a:r>
              <a:t>• ชำระเงินไร้สัมผัส Dynamic PromptPay</a:t>
            </a:r>
          </a:p>
          <a:p>
            <a:pPr>
              <a:spcAft>
                <a:spcPts val="250"/>
              </a:spcAft>
              <a:defRPr sz="900">
                <a:solidFill>
                  <a:srgbClr val="0F172A"/>
                </a:solidFill>
                <a:latin typeface="Prompt"/>
              </a:defRPr>
            </a:pPr>
            <a:r>
              <a:t>• ใช้งานบน LINE ไม่ต้องติดตั้งแอปใหม่</a:t>
            </a:r>
          </a:p>
          <a:p>
            <a:pPr>
              <a:spcAft>
                <a:spcPts val="250"/>
              </a:spcAft>
              <a:defRPr sz="900">
                <a:solidFill>
                  <a:srgbClr val="0F172A"/>
                </a:solidFill>
                <a:latin typeface="Prompt"/>
              </a:defRPr>
            </a:pPr>
            <a:r>
              <a:t>• ช่วยแม่ค้าจัดคิวและลดข้อผิดพลาด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50605" y="1691640"/>
            <a:ext cx="2066543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23757" y="1764792"/>
            <a:ext cx="1920239" cy="25603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950" b="1">
                <a:solidFill>
                  <a:srgbClr val="FFFFFF"/>
                </a:solidFill>
                <a:latin typeface="Prompt"/>
              </a:defRPr>
            </a:pPr>
            <a:r>
              <a:t>4. Relationships (สัมพันธ์)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2045" y="2039112"/>
            <a:ext cx="1883663" cy="107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900">
                <a:solidFill>
                  <a:srgbClr val="0F172A"/>
                </a:solidFill>
                <a:latin typeface="Prompt"/>
              </a:defRPr>
            </a:pPr>
            <a:r>
              <a:t>• แจ้งเตือนสถานะอาหารผ่าน LINE อัตโนมัติ</a:t>
            </a:r>
          </a:p>
          <a:p>
            <a:pPr>
              <a:spcAft>
                <a:spcPts val="250"/>
              </a:spcAft>
              <a:defRPr sz="900">
                <a:solidFill>
                  <a:srgbClr val="0F172A"/>
                </a:solidFill>
                <a:latin typeface="Prompt"/>
              </a:defRPr>
            </a:pPr>
            <a:r>
              <a:t>• ระบบสะสมแต้มส่วนลดมื้ออาหาร</a:t>
            </a:r>
          </a:p>
          <a:p>
            <a:pPr>
              <a:spcAft>
                <a:spcPts val="250"/>
              </a:spcAft>
              <a:defRPr sz="900">
                <a:solidFill>
                  <a:srgbClr val="0F172A"/>
                </a:solidFill>
                <a:latin typeface="Prompt"/>
              </a:defRPr>
            </a:pPr>
            <a:r>
              <a:t>• ช่องทางติชมและประเมินร้านค้า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50605" y="3227832"/>
            <a:ext cx="2066543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23757" y="3300984"/>
            <a:ext cx="1920239" cy="25603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950" b="1">
                <a:solidFill>
                  <a:srgbClr val="FFFFFF"/>
                </a:solidFill>
                <a:latin typeface="Prompt"/>
              </a:defRPr>
            </a:pPr>
            <a:r>
              <a:t>7. Channels (ช่องทาง)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42045" y="3575304"/>
            <a:ext cx="1883663" cy="107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900">
                <a:solidFill>
                  <a:srgbClr val="0F172A"/>
                </a:solidFill>
                <a:latin typeface="Prompt"/>
              </a:defRPr>
            </a:pPr>
            <a:r>
              <a:t>• LINE Official Account (LIFF)</a:t>
            </a:r>
          </a:p>
          <a:p>
            <a:pPr>
              <a:spcAft>
                <a:spcPts val="250"/>
              </a:spcAft>
              <a:defRPr sz="900">
                <a:solidFill>
                  <a:srgbClr val="0F172A"/>
                </a:solidFill>
                <a:latin typeface="Prompt"/>
              </a:defRPr>
            </a:pPr>
            <a:r>
              <a:t>• ป้าย Standee QR Code บนโต๊ะอาหาร</a:t>
            </a:r>
          </a:p>
          <a:p>
            <a:pPr>
              <a:spcAft>
                <a:spcPts val="250"/>
              </a:spcAft>
              <a:defRPr sz="900">
                <a:solidFill>
                  <a:srgbClr val="0F172A"/>
                </a:solidFill>
                <a:latin typeface="Prompt"/>
              </a:defRPr>
            </a:pPr>
            <a:r>
              <a:t>• เพจประชาสัมพันธ์ มจพ. ปราจีนบุรี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90300" y="1691640"/>
            <a:ext cx="2066543" cy="2999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363452" y="1764792"/>
            <a:ext cx="1920239" cy="256032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950" b="1">
                <a:solidFill>
                  <a:srgbClr val="FFFFFF"/>
                </a:solidFill>
                <a:latin typeface="Prompt"/>
              </a:defRPr>
            </a:pPr>
            <a:r>
              <a:t>5. Segments (กลุ่มลูกค้า)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81740" y="2039112"/>
            <a:ext cx="1883663" cy="2615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900">
                <a:solidFill>
                  <a:srgbClr val="0F172A"/>
                </a:solidFill>
                <a:latin typeface="Prompt"/>
              </a:defRPr>
            </a:pPr>
            <a:r>
              <a:t>• นักศึกษา มจพ. ปราจีนบุรี ทุกคณะ</a:t>
            </a:r>
          </a:p>
          <a:p>
            <a:pPr>
              <a:spcAft>
                <a:spcPts val="250"/>
              </a:spcAft>
              <a:defRPr sz="900">
                <a:solidFill>
                  <a:srgbClr val="0F172A"/>
                </a:solidFill>
                <a:latin typeface="Prompt"/>
              </a:defRPr>
            </a:pPr>
            <a:r>
              <a:t>• อาจารย์และบุคลากรในวิทยาเขต</a:t>
            </a:r>
          </a:p>
          <a:p>
            <a:pPr>
              <a:spcAft>
                <a:spcPts val="250"/>
              </a:spcAft>
              <a:defRPr sz="900">
                <a:solidFill>
                  <a:srgbClr val="0F172A"/>
                </a:solidFill>
                <a:latin typeface="Prompt"/>
              </a:defRPr>
            </a:pPr>
            <a:r>
              <a:t>• ร้านอาหารในโรงอาหาร FITM และโรงอาหารกลาง</a:t>
            </a:r>
          </a:p>
          <a:p>
            <a:pPr>
              <a:spcAft>
                <a:spcPts val="250"/>
              </a:spcAft>
              <a:defRPr sz="900">
                <a:solidFill>
                  <a:srgbClr val="0F172A"/>
                </a:solidFill>
                <a:latin typeface="Prompt"/>
              </a:defRPr>
            </a:pPr>
            <a:r>
              <a:t>• ผู้ต้องการความสะดวกรวดเร็วช่วงพักเที่ยง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782312"/>
            <a:ext cx="530352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4672" y="4855464"/>
            <a:ext cx="5157216" cy="256032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950" b="1">
                <a:solidFill>
                  <a:srgbClr val="FFFFFF"/>
                </a:solidFill>
                <a:latin typeface="Prompt"/>
              </a:defRPr>
            </a:pPr>
            <a:r>
              <a:t>8. Cost Structure (โครงสร้างต้นทุน)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129784"/>
            <a:ext cx="5120640" cy="1124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900">
                <a:solidFill>
                  <a:srgbClr val="0F172A"/>
                </a:solidFill>
                <a:latin typeface="Prompt"/>
              </a:defRPr>
            </a:pPr>
            <a:r>
              <a:t>• ต้นทุนเซิร์ฟเวอร์คลาวด์และฐานข้อมูล (Cloud Hosting &amp; Database): 1,800 บ./ด.</a:t>
            </a:r>
          </a:p>
          <a:p>
            <a:pPr>
              <a:spcAft>
                <a:spcPts val="250"/>
              </a:spcAft>
              <a:defRPr sz="900">
                <a:solidFill>
                  <a:srgbClr val="0F172A"/>
                </a:solidFill>
                <a:latin typeface="Prompt"/>
              </a:defRPr>
            </a:pPr>
            <a:r>
              <a:t>• ค่าบริการแพ็กเกจข้อความ LINE Messaging API: 1,200 บ./ด.</a:t>
            </a:r>
          </a:p>
          <a:p>
            <a:pPr>
              <a:spcAft>
                <a:spcPts val="250"/>
              </a:spcAft>
              <a:defRPr sz="900">
                <a:solidFill>
                  <a:srgbClr val="0F172A"/>
                </a:solidFill>
                <a:latin typeface="Prompt"/>
              </a:defRPr>
            </a:pPr>
            <a:r>
              <a:t>• ค่าจัดหาและบำรุงรักษาฮาร์ดแวร์แท็บเล็ต KDS ประจำร้านค้า (CAPEX เริ่มต้น 28,500 บ.)</a:t>
            </a:r>
          </a:p>
          <a:p>
            <a:pPr>
              <a:spcAft>
                <a:spcPts val="250"/>
              </a:spcAft>
              <a:defRPr sz="900">
                <a:solidFill>
                  <a:srgbClr val="0F172A"/>
                </a:solidFill>
                <a:latin typeface="Prompt"/>
              </a:defRPr>
            </a:pPr>
            <a:r>
              <a:t>• งบประมาณการตลาด ป้าย Standee QR Code และสื่อประชาสัมพันธ์ในวิทยาเขต: 6,500 บ.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56655" y="4782312"/>
            <a:ext cx="530352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29807" y="4855464"/>
            <a:ext cx="5157216" cy="25603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950" b="1">
                <a:solidFill>
                  <a:srgbClr val="FFFFFF"/>
                </a:solidFill>
                <a:latin typeface="Prompt"/>
              </a:defRPr>
            </a:pPr>
            <a:r>
              <a:t>9. Revenue Streams (กระแสรายได้)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8095" y="5129784"/>
            <a:ext cx="5120640" cy="1124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900">
                <a:solidFill>
                  <a:srgbClr val="0F172A"/>
                </a:solidFill>
                <a:latin typeface="Prompt"/>
              </a:defRPr>
            </a:pPr>
            <a:r>
              <a:t>• ค่าคอมมิชชัน GP 3-5% จากยอดคำสั่งซื้อผ่านระบบ (ต่ำกว่าแอปส่งอาหารภายนอก 6-8 เท่า)</a:t>
            </a:r>
          </a:p>
          <a:p>
            <a:pPr>
              <a:spcAft>
                <a:spcPts val="250"/>
              </a:spcAft>
              <a:defRPr sz="900">
                <a:solidFill>
                  <a:srgbClr val="0F172A"/>
                </a:solidFill>
                <a:latin typeface="Prompt"/>
              </a:defRPr>
            </a:pPr>
            <a:r>
              <a:t>• ค่าบริการสมาชิก Merchant Analytics Dashboard รายเดือนสำหรับร้านค้า (199 บ./เดือน)</a:t>
            </a:r>
          </a:p>
          <a:p>
            <a:pPr>
              <a:spcAft>
                <a:spcPts val="250"/>
              </a:spcAft>
              <a:defRPr sz="900">
                <a:solidFill>
                  <a:srgbClr val="0F172A"/>
                </a:solidFill>
                <a:latin typeface="Prompt"/>
              </a:defRPr>
            </a:pPr>
            <a:r>
              <a:t>• ค่าแบนเนอร์ประชาสัมพันธ์แนะนำร้านค้าและเมนูพิเศษใน LINE Official Account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56032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950" b="1">
                <a:solidFill>
                  <a:srgbClr val="D97706"/>
                </a:solidFill>
                <a:latin typeface="Prompt"/>
              </a:defRPr>
            </a:pPr>
            <a:r>
              <a:t>07 | MARKETING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8356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Prompt"/>
              </a:defRPr>
            </a:pPr>
            <a:r>
              <a:t>แผนผังตำแหน่งทางการตลาด: Market Positioning Map (2x2 Matrix)</a:t>
            </a:r>
          </a:p>
          <a:p>
            <a:pPr>
              <a:defRPr sz="1150">
                <a:solidFill>
                  <a:srgbClr val="475569"/>
                </a:solidFill>
                <a:latin typeface="Prompt"/>
              </a:defRPr>
            </a:pPr>
            <a:r>
              <a:t>เปรียบเทียบตำแหน่งของ Smart Queue Food กับทางเลือกอื่นในตลาด เพื่อยืนยันความได้เปรียบที่แท้จริง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Prompt"/>
              </a:defRPr>
            </a:pPr>
            <a:r>
              <a:t>080203914 ผู้ประกอบการนวัตกรรม (Innovative Technopreneurs) | มหาวิทยาลัยเทคโนโลยีพระจอมเกล้าพระนครเหนือ วิทยาเขตปราจีนบุรี</a:t>
            </a:r>
          </a:p>
          <a:p>
            <a:pPr algn="r">
              <a:defRPr sz="1000" b="1">
                <a:solidFill>
                  <a:srgbClr val="1A365D"/>
                </a:solidFill>
                <a:latin typeface="Prompt"/>
              </a:defRPr>
            </a:pPr>
            <a:r>
              <a:t>10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669280" cy="4572000"/>
          </a:xfrm>
          <a:prstGeom prst="roundRect">
            <a:avLst/>
          </a:prstGeom>
          <a:solidFill>
            <a:srgbClr val="0A192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3977640"/>
            <a:ext cx="4937760" cy="2743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66160" y="2057400"/>
            <a:ext cx="27432" cy="384048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1764792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38BDF8"/>
                </a:solidFill>
                <a:latin typeface="Prompt"/>
              </a:defRPr>
            </a:pPr>
            <a:r>
              <a:t>▲ ความสะดวกและประสิทธิภาพเวลาสูง (สั่งล่วงหน้า / รับทันที)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589788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94A3B8"/>
                </a:solidFill>
                <a:latin typeface="Prompt"/>
              </a:defRPr>
            </a:pPr>
            <a:r>
              <a:t>▼ ความสะดวกต่ำ / เสียเวลารอนาน (รอหน้าเตา 5-15 นาที)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576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Prompt"/>
              </a:defRPr>
            </a:pPr>
            <a:r>
              <a:t>◀ ราคาเท่าหน้าร้าน (ไร้ค่าส่ง)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6576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F87171"/>
                </a:solidFill>
                <a:latin typeface="Prompt"/>
              </a:defRPr>
            </a:pPr>
            <a:r>
              <a:t>มาร์กอัปสูง + ค่าส่ง 30-50 บ. ▶</a:t>
            </a:r>
          </a:p>
        </p:txBody>
      </p:sp>
      <p:sp>
        <p:nvSpPr>
          <p:cNvPr id="13" name="Oval 12"/>
          <p:cNvSpPr/>
          <p:nvPr/>
        </p:nvSpPr>
        <p:spPr>
          <a:xfrm>
            <a:off x="1828800" y="4709160"/>
            <a:ext cx="292608" cy="292608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05663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>
                <a:solidFill>
                  <a:srgbClr val="CBD5E1"/>
                </a:solidFill>
                <a:latin typeface="Prompt"/>
              </a:defRPr>
            </a:pPr>
            <a:r>
              <a:t>โรงอาหารแบบดั้งเดิม</a:t>
            </a:r>
            <a:br/>
            <a:r>
              <a:t>(ราคาถูก แต่รอนาน 5-15 นาที)</a:t>
            </a:r>
          </a:p>
        </p:txBody>
      </p:sp>
      <p:sp>
        <p:nvSpPr>
          <p:cNvPr id="15" name="Oval 14"/>
          <p:cNvSpPr/>
          <p:nvPr/>
        </p:nvSpPr>
        <p:spPr>
          <a:xfrm>
            <a:off x="4114800" y="4526280"/>
            <a:ext cx="292608" cy="292608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487375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>
                <a:solidFill>
                  <a:srgbClr val="CBD5E1"/>
                </a:solidFill>
                <a:latin typeface="Prompt"/>
              </a:defRPr>
            </a:pPr>
            <a:r>
              <a:t>ตู้คีออสฟู้ดคอร์ท</a:t>
            </a:r>
            <a:br/>
            <a:r>
              <a:t>(ต้องเดินมากดตู้ ไม่ได้สั่งล่วงหน้า)</a:t>
            </a:r>
          </a:p>
        </p:txBody>
      </p:sp>
      <p:sp>
        <p:nvSpPr>
          <p:cNvPr id="17" name="Oval 16"/>
          <p:cNvSpPr/>
          <p:nvPr/>
        </p:nvSpPr>
        <p:spPr>
          <a:xfrm>
            <a:off x="5120640" y="2697480"/>
            <a:ext cx="292608" cy="29260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0" y="2167128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>
                <a:solidFill>
                  <a:srgbClr val="FCA5A5"/>
                </a:solidFill>
                <a:latin typeface="Prompt"/>
              </a:defRPr>
            </a:pPr>
            <a:r>
              <a:t>แอปเดลิเวอรี (Grab/LINE MAN)</a:t>
            </a:r>
            <a:br/>
            <a:r>
              <a:t>(สั่งสะดวก แต่ค่าส่ง 30-50 บ.)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2075688"/>
            <a:ext cx="2377440" cy="777240"/>
          </a:xfrm>
          <a:prstGeom prst="roundRect">
            <a:avLst/>
          </a:prstGeom>
          <a:solidFill>
            <a:srgbClr val="78350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59E0B"/>
                </a:solidFill>
                <a:latin typeface="Prompt"/>
              </a:defRPr>
            </a:pPr>
            <a:r>
              <a:t>★ THE SWEET SPOT ★</a:t>
            </a:r>
          </a:p>
          <a:p>
            <a:pPr algn="ctr">
              <a:defRPr sz="800">
                <a:solidFill>
                  <a:srgbClr val="FFFFFF"/>
                </a:solidFill>
                <a:latin typeface="Prompt"/>
              </a:defRPr>
            </a:pPr>
            <a:r>
              <a:t>Smart Queue Food</a:t>
            </a:r>
            <a:br/>
            <a:r>
              <a:t>(สั่งล่วงหน้า + ไร้ค่าส่ง + คืนเวลา 100%)</a:t>
            </a:r>
          </a:p>
        </p:txBody>
      </p:sp>
      <p:sp>
        <p:nvSpPr>
          <p:cNvPr id="20" name="Oval 19"/>
          <p:cNvSpPr/>
          <p:nvPr/>
        </p:nvSpPr>
        <p:spPr>
          <a:xfrm>
            <a:off x="2011680" y="2990088"/>
            <a:ext cx="411480" cy="41148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0" y="1691640"/>
            <a:ext cx="4876495" cy="21762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1856232"/>
            <a:ext cx="4510735" cy="1847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475569"/>
                </a:solidFill>
                <a:latin typeface="Prompt"/>
              </a:defRPr>
            </a:pPr>
            <a:r>
              <a:t>[01] ทำไมแอปเดลิเวอรีทั่วไปจึงไม่ตอบโจทย์ มจพ.?</a:t>
            </a:r>
          </a:p>
          <a:p>
            <a:pPr>
              <a:spcAft>
                <a:spcPts val="400"/>
              </a:spcAft>
              <a:defRPr sz="980">
                <a:solidFill>
                  <a:srgbClr val="0F172A"/>
                </a:solidFill>
                <a:latin typeface="Prompt"/>
              </a:defRPr>
            </a:pPr>
            <a:r>
              <a:t>• ค่าส่งแพงเกินราคามื้ออาหาร: นักศึกษามีงบอาหาร 40-50 บาท/มื้อ การจ่ายค่าส่ง 30-50 บาททำให้ไม่คุ้มค่าทางเศรษฐกิจ</a:t>
            </a:r>
          </a:p>
          <a:p>
            <a:pPr>
              <a:spcAft>
                <a:spcPts val="400"/>
              </a:spcAft>
              <a:defRPr sz="980">
                <a:solidFill>
                  <a:srgbClr val="0F172A"/>
                </a:solidFill>
                <a:latin typeface="Prompt"/>
              </a:defRPr>
            </a:pPr>
            <a:r>
              <a:t>• GP ขูดรีด 30-35%: ร้านอาหารตามสั่งในโรงอาหารมหาวิทยาลัยมีมาร์จิ้นกำไรต่ำ ไม่สามารถแบกรับค่า GP 30-35% ได้</a:t>
            </a:r>
          </a:p>
          <a:p>
            <a:pPr>
              <a:spcAft>
                <a:spcPts val="400"/>
              </a:spcAft>
              <a:defRPr sz="980">
                <a:solidFill>
                  <a:srgbClr val="0F172A"/>
                </a:solidFill>
                <a:latin typeface="Prompt"/>
              </a:defRPr>
            </a:pPr>
            <a:r>
              <a:t>• ไรเดอร์ไม่ขึ้นอาคารเรียน: การส่งอาหารในวิทยาเขตมีจุดรับส่งที่จำกัด ไม่สามารถส่งถึงโต๊ะเรียนได้อย่างยืดหยุ่น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4050792"/>
            <a:ext cx="4876495" cy="21762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4215384"/>
            <a:ext cx="4510735" cy="1847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D97706"/>
                </a:solidFill>
                <a:latin typeface="Prompt"/>
              </a:defRPr>
            </a:pPr>
            <a:r>
              <a:t>[02] ความได้เปรียบเชิงกลยุทธ์ของ Smart Queue Food</a:t>
            </a:r>
          </a:p>
          <a:p>
            <a:pPr>
              <a:spcAft>
                <a:spcPts val="400"/>
              </a:spcAft>
              <a:defRPr sz="980">
                <a:solidFill>
                  <a:srgbClr val="0F172A"/>
                </a:solidFill>
                <a:latin typeface="Prompt"/>
              </a:defRPr>
            </a:pPr>
            <a:r>
              <a:t>• เข้าครอบครอง The Sweet Spot: อยู่บนจตุภาค 'สะดวกสูง แต่ไม่มีค่าใช้จ่ายส่วนเพิ่ม' ตอบโจทย์กำลังซื้อของนักศึกษา</a:t>
            </a:r>
          </a:p>
          <a:p>
            <a:pPr>
              <a:spcAft>
                <a:spcPts val="400"/>
              </a:spcAft>
              <a:defRPr sz="980">
                <a:solidFill>
                  <a:srgbClr val="0F172A"/>
                </a:solidFill>
                <a:latin typeface="Prompt"/>
              </a:defRPr>
            </a:pPr>
            <a:r>
              <a:t>• โมเดลเดินมารับเอง (Self-Pickup): ประหยัดค่าส่ง 100% เพราะนักศึกษาต้องเดินมาโรงอาหารเพื่อรับประทานอาหารอยู่แล้ว</a:t>
            </a:r>
          </a:p>
          <a:p>
            <a:pPr>
              <a:spcAft>
                <a:spcPts val="400"/>
              </a:spcAft>
              <a:defRPr sz="980">
                <a:solidFill>
                  <a:srgbClr val="0F172A"/>
                </a:solidFill>
                <a:latin typeface="Prompt"/>
              </a:defRPr>
            </a:pPr>
            <a:r>
              <a:t>• ค่าคอมมิชชันต่ำเพียง 3%: ร้านค้ายินดีเข้าร่วมเพราะช่วยเพิ่มยอดขายและไม่บั่นทอนกำไรหลักของร้าน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56032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950" b="1">
                <a:solidFill>
                  <a:srgbClr val="D97706"/>
                </a:solidFill>
                <a:latin typeface="Prompt"/>
              </a:defRPr>
            </a:pPr>
            <a:r>
              <a:t>07 | MARKETING STRATEGY (4PS)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8356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Prompt"/>
              </a:defRPr>
            </a:pPr>
            <a:r>
              <a:t>ส่วนประสมทางการตลาด: Marketing Mix 4Ps สำหรับ Smart Queue Food</a:t>
            </a:r>
          </a:p>
          <a:p>
            <a:pPr>
              <a:defRPr sz="1150">
                <a:solidFill>
                  <a:srgbClr val="475569"/>
                </a:solidFill>
                <a:latin typeface="Prompt"/>
              </a:defRPr>
            </a:pPr>
            <a:r>
              <a:t>กลยุทธ์ขับเคลื่อนการยอมรับและขยายฐานผู้ใช้ในโรงอาหารคณะ FITM และโรงอาหารกลาง มจพ. ปราจีนบุรี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Prompt"/>
              </a:defRPr>
            </a:pPr>
            <a:r>
              <a:t>080203914 ผู้ประกอบการนวัตกรรม (Innovative Technopreneurs) | มหาวิทยาลัยเทคโนโลยีพระจอมเกล้าพระนครเหนือ วิทยาเขตปราจีนบุรี</a:t>
            </a:r>
          </a:p>
          <a:p>
            <a:pPr algn="r">
              <a:defRPr sz="1000" b="1">
                <a:solidFill>
                  <a:srgbClr val="1A365D"/>
                </a:solidFill>
                <a:latin typeface="Prompt"/>
              </a:defRPr>
            </a:pPr>
            <a:r>
              <a:t>11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21762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56232"/>
            <a:ext cx="4846320" cy="1847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A365D"/>
                </a:solidFill>
                <a:latin typeface="Prompt"/>
              </a:defRPr>
            </a:pPr>
            <a:r>
              <a:t>[01] PRODUCT (ผลิตภัณฑ์และบริการนวัตกรรม)</a:t>
            </a:r>
          </a:p>
          <a:p>
            <a:pPr>
              <a:spcAft>
                <a:spcPts val="400"/>
              </a:spcAft>
              <a:defRPr sz="980">
                <a:solidFill>
                  <a:srgbClr val="0F172A"/>
                </a:solidFill>
                <a:latin typeface="Prompt"/>
              </a:defRPr>
            </a:pPr>
            <a:r>
              <a:t>• LINE LIFF Web App: ระบบสั่งอาหารล่วงหน้าผ่าน LINE เมนูภาพชัดเจน ระบุเงื่อนไขพิเศษได้แม่นยำ</a:t>
            </a:r>
          </a:p>
          <a:p>
            <a:pPr>
              <a:spcAft>
                <a:spcPts val="400"/>
              </a:spcAft>
              <a:defRPr sz="980">
                <a:solidFill>
                  <a:srgbClr val="0F172A"/>
                </a:solidFill>
                <a:latin typeface="Prompt"/>
              </a:defRPr>
            </a:pPr>
            <a:r>
              <a:t>• Kitchen Display System: จอแท็บเล็ตในครัวพร้อมอัลกอริทึม Batch Cooking รวมเมนูปรุงพร้อมกันในกระทะเดียว</a:t>
            </a:r>
          </a:p>
          <a:p>
            <a:pPr>
              <a:spcAft>
                <a:spcPts val="400"/>
              </a:spcAft>
              <a:defRPr sz="980">
                <a:solidFill>
                  <a:srgbClr val="0F172A"/>
                </a:solidFill>
                <a:latin typeface="Prompt"/>
              </a:defRPr>
            </a:pPr>
            <a:r>
              <a:t>• Just-In-Time Notification: ส่งข้อความแจ้งเตือนอัตโนมัติเมื่ออาหารปรุงเสร็จ พร้อมออกบัตรคิวดิจิทัล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691640"/>
            <a:ext cx="5212080" cy="21762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0975" y="1856232"/>
            <a:ext cx="4846320" cy="1847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D97706"/>
                </a:solidFill>
                <a:latin typeface="Prompt"/>
              </a:defRPr>
            </a:pPr>
            <a:r>
              <a:t>[02] PRICE (กลยุทธ์ราคาที่เป็นธรรมต่อทุกฝ่าย)</a:t>
            </a:r>
          </a:p>
          <a:p>
            <a:pPr>
              <a:spcAft>
                <a:spcPts val="400"/>
              </a:spcAft>
              <a:defRPr sz="980">
                <a:solidFill>
                  <a:srgbClr val="0F172A"/>
                </a:solidFill>
                <a:latin typeface="Prompt"/>
              </a:defRPr>
            </a:pPr>
            <a:r>
              <a:t>• นักศึกษาจ่ายราคาปกติ 100%: ราคาอาหารเท่าหน้าร้านทุกประการ ไม่มีบวกเพิ่ม และไม่มีค่าบริการส่งใดๆ ทั้งสิ้น</a:t>
            </a:r>
          </a:p>
          <a:p>
            <a:pPr>
              <a:spcAft>
                <a:spcPts val="400"/>
              </a:spcAft>
              <a:defRPr sz="980">
                <a:solidFill>
                  <a:srgbClr val="0F172A"/>
                </a:solidFill>
                <a:latin typeface="Prompt"/>
              </a:defRPr>
            </a:pPr>
            <a:r>
              <a:t>• ค่าคอมมิชชันร้านค้า GP 3%: เก็บเพียง 1.35 บาท จากข้าวราดแกง 45 บาท (ต่ำกว่าแอปส่งอาหารทั่วไป 10 เท่า)</a:t>
            </a:r>
          </a:p>
          <a:p>
            <a:pPr>
              <a:spcAft>
                <a:spcPts val="400"/>
              </a:spcAft>
              <a:defRPr sz="980">
                <a:solidFill>
                  <a:srgbClr val="0F172A"/>
                </a:solidFill>
                <a:latin typeface="Prompt"/>
              </a:defRPr>
            </a:pPr>
            <a:r>
              <a:t>• ฟรีค่าติดตั้งระบบเริ่มต้น: ร้านค้าไม่ต้องจ่ายค่าแรกเข้า มีแท็บเล็ตประจำร้านให้ยืมใช้งานฟรีในระยะนำร่อง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50792"/>
            <a:ext cx="5212080" cy="21762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15384"/>
            <a:ext cx="4846320" cy="1847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563EB"/>
                </a:solidFill>
                <a:latin typeface="Prompt"/>
              </a:defRPr>
            </a:pPr>
            <a:r>
              <a:t>[03] PLACE (ช่องทางการเข้าถึงและจุดส่งมอบ)</a:t>
            </a:r>
          </a:p>
          <a:p>
            <a:pPr>
              <a:spcAft>
                <a:spcPts val="400"/>
              </a:spcAft>
              <a:defRPr sz="980">
                <a:solidFill>
                  <a:srgbClr val="0F172A"/>
                </a:solidFill>
                <a:latin typeface="Prompt"/>
              </a:defRPr>
            </a:pPr>
            <a:r>
              <a:t>• ทุกที่ในวิทยาเขตผ่านสมาร์ตโฟน: เข้าถึงได้จากทุกอาคารเรียน หอพัก และห้องสมุดใน มจพ. ปราจีนบุรี</a:t>
            </a:r>
          </a:p>
          <a:p>
            <a:pPr>
              <a:spcAft>
                <a:spcPts val="400"/>
              </a:spcAft>
              <a:defRPr sz="980">
                <a:solidFill>
                  <a:srgbClr val="0F172A"/>
                </a:solidFill>
                <a:latin typeface="Prompt"/>
              </a:defRPr>
            </a:pPr>
            <a:r>
              <a:t>• จุดรับอาหารด่วนหน้าร้าน (Fast Lane): จัดแบ่งเคาน์เตอร์เฉพาะสำหรับรับอาหารกล่อง Smart Queue Food โดยไม่ต้องต่อคิว</a:t>
            </a:r>
          </a:p>
          <a:p>
            <a:pPr>
              <a:spcAft>
                <a:spcPts val="400"/>
              </a:spcAft>
              <a:defRPr sz="980">
                <a:solidFill>
                  <a:srgbClr val="0F172A"/>
                </a:solidFill>
                <a:latin typeface="Prompt"/>
              </a:defRPr>
            </a:pPr>
            <a:r>
              <a:t>• ป้าย Standee QR Code: ติดตั้งบนโต๊ะอาหารทุกโต๊ะในโรงอาหารคณะ FITM เพื่อให้สแกนเข้าสู่ระบบได้ทันที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8095" y="4050792"/>
            <a:ext cx="5212080" cy="21762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0975" y="4215384"/>
            <a:ext cx="4846320" cy="1847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0B981"/>
                </a:solidFill>
                <a:latin typeface="Prompt"/>
              </a:defRPr>
            </a:pPr>
            <a:r>
              <a:t>[04] PROMOTION (การสื่อสารและส่งเสริมการขาย)</a:t>
            </a:r>
          </a:p>
          <a:p>
            <a:pPr>
              <a:spcAft>
                <a:spcPts val="400"/>
              </a:spcAft>
              <a:defRPr sz="980">
                <a:solidFill>
                  <a:srgbClr val="0F172A"/>
                </a:solidFill>
                <a:latin typeface="Prompt"/>
              </a:defRPr>
            </a:pPr>
            <a:r>
              <a:t>• แคมเปญ 'มื้อเที่ยงติดสปีด': สื่อสารผ่านเพจสโมสรนักศึกษา FITM ชูจุดขาย 'สั่งก่อนเลิกคาบ เดินมารับได้ทันที'</a:t>
            </a:r>
          </a:p>
          <a:p>
            <a:pPr>
              <a:spcAft>
                <a:spcPts val="400"/>
              </a:spcAft>
              <a:defRPr sz="980">
                <a:solidFill>
                  <a:srgbClr val="0F172A"/>
                </a:solidFill>
                <a:latin typeface="Prompt"/>
              </a:defRPr>
            </a:pPr>
            <a:r>
              <a:t>• สิทธิพิเศษผู้ใช้ครั้งแรก: สะสมแต้มสั่งครบ 5 มื้อ รับส่วนลดมื้อถัดไป 10 บาท สนับสนุนโดยงบโปรโมชัน</a:t>
            </a:r>
          </a:p>
          <a:p>
            <a:pPr>
              <a:spcAft>
                <a:spcPts val="400"/>
              </a:spcAft>
              <a:defRPr sz="980">
                <a:solidFill>
                  <a:srgbClr val="0F172A"/>
                </a:solidFill>
                <a:latin typeface="Prompt"/>
              </a:defRPr>
            </a:pPr>
            <a:r>
              <a:t>• สื่อประชาสัมพันธ์ในลิฟต์และบอร์ดคณะ: โปสเตอร์อินโฟกราฟิกสอนวิธีสั่ง 3 ขั้นตอน เข้าใจง่ายใน 30 วินาที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56032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950" b="1">
                <a:solidFill>
                  <a:srgbClr val="D97706"/>
                </a:solidFill>
                <a:latin typeface="Prompt"/>
              </a:defRPr>
            </a:pPr>
            <a:r>
              <a:t>08 | TECHNOLOGY &amp; INNOVATION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8356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Prompt"/>
              </a:defRPr>
            </a:pPr>
            <a:r>
              <a:t>กลยุทธ์นวัตกรรม: กรอบแนวคิด 3 หมวด 10 ยุทธวิธี (Doblin's Ten Types)</a:t>
            </a:r>
          </a:p>
          <a:p>
            <a:pPr>
              <a:defRPr sz="1150">
                <a:solidFill>
                  <a:srgbClr val="475569"/>
                </a:solidFill>
                <a:latin typeface="Prompt"/>
              </a:defRPr>
            </a:pPr>
            <a:r>
              <a:t>การบูรณาการยุทธวิธีนวัตกรรมที่เรียนรู้ในบทที่ 5 เพื่อสร้างโมเดลธุรกิจที่เลียนแบบได้ยาก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Prompt"/>
              </a:defRPr>
            </a:pPr>
            <a:r>
              <a:t>080203914 ผู้ประกอบการนวัตกรรม (Innovative Technopreneurs) | มหาวิทยาลัยเทคโนโลยีพระจอมเกล้าพระนครเหนือ วิทยาเขตปราจีนบุรี</a:t>
            </a:r>
          </a:p>
          <a:p>
            <a:pPr algn="r">
              <a:defRPr sz="1000" b="1">
                <a:solidFill>
                  <a:srgbClr val="1A365D"/>
                </a:solidFill>
                <a:latin typeface="Prompt"/>
              </a:defRPr>
            </a:pPr>
            <a:r>
              <a:t>12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4290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56232"/>
            <a:ext cx="3063240" cy="4242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D97706"/>
                </a:solidFill>
                <a:latin typeface="Prompt"/>
              </a:defRPr>
            </a:pPr>
            <a:r>
              <a:t>[1] CONFIGURATION (โครงสร้างหลังบ้าน)</a:t>
            </a:r>
          </a:p>
          <a:p>
            <a:pPr>
              <a:spcAft>
                <a:spcPts val="500"/>
              </a:spcAft>
              <a:defRPr sz="950">
                <a:solidFill>
                  <a:srgbClr val="0F172A"/>
                </a:solidFill>
                <a:latin typeface="Prompt"/>
              </a:defRPr>
            </a:pPr>
            <a:r>
              <a:t>★ 1. Profit Model (โมเดลกำไร): คิด GP ต่ำพิเศษ 3-5% และรายได้โฆษณา B2B โดยไม่เก็บค่าติดตั้งเริ่มต้น ลดความลังเลของแม่ค้าในการเข้าร่วม</a:t>
            </a:r>
          </a:p>
          <a:p>
            <a:pPr>
              <a:spcAft>
                <a:spcPts val="500"/>
              </a:spcAft>
              <a:defRPr sz="950">
                <a:solidFill>
                  <a:srgbClr val="0F172A"/>
                </a:solidFill>
                <a:latin typeface="Prompt"/>
              </a:defRPr>
            </a:pPr>
            <a:r>
              <a:t>• 2. Network (เครือข่ายพันธมิตร): ร่วมมือกับฝ่ายบริหารทรัพย์สิน มจพ. ปราจีนบุรี เพื่อเชื่อมต่อร้านค้าและใช้โครงสร้างพื้นฐานมหาวิทยาลัย</a:t>
            </a:r>
          </a:p>
          <a:p>
            <a:pPr>
              <a:spcAft>
                <a:spcPts val="500"/>
              </a:spcAft>
              <a:defRPr sz="950">
                <a:solidFill>
                  <a:srgbClr val="0F172A"/>
                </a:solidFill>
                <a:latin typeface="Prompt"/>
              </a:defRPr>
            </a:pPr>
            <a:r>
              <a:t>• 3. Structure (โครงสร้างทีมงาน): บริหารทีมงานแบบ Lean New Venture Team แบ่งหน้าที่ 7 คนชัดเจน (CEO, CTO, CPO, COO, CMO, CFO, Legal)</a:t>
            </a:r>
          </a:p>
          <a:p>
            <a:pPr>
              <a:spcAft>
                <a:spcPts val="500"/>
              </a:spcAft>
              <a:defRPr sz="950">
                <a:solidFill>
                  <a:srgbClr val="0F172A"/>
                </a:solidFill>
                <a:latin typeface="Prompt"/>
              </a:defRPr>
            </a:pPr>
            <a:r>
              <a:t>★ 4. Process (กระบวนการทำงาน): หัวใจสำคัญ: อัลกอริทึมจัดกลุ่มปรุงอาหาร (Batch Cooking) บน KDS รวบรวมเมนูเดียวกันให้แม่ค้าผัดพร้อมกัน ประหยัดเวลา 40%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91640"/>
            <a:ext cx="34290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856232"/>
            <a:ext cx="3063240" cy="4242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563EB"/>
                </a:solidFill>
                <a:latin typeface="Prompt"/>
              </a:defRPr>
            </a:pPr>
            <a:r>
              <a:t>[2] OFFERING (ข้อเสนอผลิตภัณฑ์)</a:t>
            </a:r>
          </a:p>
          <a:p>
            <a:pPr>
              <a:spcAft>
                <a:spcPts val="1000"/>
              </a:spcAft>
              <a:defRPr sz="980">
                <a:solidFill>
                  <a:srgbClr val="0F172A"/>
                </a:solidFill>
                <a:latin typeface="Prompt"/>
              </a:defRPr>
            </a:pPr>
            <a:r>
              <a:t>• 5. Product Performance (ประสิทธิภาพ): ระบบประมวลผลคำสั่งซื้อบน Cloud Server รองรับคำสั่งซื้อพร้อมกัน 500 รายการแบบ Real-time โดยไม่สะดุด</a:t>
            </a:r>
          </a:p>
          <a:p>
            <a:pPr>
              <a:spcAft>
                <a:spcPts val="1000"/>
              </a:spcAft>
              <a:defRPr sz="980">
                <a:solidFill>
                  <a:srgbClr val="0F172A"/>
                </a:solidFill>
                <a:latin typeface="Prompt"/>
              </a:defRPr>
            </a:pPr>
            <a:r>
              <a:t>★ 6. Product System (ระบบผลิตภัณฑ์เสริม): หัวใจสำคัญ: สถาปัตยกรรมแบบคู่ขนาน (Dual-End Integration) ผสานฝั่งผู้ใช้ (LINE LIFF) และฝั่งผู้ประกอบการ (KDS Tablet) เข้าด้วยกันอย่างสมบูรณ์แบบ ส่งผ่านข้อมูลออเดอร์และสถานะคิวแบบไร้รอยต่อ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691640"/>
            <a:ext cx="34290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3024" y="1856232"/>
            <a:ext cx="3063240" cy="4242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0B981"/>
                </a:solidFill>
                <a:latin typeface="Prompt"/>
              </a:defRPr>
            </a:pPr>
            <a:r>
              <a:t>[3] EXPERIENCE (ประสบการณ์ลูกค้า)</a:t>
            </a:r>
          </a:p>
          <a:p>
            <a:pPr>
              <a:spcAft>
                <a:spcPts val="500"/>
              </a:spcAft>
              <a:defRPr sz="950">
                <a:solidFill>
                  <a:srgbClr val="0F172A"/>
                </a:solidFill>
                <a:latin typeface="Prompt"/>
              </a:defRPr>
            </a:pPr>
            <a:r>
              <a:t>★ 7. Service (การให้บริการเสริม): ส่งข้อความ Push Notification แจ้งเตือนแบบ Just-In-Time และระบบ Dynamic PromptPay QR ชำระเงินไร้สัมผัสใน 3 วินาที</a:t>
            </a:r>
          </a:p>
          <a:p>
            <a:pPr>
              <a:spcAft>
                <a:spcPts val="500"/>
              </a:spcAft>
              <a:defRPr sz="950">
                <a:solidFill>
                  <a:srgbClr val="0F172A"/>
                </a:solidFill>
                <a:latin typeface="Prompt"/>
              </a:defRPr>
            </a:pPr>
            <a:r>
              <a:t>★ 8. Channel (ช่องทางส่งมอบ): ให้บริการผ่าน LINE Official Account โดยไม่ต้องติดตั้งแอปพลิเคชัน ลดอุปสรรคการเข้าใช้งาน (Zero Friction)</a:t>
            </a:r>
          </a:p>
          <a:p>
            <a:pPr>
              <a:spcAft>
                <a:spcPts val="500"/>
              </a:spcAft>
              <a:defRPr sz="950">
                <a:solidFill>
                  <a:srgbClr val="0F172A"/>
                </a:solidFill>
                <a:latin typeface="Prompt"/>
              </a:defRPr>
            </a:pPr>
            <a:r>
              <a:t>• 9. Brand (การสร้างแบรนด์): วางตำแหน่ง Smart Queue Food เป็น 'นวัตกรรมเพื่อคุณภาพชีวิตชาว มจพ. ปราจีนบุรี'</a:t>
            </a:r>
          </a:p>
          <a:p>
            <a:pPr>
              <a:spcAft>
                <a:spcPts val="500"/>
              </a:spcAft>
              <a:defRPr sz="950">
                <a:solidFill>
                  <a:srgbClr val="0F172A"/>
                </a:solidFill>
                <a:latin typeface="Prompt"/>
              </a:defRPr>
            </a:pPr>
            <a:r>
              <a:t>• 10. Customer Engagement (ความผูกพัน): ระบบสะสมแต้มแลกมื้ออาหารฟรี และระบบให้คะแนนรีวิวร้านค้า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56032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950" b="1">
                <a:solidFill>
                  <a:srgbClr val="D97706"/>
                </a:solidFill>
                <a:latin typeface="Prompt"/>
              </a:defRPr>
            </a:pPr>
            <a:r>
              <a:t>09 | RISK MANAGEMENT &amp;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8356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Prompt"/>
              </a:defRPr>
            </a:pPr>
            <a:r>
              <a:t>การวิเคราะห์และบริหารจัดการความเสี่ยง: 4 ด้านสำคัญเชิงรุก</a:t>
            </a:r>
          </a:p>
          <a:p>
            <a:pPr>
              <a:defRPr sz="1150">
                <a:solidFill>
                  <a:srgbClr val="475569"/>
                </a:solidFill>
                <a:latin typeface="Prompt"/>
              </a:defRPr>
            </a:pPr>
            <a:r>
              <a:t>ประเมินอุปสรรคที่อาจเกิดขึ้นในสภาพแวดล้อมจริง พร้อมวางมาตรการลดความเสี่ยงอย่างเป็นรูปธรรม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Prompt"/>
              </a:defRPr>
            </a:pPr>
            <a:r>
              <a:t>080203914 ผู้ประกอบการนวัตกรรม (Innovative Technopreneurs) | มหาวิทยาลัยเทคโนโลยีพระจอมเกล้าพระนครเหนือ วิทยาเขตปราจีนบุรี</a:t>
            </a:r>
          </a:p>
          <a:p>
            <a:pPr algn="r">
              <a:defRPr sz="1000" b="1">
                <a:solidFill>
                  <a:srgbClr val="1A365D"/>
                </a:solidFill>
                <a:latin typeface="Prompt"/>
              </a:defRPr>
            </a:pPr>
            <a:r>
              <a:t>13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21762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56232"/>
            <a:ext cx="4846320" cy="1847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A365D"/>
                </a:solidFill>
                <a:latin typeface="Prompt"/>
              </a:defRPr>
            </a:pPr>
            <a:r>
              <a:t>[01] ด้านเทคโนโลยีและระบบเครือข่าย (Tech Risk)</a:t>
            </a:r>
          </a:p>
          <a:p>
            <a:pPr>
              <a:spcAft>
                <a:spcPts val="400"/>
              </a:spcAft>
              <a:defRPr sz="980">
                <a:solidFill>
                  <a:srgbClr val="0F172A"/>
                </a:solidFill>
                <a:latin typeface="Prompt"/>
              </a:defRPr>
            </a:pPr>
            <a:r>
              <a:t>• ความเสี่ยง: สัญญาณอินเทอร์เน็ตโรงอาหารขัดข้อง ส่งผลให้หน้าจอ KDS ในครัวไม่ได้รับออเดอร์แบบเรียลไทม์</a:t>
            </a:r>
          </a:p>
          <a:p>
            <a:pPr>
              <a:spcAft>
                <a:spcPts val="400"/>
              </a:spcAft>
              <a:defRPr sz="980">
                <a:solidFill>
                  <a:srgbClr val="0F172A"/>
                </a:solidFill>
                <a:latin typeface="Prompt"/>
              </a:defRPr>
            </a:pPr>
            <a:r>
              <a:t>• มาตรการแก้ไข (Mitigation): ติดตั้งอุปกรณ์ 4G/5G Cellular Backup Dongle ประจำแท็บเล็ตทุกเครื่อง พร้อมระบบ Local Cache ในแอปเพื่อเก็บข้อมูลออฟไลน์ชั่วคราว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691640"/>
            <a:ext cx="5212080" cy="21762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0975" y="1856232"/>
            <a:ext cx="4846320" cy="1847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D97706"/>
                </a:solidFill>
                <a:latin typeface="Prompt"/>
              </a:defRPr>
            </a:pPr>
            <a:r>
              <a:t>[02] ด้านการยอมรับของผู้ใช้และร้านค้า (Market Risk)</a:t>
            </a:r>
          </a:p>
          <a:p>
            <a:pPr>
              <a:spcAft>
                <a:spcPts val="400"/>
              </a:spcAft>
              <a:defRPr sz="980">
                <a:solidFill>
                  <a:srgbClr val="0F172A"/>
                </a:solidFill>
                <a:latin typeface="Prompt"/>
              </a:defRPr>
            </a:pPr>
            <a:r>
              <a:t>• ความเสี่ยง: แม่ค้าไม่คุ้นเคยกับเทคโนโลยี รู้สึกกังวลกับการใช้แท็บเล็ตและเกรงว่าจะทำให้การทำงานช้าลง</a:t>
            </a:r>
          </a:p>
          <a:p>
            <a:pPr>
              <a:spcAft>
                <a:spcPts val="400"/>
              </a:spcAft>
              <a:defRPr sz="980">
                <a:solidFill>
                  <a:srgbClr val="0F172A"/>
                </a:solidFill>
                <a:latin typeface="Prompt"/>
              </a:defRPr>
            </a:pPr>
            <a:r>
              <a:t>• มาตรการแก้ไข (Mitigation): ออกแบบ UI ปุ่มสัมผัสขนาดใหญ่ แตะปุ่มเดียว และส่งทีมงานประกบฝึกอบรมแบบ 1-on-1 หน้าร้านตลอด 2 สัปดาห์แรกของการนำร่อง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50792"/>
            <a:ext cx="5212080" cy="21762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15384"/>
            <a:ext cx="4846320" cy="1847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0B981"/>
                </a:solidFill>
                <a:latin typeface="Prompt"/>
              </a:defRPr>
            </a:pPr>
            <a:r>
              <a:t>[03] ด้านการเงินและออเดอร์ผี (Financial Risk)</a:t>
            </a:r>
          </a:p>
          <a:p>
            <a:pPr>
              <a:spcAft>
                <a:spcPts val="400"/>
              </a:spcAft>
              <a:defRPr sz="980">
                <a:solidFill>
                  <a:srgbClr val="0F172A"/>
                </a:solidFill>
                <a:latin typeface="Prompt"/>
              </a:defRPr>
            </a:pPr>
            <a:r>
              <a:t>• ความเสี่ยง: ลูกค้าสั่งอาหารแล้วไม่มารับ (No-Show) ทำให้ร้านค้าสูญเสียต้นทุนวัตถุดิบและเสียเวลาประกอบอาหาร</a:t>
            </a:r>
          </a:p>
          <a:p>
            <a:pPr>
              <a:spcAft>
                <a:spcPts val="400"/>
              </a:spcAft>
              <a:defRPr sz="980">
                <a:solidFill>
                  <a:srgbClr val="0F172A"/>
                </a:solidFill>
                <a:latin typeface="Prompt"/>
              </a:defRPr>
            </a:pPr>
            <a:r>
              <a:t>• มาตรการแก้ไข (Mitigation): บังคับชำระเงินดิจิทัล 100% ล่วงหน้าผ่าน PromptPay ก่อนส่งออเดอร์เข้าครัว คุ้มครองรายได้ของร้านค้าทุกจานอย่างสมบูรณ์แบบ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8095" y="4050792"/>
            <a:ext cx="5212080" cy="21762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0975" y="4215384"/>
            <a:ext cx="4846320" cy="1847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563EB"/>
                </a:solidFill>
                <a:latin typeface="Prompt"/>
              </a:defRPr>
            </a:pPr>
            <a:r>
              <a:t>[04] ด้านสุขอนามัยและกฎหมายคุ้มครองข้อมูล (Legal &amp; Health)</a:t>
            </a:r>
          </a:p>
          <a:p>
            <a:pPr>
              <a:spcAft>
                <a:spcPts val="400"/>
              </a:spcAft>
              <a:defRPr sz="980">
                <a:solidFill>
                  <a:srgbClr val="0F172A"/>
                </a:solidFill>
                <a:latin typeface="Prompt"/>
              </a:defRPr>
            </a:pPr>
            <a:r>
              <a:t>• ความเสี่ยง: การจัดเก็บข้อมูลผู้ใช้และมาตรฐานสุขอนามัย ความกังวลเรื่องข้อมูลเบอร์โทรศัพท์ และความสะอาดของอาหาร</a:t>
            </a:r>
          </a:p>
          <a:p>
            <a:pPr>
              <a:spcAft>
                <a:spcPts val="400"/>
              </a:spcAft>
              <a:defRPr sz="980">
                <a:solidFill>
                  <a:srgbClr val="0F172A"/>
                </a:solidFill>
                <a:latin typeface="Prompt"/>
              </a:defRPr>
            </a:pPr>
            <a:r>
              <a:t>• มาตรการแก้ไข (Mitigation): ปฏิบัติตาม พ.ร.บ. คุ้มครองข้อมูลส่วนบุคคล (PDPA) เข้ารหัสข้อมูล HTTPS และจัดทำจุดรับอาหาร Fast Lane มีฝาครอบมิดชิด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56032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950" b="1">
                <a:solidFill>
                  <a:srgbClr val="D97706"/>
                </a:solidFill>
                <a:latin typeface="Prompt"/>
              </a:defRPr>
            </a:pPr>
            <a:r>
              <a:t>10 | FINANCIAL 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8356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Prompt"/>
              </a:defRPr>
            </a:pPr>
            <a:r>
              <a:t>การวิเคราะห์ความเป็นไปได้ทางการเงิน: จุดคุ้มทุนภายใน 4.2 เดือน</a:t>
            </a:r>
          </a:p>
          <a:p>
            <a:pPr>
              <a:defRPr sz="1150">
                <a:solidFill>
                  <a:srgbClr val="475569"/>
                </a:solidFill>
                <a:latin typeface="Prompt"/>
              </a:defRPr>
            </a:pPr>
            <a:r>
              <a:t>โครงสร้างการลงทุนต่ำแบบ Asset-Light Model คืนทุนเร็ว และสร้างความยั่งยืนทางการเงิน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Prompt"/>
              </a:defRPr>
            </a:pPr>
            <a:r>
              <a:t>080203914 ผู้ประกอบการนวัตกรรม (Innovative Technopreneurs) | มหาวิทยาลัยเทคโนโลยีพระจอมเกล้าพระนครเหนือ วิทยาเขตปราจีนบุรี</a:t>
            </a:r>
          </a:p>
          <a:p>
            <a:pPr algn="r">
              <a:defRPr sz="1000" b="1">
                <a:solidFill>
                  <a:srgbClr val="1A365D"/>
                </a:solidFill>
                <a:latin typeface="Prompt"/>
              </a:defRPr>
            </a:pPr>
            <a:r>
              <a:t>14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4290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1801368"/>
            <a:ext cx="3209544" cy="256032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Prompt"/>
              </a:defRPr>
            </a:pPr>
            <a:r>
              <a:t>เงินลงทุนเริ่มต้น (INITIAL CAPEX)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3154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Prompt"/>
              </a:defRPr>
            </a:pPr>
            <a:r>
              <a:t>28,500 บาท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19">
                <a:solidFill>
                  <a:srgbClr val="0F172A"/>
                </a:solidFill>
                <a:latin typeface="Prompt"/>
              </a:defRPr>
            </a:pPr>
            <a:r>
              <a:t>• แท็บเล็ต KDS 3 เครื่อง: 18,000 บ. (จอ 10 นิ้ว พร้อมแท่นวาง)</a:t>
            </a:r>
          </a:p>
          <a:p>
            <a:pPr>
              <a:spcAft>
                <a:spcPts val="200"/>
              </a:spcAft>
              <a:defRPr sz="919">
                <a:solidFill>
                  <a:srgbClr val="0F172A"/>
                </a:solidFill>
                <a:latin typeface="Prompt"/>
              </a:defRPr>
            </a:pPr>
            <a:r>
              <a:t>• สื่อประชาสัมพันธ์ &amp; ป้าย Standee QR: 6,500 บ.</a:t>
            </a:r>
          </a:p>
          <a:p>
            <a:pPr>
              <a:spcAft>
                <a:spcPts val="200"/>
              </a:spcAft>
              <a:defRPr sz="919">
                <a:solidFill>
                  <a:srgbClr val="0F172A"/>
                </a:solidFill>
                <a:latin typeface="Prompt"/>
              </a:defRPr>
            </a:pPr>
            <a:r>
              <a:t>• ค่าจดทะเบียนและสำรองระบบ: 4,000 บ.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91640"/>
            <a:ext cx="34290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60" y="1801368"/>
            <a:ext cx="3209544" cy="25603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Prompt"/>
              </a:defRPr>
            </a:pPr>
            <a:r>
              <a:t>ค่าใช้จ่ายดำเนินงาน (MONTHLY OPEX)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103120"/>
            <a:ext cx="3154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97706"/>
                </a:solidFill>
                <a:latin typeface="Prompt"/>
              </a:defRPr>
            </a:pPr>
            <a:r>
              <a:t>3,200 บาท/ด.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74320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19">
                <a:solidFill>
                  <a:srgbClr val="0F172A"/>
                </a:solidFill>
                <a:latin typeface="Prompt"/>
              </a:defRPr>
            </a:pPr>
            <a:r>
              <a:t>• ค่าบริการ Cloud Hosting &amp; Database: 1,800 บ./ด.</a:t>
            </a:r>
          </a:p>
          <a:p>
            <a:pPr>
              <a:spcAft>
                <a:spcPts val="200"/>
              </a:spcAft>
              <a:defRPr sz="919">
                <a:solidFill>
                  <a:srgbClr val="0F172A"/>
                </a:solidFill>
                <a:latin typeface="Prompt"/>
              </a:defRPr>
            </a:pPr>
            <a:r>
              <a:t>• ค่าแพ็กเกจ LINE Messaging API: 1,200 บ./ด.</a:t>
            </a:r>
          </a:p>
          <a:p>
            <a:pPr>
              <a:spcAft>
                <a:spcPts val="200"/>
              </a:spcAft>
              <a:defRPr sz="919">
                <a:solidFill>
                  <a:srgbClr val="0F172A"/>
                </a:solidFill>
                <a:latin typeface="Prompt"/>
              </a:defRPr>
            </a:pPr>
            <a:r>
              <a:t>• ค่าบำรุงรักษาฮาร์ดแวร์สำรอง: 200 บ./ด.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691640"/>
            <a:ext cx="34290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19872" y="1801368"/>
            <a:ext cx="3209544" cy="25603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Prompt"/>
              </a:defRPr>
            </a:pPr>
            <a:r>
              <a:t>ระยะเวลาคืนทุน (PAYBACK PERIOD)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7304" y="2103120"/>
            <a:ext cx="3154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  <a:latin typeface="Prompt"/>
              </a:defRPr>
            </a:pPr>
            <a:r>
              <a:t>4.2 เดือน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74320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19">
                <a:solidFill>
                  <a:srgbClr val="0F172A"/>
                </a:solidFill>
                <a:latin typeface="Prompt"/>
              </a:defRPr>
            </a:pPr>
            <a:r>
              <a:t>• ประเมินยอดขายระยะนำร่อง 400 ออเดอร์/วัน (3 ร้าน)</a:t>
            </a:r>
          </a:p>
          <a:p>
            <a:pPr>
              <a:spcAft>
                <a:spcPts val="200"/>
              </a:spcAft>
              <a:defRPr sz="919">
                <a:solidFill>
                  <a:srgbClr val="0F172A"/>
                </a:solidFill>
                <a:latin typeface="Prompt"/>
              </a:defRPr>
            </a:pPr>
            <a:r>
              <a:t>• รายได้ GP 3%: 540 บ./วัน = 10,800 บ./เดือน</a:t>
            </a:r>
          </a:p>
          <a:p>
            <a:pPr>
              <a:spcAft>
                <a:spcPts val="200"/>
              </a:spcAft>
              <a:defRPr sz="919">
                <a:solidFill>
                  <a:srgbClr val="0F172A"/>
                </a:solidFill>
                <a:latin typeface="Prompt"/>
              </a:defRPr>
            </a:pPr>
            <a:r>
              <a:t>• กำไรสุทธิ 7,600 บ./เดือน คืนทุน CAPEX ใน 4.2 เดือน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31920"/>
            <a:ext cx="10728655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96512"/>
            <a:ext cx="10362895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A365D"/>
                </a:solidFill>
                <a:latin typeface="Prompt"/>
              </a:defRPr>
            </a:pPr>
            <a:r>
              <a:t>[วิเคราะห์] โครงสร้างความคุ้มค่าทางการเงินและการเติบโต (Financial Feasibility &amp; Scale Economics)</a:t>
            </a:r>
          </a:p>
          <a:p>
            <a:pPr>
              <a:spcAft>
                <a:spcPts val="350"/>
              </a:spcAft>
              <a:defRPr sz="980">
                <a:solidFill>
                  <a:srgbClr val="0F172A"/>
                </a:solidFill>
                <a:latin typeface="Prompt"/>
              </a:defRPr>
            </a:pPr>
            <a:r>
              <a:t>• โครงสร้างต้นทุนต่ำพิเศษ (Asset-Light Model): เนื่องจากเราใช้โครงสร้างพื้นฐานเดิมของ LINE และใช้อุปกรณ์แท็บเล็ตมาตรฐาน ทำให้ต้นทุนเริ่มต้นต่ำเพียง 28,500 บาท และไม่มีค่าใช้จ่ายเซิร์ฟเวอร์ราคาแพง</a:t>
            </a:r>
          </a:p>
          <a:p>
            <a:pPr>
              <a:spcAft>
                <a:spcPts val="350"/>
              </a:spcAft>
              <a:defRPr sz="980">
                <a:solidFill>
                  <a:srgbClr val="0F172A"/>
                </a:solidFill>
                <a:latin typeface="Prompt"/>
              </a:defRPr>
            </a:pPr>
            <a:r>
              <a:t>• ประมาณการความสามารถในการทำกำไร (Profitability): ในระยะนำร่อง 3 ร้านค้า หากมีคำสั่งซื้อเพียง 400 รายการ/วัน ระบบจะมีกำไรจากการดำเนินงานสุทธิหลังหัก OPEX ประมาณ 7,600 บาท/เดือน</a:t>
            </a:r>
          </a:p>
          <a:p>
            <a:pPr>
              <a:spcAft>
                <a:spcPts val="350"/>
              </a:spcAft>
              <a:defRPr sz="980">
                <a:solidFill>
                  <a:srgbClr val="0F172A"/>
                </a:solidFill>
                <a:latin typeface="Prompt"/>
              </a:defRPr>
            </a:pPr>
            <a:r>
              <a:t>• การขยายตัวทางการเงินในเฟส 2 (Scale Economics): เมื่อขยายผลสู่โรงอาหารกลางครอบคลุม 10-15 ร้านค้า ยอดคำสั่งซื้อจะเพิ่มขึ้นเป็น 1,500-2,000 รายการ/วัน สร้างกระแสเงินสดสุทธิกว่า 35,000 บาท/เดือน</a:t>
            </a:r>
          </a:p>
          <a:p>
            <a:pPr>
              <a:spcAft>
                <a:spcPts val="350"/>
              </a:spcAft>
              <a:defRPr sz="980">
                <a:solidFill>
                  <a:srgbClr val="0F172A"/>
                </a:solidFill>
                <a:latin typeface="Prompt"/>
              </a:defRPr>
            </a:pPr>
            <a:r>
              <a:t>• ความยั่งยืนทางการเงิน: รายได้ส่วนหนึ่งจะถูกจัดสรรเป็นกองทุนบำรุงรักษาอุปกรณ์ฮาร์ดแวร์และสนับสนุนทุนการศึกษาหรือกิจกรรมของคณะ FITM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5603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950" b="1">
                <a:solidFill>
                  <a:srgbClr val="F59E0B"/>
                </a:solidFill>
                <a:latin typeface="Prompt"/>
              </a:defRPr>
            </a:pPr>
            <a:r>
              <a:t>10 | EXECUTIVE SUMMARY &amp; 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8356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Prompt"/>
              </a:defRPr>
            </a:pPr>
            <a:r>
              <a:t>บทสรุปผู้บริหาร: ยกระดับโรงอาหาร มจพ. ปราจีนบุรี และข้อเสนอนำร่อง 3 ร้านค้า</a:t>
            </a:r>
          </a:p>
          <a:p>
            <a:pPr>
              <a:defRPr sz="1150">
                <a:solidFill>
                  <a:srgbClr val="94A3B8"/>
                </a:solidFill>
                <a:latin typeface="Prompt"/>
              </a:defRPr>
            </a:pPr>
            <a:r>
              <a:t>สรุปคุณค่าหลัก 3 ประการ และข้อเสนอเริ่มโครงการนำร่องในโรงอาหารคณะ FITM (พร้อมเริ่มใน 60 วัน)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Prompt"/>
              </a:defRPr>
            </a:pPr>
            <a:r>
              <a:t>080203914 ผู้ประกอบการนวัตกรรม (Innovative Technopreneurs) | มหาวิทยาลัยเทคโนโลยีพระจอมเกล้าพระนครเหนือ วิทยาเขตปราจีนบุรี</a:t>
            </a:r>
          </a:p>
          <a:p>
            <a:pPr algn="r">
              <a:defRPr sz="1000" b="1">
                <a:solidFill>
                  <a:srgbClr val="F59E0B"/>
                </a:solidFill>
                <a:latin typeface="Prompt"/>
              </a:defRPr>
            </a:pPr>
            <a:r>
              <a:t>15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42900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1801368"/>
            <a:ext cx="3209544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Prompt"/>
              </a:defRPr>
            </a:pPr>
            <a:r>
              <a:t>[01] ประหยัดเวลาผู้ใช้บริการ 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3154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Prompt"/>
              </a:defRPr>
            </a:pPr>
            <a:r>
              <a:t>• ลดเวลารอคอย 5-10 นาที: เปลี่ยนเวลาที่ต้องยืนรอหน้าเตาให้กลายเป็นเวลาพักผ่อนและการเดินทางอย่างผ่อนคลาย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Prompt"/>
              </a:defRPr>
            </a:pPr>
            <a:r>
              <a:t>• เข้าถึงสะดวกผ่าน LINE: ไม่ต้องดาวน์โหลดแอปใหม่ ใช้งานได้ทันทีบนสมาร์ตโฟนของนักศึกษาทุกคน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Prompt"/>
              </a:defRPr>
            </a:pPr>
            <a:r>
              <a:t>• ความแม่นยำของคำสั่งซื้อ: ได้รับประทานอาหารตรงตามเมนูและเงื่อนไขพิเศษที่ต้องการ 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691640"/>
            <a:ext cx="342900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80560" y="1801368"/>
            <a:ext cx="3209544" cy="29260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Prompt"/>
              </a:defRPr>
            </a:pPr>
            <a:r>
              <a:t>[02] เพิ่มผลผลิตครัว +40%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2148840"/>
            <a:ext cx="3154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Prompt"/>
              </a:defRPr>
            </a:pPr>
            <a:r>
              <a:t>• Batch Cooking Optimization: อัลกอริทึมจัดกลุ่มเมนูเดียวกันให้แม่ค้าปรุงพร้อมกันได้ 3-4 จานในคราวเดียว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Prompt"/>
              </a:defRPr>
            </a:pPr>
            <a:r>
              <a:t>• จัดระเบียบคิวเป็นระบบ: หน้าจอ KDS แสดงลำดับคำสั่งซื้อชัดเจน หมดปัญหาการจดกระดาษตกหล่นหรือสลับคิว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Prompt"/>
              </a:defRPr>
            </a:pPr>
            <a:r>
              <a:t>• เพิ่มรายได้ให้ร้านค้า: รองรับจำนวนคำสั่งซื้อช่วงพักเที่ยงได้เพิ่มขึ้น 20-30% ต่อวัน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691640"/>
            <a:ext cx="342900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19872" y="1801368"/>
            <a:ext cx="3209544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Prompt"/>
              </a:defRPr>
            </a:pPr>
            <a:r>
              <a:t>[03] ยกระดับสุขอนามัยอาหาร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7304" y="2148840"/>
            <a:ext cx="3154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Prompt"/>
              </a:defRPr>
            </a:pPr>
            <a:r>
              <a:t>• ชำระเงินดิจิทัลไร้สัมผัส 100%: ตัดขั้นตอนการสลับมือสัมผัสเงินสดขณะประกอบอาหารของแม่ค้า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Prompt"/>
              </a:defRPr>
            </a:pPr>
            <a:r>
              <a:t>• Dynamic PromptPay QR: ตรวจสอบยอดเงินอัตโนมัติ ไม่ต้องเสียเวลาหยิบโทรศัพท์มาตรวจสลิป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Prompt"/>
              </a:defRPr>
            </a:pPr>
            <a:r>
              <a:t>• สอดคล้องมาตรฐานสุขาภิบาล: ยกระดับภาพลักษณ์ด้านสุขอนามัยของโรงอาหารมหาวิทยาลัย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43400"/>
            <a:ext cx="10728655" cy="16916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spcAft>
                <a:spcPts val="600"/>
              </a:spcAft>
              <a:defRPr sz="1200" b="1">
                <a:solidFill>
                  <a:srgbClr val="92400E"/>
                </a:solidFill>
                <a:latin typeface="Prompt"/>
              </a:defRPr>
            </a:pPr>
            <a:r>
              <a:t>ข้อเสนอขอรับการสนับสนุนเพื่อเริ่มโครงการนำร่อง (Actionable Project Proposal)</a:t>
            </a:r>
          </a:p>
          <a:p>
            <a:pPr>
              <a:spcAft>
                <a:spcPts val="300"/>
              </a:spcAft>
              <a:defRPr sz="980">
                <a:solidFill>
                  <a:srgbClr val="451A03"/>
                </a:solidFill>
                <a:latin typeface="Prompt"/>
              </a:defRPr>
            </a:pPr>
            <a:r>
              <a:t>• 1. ขออนุมัติพื้นที่ดำเนินโครงการนำร่อง (Pilot Approval): ขออนุมัติติดตั้งแท็บเล็ต KDS ในโรงอาหารคณะ FITM จำนวน 3 ร้านค้า เพื่อเริ่มทดสอบกระบวนการจริง</a:t>
            </a:r>
          </a:p>
          <a:p>
            <a:pPr>
              <a:spcAft>
                <a:spcPts val="300"/>
              </a:spcAft>
              <a:defRPr sz="980">
                <a:solidFill>
                  <a:srgbClr val="451A03"/>
                </a:solidFill>
                <a:latin typeface="Prompt"/>
              </a:defRPr>
            </a:pPr>
            <a:r>
              <a:t>• 2. ขอรับการสนับสนุนช่องทางสื่อประชาสัมพันธ์: ขอความอนุเคราะห์ติดตั้งป้าย Standee QR Code บนโต๊ะอาหาร และประชาสัมพันธ์ผ่านเพจสโมสรนักศึกษา FITM</a:t>
            </a:r>
          </a:p>
          <a:p>
            <a:pPr>
              <a:spcAft>
                <a:spcPts val="300"/>
              </a:spcAft>
              <a:defRPr sz="980">
                <a:solidFill>
                  <a:srgbClr val="451A03"/>
                </a:solidFill>
                <a:latin typeface="Prompt"/>
              </a:defRPr>
            </a:pPr>
            <a:r>
              <a:t>• 3. ความพร้อมในการปฏิบัติงานทันที: ทีมพัฒนานวัตกรรมทั้ง 7 คน มีความพร้อมด้านระบบซอฟต์แวร์ 100% พร้อมเริ่มทดสอบระบบนำร่องภายใน 60 วัน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