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(0:00 - 1:00 นาที):</a:t>
            </a:r>
          </a:p>
          <a:p>
            <a:r>
              <a:t>กราบเรียนอาจารย์ผู้สอนและสวัสดีเพื่อนๆ ทุกคนครับ กลุ่ม “พี่หล่อไหมน้องงงง” ขอเสนอโครงการธุรกิจนวัตกรรม “Smart Queue Food: ระบบสั่งอาหารและจัดการคิวอัจฉริยะในโรงอาหารมหาวิทยาลัยผ่าน LINE Official Account” ซึ่งได้รับการพัฒนาขึ้นเพื่อแก้ไขปัญหาความแออัดและการรอคอยคิวนานในโรงอาหาร มจพ.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(1:00 - 2:00 นาที):</a:t>
            </a:r>
          </a:p>
          <a:p>
            <a:r>
              <a:t>ทุกท่านคงทราบดีว่าทุกเที่ยงในโรงอาหาร มจพ. จะเกิดปัญหาคิวยาวมาก นักศึกษาต้องรออาหารเฉลี่ย 20 ถึง 30 นาที พื้นที่โรงอาหารแออัด โต๊ะนั่งไม่พอ และฝั่งแม่ค้าเองก็จดออเดอร์ไม่ทัน ทำอาหารสลับคิว นี่คือปัญหาที่เกิดขึ้นซ้ำๆ ทุกวันและจำเป็นต้องได้รับการแก้ไขด้วยนวัตกรรมครับ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(2:00 - 3:00 นาที):</a:t>
            </a:r>
          </a:p>
          <a:p>
            <a:r>
              <a:t>คำตอบของเราคือ Smart Queue Food ซึ่งเป็นระบบสั่งอาหารและจัดการคิวบน LINE Official Account ที่ทุกคนมีอยู่ในสมาร์ตโฟนอยู่แล้ว นักศึกษาสามารถสั่งอาหารล่วงหน้า จ่ายเงิน PromptPay และรอรับการแจ้งเตือนเมื่ออาหารเสร็จ ลดระยะเวลาการรอคอยลงได้ถึง 70%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(3:00 - 4:00 นาที):</a:t>
            </a:r>
          </a:p>
          <a:p>
            <a:r>
              <a:t>กระบวนการทำงานมี 4 ขั้นตอนสั้นๆ: สั่งเมนูผ่าน LINE, สแกนจ่ายเงิน PromptPay, รับบัตรคิวดูเวลานับถอยหลัง, และเดินไปรับอาหารทันทีเมื่อได้รับการแจ้งเตือน ใช้เวลาสั่งเพียง 1 นาทีครับ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(4:00 - 4:45 นาที):</a:t>
            </a:r>
          </a:p>
          <a:p>
            <a:r>
              <a:t>นี่คือหน้าจอ UI Prototype ที่ออกแบบขึ้น หน้าจอ 1 คือการเลือกร้านและเมนู, หน้าจอ 2 คือการชำระเงิน PromptPay QR, หน้าจอ 3 คือบัตรคิวดิจิทัล และหน้าจอ 4 สำคัญมากครับ คือหน้าจอ Kitchen Display System สำหรับแม่ค้า ซึ่งมีปุ่มกดขนาดใหญ่ ใช้งานง่าย ไม่ซับซ้อนครับ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(4:45 - 5:30 นาที):</a:t>
            </a:r>
          </a:p>
          <a:p>
            <a:r>
              <a:t>สถาปัตยกรรมระบบเป็นแบบ Microservices 4 ชั้น ชั้นหน้าบ้านทำงานบน LINE LIFF ผ่าน LINE Login ชั้นตรรกะมี Smart Queue Engine และระบบตรวจสลิป และชั้นข้อมูลใช้ Redis In-memory Cache เพื่อความรวดเร็วในการประมวลผลคิวในระดับมิลลิวินาทีครับ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(5:30 - 6:15 นาที):</a:t>
            </a:r>
          </a:p>
          <a:p>
            <a:r>
              <a:t>กลุ่มเป้าหมายของเราเป็นแบบ Two-Sided Market คือฝั่งผู้บริโภค ได้แก่ นักศึกษาและอาจารย์ และฝั่งผู้ประกอบการ คือร้านค้าในโรงอาหาร ซึ่งทั้งสองฝ่ายได้รับประโยชน์ร่วมกันอย่างชัดเจนครับ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(6:15 - 7:15 นาที):</a:t>
            </a:r>
          </a:p>
          <a:p>
            <a:r>
              <a:t>นี่คือหัวใจสำคัญของโครงการ คือ Business Model Canvas ทั้ง 9 ช่อง ที่พัฒนาต่อยอดมาจากภาพสเก็ตช์โปสเตอร์ โครงสร้างรายได้ของเรายุติธรรมมาก คิดค่า GP เพียง 3-5% ร่วมกับค่าสมาชิกรายงานสถิติ และคุณค่าหลักคือการประหยัดเวลาและลดความแออัดในโรงอาหารครับ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(7:15 - 8:00 นาที):</a:t>
            </a:r>
          </a:p>
          <a:p>
            <a:r>
              <a:t>จากแผนภาพ Positioning Map ระบบของเราอยู่ในจุดที่มีคุณค่าสูงสุด คือสะดวกมากเพราะเข้าผ่าน LINE ได้ทันที และราคาประหยัดเพราะไม่มีการบวกราคาอาหารเพิ่มเหมือนแอปเดลิเวอรี่ทั่วไปครับ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(8:00 - 8:40 นาที):</a:t>
            </a:r>
          </a:p>
          <a:p>
            <a:r>
              <a:t>กลยุทธ์ 4Ps ของเราเน้นการเข้าถึงง่าย ราคาเป็นมิตรต่อนักศึกษาและร้านค้า โดยมีโปรโมชันแนะนำการใช้งานและระบบสะสมแต้มเพื่อกระตุ้นให้เกิดการใช้งานประจำครับ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(8:40 - 9:15 นาที):</a:t>
            </a:r>
          </a:p>
          <a:p>
            <a:r>
              <a:t>จากการเรียนในบทที่ 5 เรื่อง Ten Types of Innovation เราเลือกใช้ยุทธวิธีที่สอดคล้องกับเรามากที่สุด ได้แก่ โมเดลกำไรแบบ Micro-fee, การเชื่อมโยง Network ของ LINE และ PromptPay, การสร้าง Product System ที่สมบูรณ์ และการยกระดับ Service Experience ของผู้ใช้ครับ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(9:15 - 9:45 นาที):</a:t>
            </a:r>
          </a:p>
          <a:p>
            <a:r>
              <a:t>ตามที่อาจารย์สอนในบทที่ 11 เรื่องความเสี่ยง เหมือนกรณีตัวอย่างร้านกาแฟที่ยอดขายตก เราได้วิเคราะห์ความเสี่ยง 6 มิติ พร้อมวางมาตรการรับมือเชิงรุก เช่น หากร้านค้าไม่คุ้นเคย เรามีทีมช่วยสอน และหากอินเทอร์เน็ตล่ม เรามีระบบ Offline Fallback รองรับครับ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(9:45 - 10:15 นาที):</a:t>
            </a:r>
          </a:p>
          <a:p>
            <a:r>
              <a:t>ในด้านตัวเลขทางการเงิน ด้วยยอดคำสั่งซื้อ 1,000 ออเดอร์ต่อวัน เราจะมีรายได้ประมาณ 60,000 บาทต่อเดือน หักต้นทุนคงที่ 15,000 บาท เหลือกำไรสุทธิ 45,000 บาทต่อเดือน สามารถคืนทุนเงินลงทุนเริ่มต้น 120,000 บาท ได้ภายในเวลาเพียง 7 เดือนครับ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 (10:15 - 10:45 นาที):</a:t>
            </a:r>
          </a:p>
          <a:p>
            <a:r>
              <a:t>แผนงานของเราจะเริ่มจากการนำร่อง 15 ร้านค้าในโรงอาหารกลาง มจพ. ก่อนขยายให้ครบทุกโรงอาหาร และเป้าหมายระยะยาวคือการขยายสู่เครือข่ายมหาวิทยาลัยพันธมิตรทั่วประเทศครับ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สคริปต์นำเสนอสรุป (10:45 - 11:00 นาที):</a:t>
            </a:r>
          </a:p>
          <a:p>
            <a:r>
              <a:t>Smart Queue Food จะช่วยคืนเวลาคุณภาพให้กับทุกคนใน มจพ. กลุ่ม “พี่หล่อไหมน้องงงง” ขอขอบพระคุณอาจารย์เป็นอย่างยิ่ง และพร้อมรับฟังข้อเสนอแนะและตอบคำถามครับ ขอบคุณครับ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4748B"/>
                </a:solidFill>
                <a:latin typeface="Leelawadee UI"/>
              </a:defRPr>
            </a:pPr>
            <a:r>
              <a:t>รายงานนำเสนอโครงงานธุรกิจนวัตกรรม (PITCH DECK)</a:t>
            </a:r>
          </a:p>
          <a:p>
            <a:pPr>
              <a:spcBef>
                <a:spcPts val="800"/>
              </a:spcBef>
              <a:defRPr sz="3600" b="1">
                <a:solidFill>
                  <a:srgbClr val="0F172A"/>
                </a:solidFill>
                <a:latin typeface="Leelawadee UI"/>
              </a:defRPr>
            </a:pPr>
            <a:r>
              <a:t>Smart Queue Food</a:t>
            </a:r>
          </a:p>
          <a:p>
            <a:pPr>
              <a:spcBef>
                <a:spcPts val="400"/>
              </a:spcBef>
              <a:defRPr sz="1700">
                <a:solidFill>
                  <a:srgbClr val="334155"/>
                </a:solidFill>
                <a:latin typeface="Leelawadee UI"/>
              </a:defRPr>
            </a:pPr>
            <a:r>
              <a:t>ระบบสั่งอาหารและจัดการคิวอัจฉริยะในโรงอาหารมหาวิทยาลัยผ่าน LINE Official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47472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Leelawadee UI"/>
              </a:defRPr>
            </a:pPr>
            <a:r>
              <a:t>วิชา: 080203914 ผู้ประกอบการนวัตกรรม (Innovative Technopreneurs) ภาคเรียนที่ 1 ปีการศึกษา 2569</a:t>
            </a:r>
          </a:p>
          <a:p>
            <a:pPr>
              <a:spcBef>
                <a:spcPts val="400"/>
              </a:spcBef>
              <a:defRPr sz="1300">
                <a:solidFill>
                  <a:srgbClr val="334155"/>
                </a:solidFill>
                <a:latin typeface="Leelawadee UI"/>
              </a:defRPr>
            </a:pPr>
            <a:r>
              <a:t>คณะผู้จัดทำ: กลุ่ม “พี่หล่อไหมน้องงงง” (กลุ่มที่ 1) คณะเทคโนโลยีและการจัดการอุตสาหกรรม มจพ.</a:t>
            </a:r>
          </a:p>
          <a:p>
            <a:pPr>
              <a:spcBef>
                <a:spcPts val="200"/>
              </a:spcBef>
              <a:defRPr sz="1150">
                <a:solidFill>
                  <a:srgbClr val="64748B"/>
                </a:solidFill>
                <a:latin typeface="Leelawadee UI"/>
              </a:defRPr>
            </a:pPr>
            <a:r>
              <a:t>สมาชิก: นายจิณณะ, นายปภาวิณ, นายดนุสรณ์, นายนัทธพงศ์, นายภัทรพล, น.ส.กนกวรรณ, น.ส.ณัฐธิดา, นายปรัชญา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  <a:latin typeface="Leelawadee UI"/>
              </a:defRPr>
            </a:pPr>
            <a:r>
              <a:t>เสนอ: อาจารย์ผู้สอนประจำวิชา | เวลาการนำเสนอ: 10 นาที (ถาม-ตอบ 5 นาที)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73152" bIns="73152"/>
          <a:lstStyle/>
          <a:p>
            <a:pPr algn="ctr">
              <a:defRPr sz="1000" b="1">
                <a:solidFill>
                  <a:srgbClr val="64748B"/>
                </a:solidFill>
                <a:latin typeface="Leelawadee UI"/>
              </a:defRPr>
            </a:pPr>
            <a:r>
              <a:t>โครงงานธุรกิจนวัตกรรม | มจพ.</a:t>
            </a:r>
          </a:p>
          <a:p>
            <a:pPr>
              <a:defRPr sz="2000" b="1">
                <a:solidFill>
                  <a:srgbClr val="0F172A"/>
                </a:solidFill>
                <a:latin typeface="Leelawadee UI"/>
              </a:defRPr>
            </a:pPr>
            <a:r>
              <a:t>1. ปัญหาและความจำเป็นในการพัฒนา (Problem Statement)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28232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Leelawadee UI"/>
              </a:defRPr>
            </a:pPr>
            <a:r>
              <a:t>วิชา 080203914 ผู้ประกอบการนวัตกรรม (Innovative Technopreneurs) | มหาวิทยาลัยเทคโนโลยีพระจอมเกล้าพระนครเหนือ</a:t>
            </a:r>
          </a:p>
          <a:p>
            <a:pPr algn="r">
              <a:defRPr sz="950" b="1">
                <a:solidFill>
                  <a:srgbClr val="0F172A"/>
                </a:solidFill>
                <a:latin typeface="Leelawadee UI"/>
              </a:defRPr>
            </a:pPr>
            <a:r>
              <a:t>2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33832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ระยะเวลารอคอยเฉลี่ย 20-30 นาที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31089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สภาพปัญหาช่วงเที่ยง: </a:t>
            </a:r>
            <a:r>
              <a:rPr sz="1200">
                <a:solidFill>
                  <a:srgbClr val="334155"/>
                </a:solidFill>
                <a:latin typeface="Leelawadee UI"/>
              </a:rPr>
              <a:t>11:30 - 13:00 น. มีนักศึกษาและบุคลากรมากกว่า 5,000 คนเข้าโรงอาหารพร้อมกัน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การสูญเสียเวลาเรียน: </a:t>
            </a:r>
            <a:r>
              <a:rPr sz="1200">
                <a:solidFill>
                  <a:srgbClr val="334155"/>
                </a:solidFill>
                <a:latin typeface="Leelawadee UI"/>
              </a:rPr>
              <a:t>หมดเวลาพักไปกับการยืนรอคิวกลางอากาศร้อน ต้องรีบกินเพื่อเข้าเรียนคาบบ่าย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ความล่าช้าในการเรียน: </a:t>
            </a:r>
            <a:r>
              <a:rPr sz="1200">
                <a:solidFill>
                  <a:srgbClr val="334155"/>
                </a:solidFill>
                <a:latin typeface="Leelawadee UI"/>
              </a:rPr>
              <a:t>ส่งผลให้นักศึกษาเข้าเรียนสาย และอาจารย์เริ่มสอนล่าช้า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28016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280160"/>
            <a:ext cx="33832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ความแออัดในพื้นที่กายภาพ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874520"/>
            <a:ext cx="31089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แถวคิวยาวกีดขวาง: </a:t>
            </a:r>
            <a:r>
              <a:rPr sz="1200">
                <a:solidFill>
                  <a:srgbClr val="334155"/>
                </a:solidFill>
                <a:latin typeface="Leelawadee UI"/>
              </a:rPr>
              <a:t>คิวยาวล้นออกมาขวางทางเดินและโต๊ะอาหาร เกิดความแออัด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โต๊ะที่นั่งไม่เพียงพอ: </a:t>
            </a:r>
            <a:r>
              <a:rPr sz="1200">
                <a:solidFill>
                  <a:srgbClr val="334155"/>
                </a:solidFill>
                <a:latin typeface="Leelawadee UI"/>
              </a:rPr>
              <a:t>เกิดปัญหาการแย่งชิงที่นั่งและไม่มีที่นั่งรับประทานอาหาร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ปัญหาด้านสุขอนามัย: </a:t>
            </a:r>
            <a:r>
              <a:rPr sz="1200">
                <a:solidFill>
                  <a:srgbClr val="334155"/>
                </a:solidFill>
                <a:latin typeface="Leelawadee UI"/>
              </a:rPr>
              <a:t>ความหนาแน่นสะสมความร้อน อากาศไม่ถ่ายเท และไม่ถูกสุขอนามัย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8016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280160"/>
            <a:ext cx="33832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ความผิดพลาดในการจัดการครัว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874520"/>
            <a:ext cx="31089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การจดกระดาษผิดพลาด: </a:t>
            </a:r>
            <a:r>
              <a:rPr sz="1200">
                <a:solidFill>
                  <a:srgbClr val="334155"/>
                </a:solidFill>
                <a:latin typeface="Leelawadee UI"/>
              </a:rPr>
              <a:t>คำสั่งซื้อตกหล่น ลำดับคิวสับสน ทำอาหารผิดเงื่อนไข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คอขวดการชำระเงิน: </a:t>
            </a:r>
            <a:r>
              <a:rPr sz="1200">
                <a:solidFill>
                  <a:srgbClr val="334155"/>
                </a:solidFill>
                <a:latin typeface="Leelawadee UI"/>
              </a:rPr>
              <a:t>แม่ค้าต้องสลับมือมาตรวจสลิปโอนเงินหน้าร้าน ทำให้คิวสะดุด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สูญเสียโอกาสการขาย: </a:t>
            </a:r>
            <a:r>
              <a:rPr sz="1200">
                <a:solidFill>
                  <a:srgbClr val="334155"/>
                </a:solidFill>
                <a:latin typeface="Leelawadee UI"/>
              </a:rPr>
              <a:t>ลูกค้าเห็นคิวยาวจึงเปลี่ยนใจไม่ซื้อ ร้านค้าเสียรายได้ 25-30%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73152" bIns="73152"/>
          <a:lstStyle/>
          <a:p>
            <a:pPr algn="ctr">
              <a:defRPr sz="1000" b="1">
                <a:solidFill>
                  <a:srgbClr val="64748B"/>
                </a:solidFill>
                <a:latin typeface="Leelawadee UI"/>
              </a:defRPr>
            </a:pPr>
            <a:r>
              <a:t>โครงงานธุรกิจนวัตกรรม | มจพ.</a:t>
            </a:r>
          </a:p>
          <a:p>
            <a:pPr>
              <a:defRPr sz="2000" b="1">
                <a:solidFill>
                  <a:srgbClr val="0F172A"/>
                </a:solidFill>
                <a:latin typeface="Leelawadee UI"/>
              </a:defRPr>
            </a:pPr>
            <a:r>
              <a:t>2. แนวคิดนวัตกรรม Smart Queue Food (The Innovation Solution)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28232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Leelawadee UI"/>
              </a:defRPr>
            </a:pPr>
            <a:r>
              <a:t>วิชา 080203914 ผู้ประกอบการนวัตกรรม (Innovative Technopreneurs) | มหาวิทยาลัยเทคโนโลยีพระจอมเกล้าพระนครเหนือ</a:t>
            </a:r>
          </a:p>
          <a:p>
            <a:pPr algn="r">
              <a:defRPr sz="950" b="1">
                <a:solidFill>
                  <a:srgbClr val="0F172A"/>
                </a:solidFill>
                <a:latin typeface="Leelawadee UI"/>
              </a:defRPr>
            </a:pPr>
            <a:r>
              <a:t>3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52120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หลักการทำงานของระบบ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49377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ทำงานบน LINE Official (LIFF): </a:t>
            </a:r>
            <a:r>
              <a:rPr sz="1200">
                <a:solidFill>
                  <a:srgbClr val="334155"/>
                </a:solidFill>
                <a:latin typeface="Leelawadee UI"/>
              </a:rPr>
              <a:t>เข้าถึงได้ทันทีโดยไม่ต้องดาวน์โหลดหรือติดตั้งแอปพลิเคชันเพิ่มเติม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ระบบสั่งอาหารล่วงหน้า (Pre-order): </a:t>
            </a:r>
            <a:r>
              <a:rPr sz="1200">
                <a:solidFill>
                  <a:srgbClr val="334155"/>
                </a:solidFill>
                <a:latin typeface="Leelawadee UI"/>
              </a:rPr>
              <a:t>เลือกสั่งเมนูอาหารได้ตั้งแต่ก่อนเลิกเรียน พร้อมระบุเวลารับ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อัลกอริทึมคำนวณคิว (Predictive ETA): </a:t>
            </a:r>
            <a:r>
              <a:rPr sz="1200">
                <a:solidFill>
                  <a:srgbClr val="334155"/>
                </a:solidFill>
                <a:latin typeface="Leelawadee UI"/>
              </a:rPr>
              <a:t>ประเมินเวลารอคอยแบบเรียลไทม์จากจำนวนคิวและความเร็วการปรุง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ชำระเงินไร้เงินสด (PromptPay QR): </a:t>
            </a:r>
            <a:r>
              <a:rPr sz="1200">
                <a:solidFill>
                  <a:srgbClr val="334155"/>
                </a:solidFill>
                <a:latin typeface="Leelawadee UI"/>
              </a:rPr>
              <a:t>สร้าง QR Code ตรวจสอบยอดเงินและยืนยันสลิปอัตโนมัติ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การแจ้งเตือนอัตโนมัติ: </a:t>
            </a:r>
            <a:r>
              <a:rPr sz="1200">
                <a:solidFill>
                  <a:srgbClr val="334155"/>
                </a:solidFill>
                <a:latin typeface="Leelawadee UI"/>
              </a:rPr>
              <a:t>ระบบส่งข้อความแจ้งเตือนผ่าน LINE เมื่ออาหารปรุงเสร็จพร้อมรับ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8016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2120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ผลลัพธ์และคุณค่าที่เกิดขึ้นจริง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20"/>
            <a:ext cx="49377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1. ลดระยะเวลารอคอยลง 70%: </a:t>
            </a:r>
            <a:r>
              <a:rPr sz="1200">
                <a:solidFill>
                  <a:srgbClr val="334155"/>
                </a:solidFill>
                <a:latin typeface="Leelawadee UI"/>
              </a:rPr>
              <a:t>จากเดิม 20-30 นาที เหลือเพียง 0-3 นาที เดินมาถึงรับอาหารได้ทันที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2. คืนเวลาคุณภาพให้นักศึกษา: </a:t>
            </a:r>
            <a:r>
              <a:rPr sz="1200">
                <a:solidFill>
                  <a:srgbClr val="334155"/>
                </a:solidFill>
                <a:latin typeface="Leelawadee UI"/>
              </a:rPr>
              <a:t>มีเวลารับประทานอาหารอย่างผ่อนคลาย ไม่ต้องเร่งรีบ ไม่เข้าเรียนสาย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3. ครัวร้านค้าทำงานเป็นระบบ: </a:t>
            </a:r>
            <a:r>
              <a:rPr sz="1200">
                <a:solidFill>
                  <a:srgbClr val="334155"/>
                </a:solidFill>
                <a:latin typeface="Leelawadee UI"/>
              </a:rPr>
              <a:t>มีหน้าจอ KDS แสดงลำดับคิวชัดเจน ขจัดปัญหาออเดอร์ตกหล่น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4. เพิ่มยอดขายให้ร้านค้า 25%: </a:t>
            </a:r>
            <a:r>
              <a:rPr sz="1200">
                <a:solidFill>
                  <a:srgbClr val="334155"/>
                </a:solidFill>
                <a:latin typeface="Leelawadee UI"/>
              </a:rPr>
              <a:t>รองรับออเดอร์ล่วงหน้าได้มากขึ้นในชั่วโมงเร่งด่วน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5. สนับสนุนนโยบาย Smart Campus: </a:t>
            </a:r>
            <a:r>
              <a:rPr sz="1200">
                <a:solidFill>
                  <a:srgbClr val="334155"/>
                </a:solidFill>
                <a:latin typeface="Leelawadee UI"/>
              </a:rPr>
              <a:t>ลดความแออัดในโรงอาหารและส่งเสริมสังคมไร้เงินสดใน มจพ.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73152" bIns="73152"/>
          <a:lstStyle/>
          <a:p>
            <a:pPr algn="ctr">
              <a:defRPr sz="1000" b="1">
                <a:solidFill>
                  <a:srgbClr val="64748B"/>
                </a:solidFill>
                <a:latin typeface="Leelawadee UI"/>
              </a:defRPr>
            </a:pPr>
            <a:r>
              <a:t>โครงงานธุรกิจนวัตกรรม | มจพ.</a:t>
            </a:r>
          </a:p>
          <a:p>
            <a:pPr>
              <a:defRPr sz="2000" b="1">
                <a:solidFill>
                  <a:srgbClr val="0F172A"/>
                </a:solidFill>
                <a:latin typeface="Leelawadee UI"/>
              </a:defRPr>
            </a:pPr>
            <a:r>
              <a:t>3. ขั้นตอนการใช้งานระบบ 4 ขั้นตอน (Workflow &amp; How It Works)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28232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Leelawadee UI"/>
              </a:defRPr>
            </a:pPr>
            <a:r>
              <a:t>วิชา 080203914 ผู้ประกอบการนวัตกรรม (Innovative Technopreneurs) | มหาวิทยาลัยเทคโนโลยีพระจอมเกล้าพระนครเหนือ</a:t>
            </a:r>
          </a:p>
          <a:p>
            <a:pPr algn="r">
              <a:defRPr sz="950" b="1">
                <a:solidFill>
                  <a:srgbClr val="0F172A"/>
                </a:solidFill>
                <a:latin typeface="Leelawadee UI"/>
              </a:defRPr>
            </a:pPr>
            <a:r>
              <a:t>4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56032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56032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172A"/>
                </a:solidFill>
                <a:latin typeface="Leelawadee UI"/>
              </a:defRPr>
            </a:pPr>
            <a:r>
              <a:t>ขั้นตอนที่ 1</a:t>
            </a:r>
            <a:br/>
            <a:r>
              <a:t>เปิด LINE &amp; สั่งเมนู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286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Leelawadee UI"/>
              </a:defRPr>
            </a:pPr>
            <a:r>
              <a:t>สแกน QR หรือเข้า LINE OA เลือกดูร้านอาหาร ตรวจสอบคิวคงค้าง และสั่งอาหารพร้อมปรับแต่งตัวเลือกตามต้องการ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1463040"/>
            <a:ext cx="256032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1463040"/>
            <a:ext cx="256032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172A"/>
                </a:solidFill>
                <a:latin typeface="Leelawadee UI"/>
              </a:defRPr>
            </a:pPr>
            <a:r>
              <a:t>ขั้นตอนที่ 2</a:t>
            </a:r>
            <a:br/>
            <a:r>
              <a:t>ชำระเงิน PromptPay QR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68880"/>
            <a:ext cx="2286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Leelawadee UI"/>
              </a:defRPr>
            </a:pPr>
            <a:r>
              <a:t>ระบบสร้าง Dynamic QR Code พร้อมยอดเงินตรงตามบิล สแกนชำระเงินผ่าน Mobile Banking และตรวจสอบสลิปอัตโนมัติใน 3 วินาที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63040"/>
            <a:ext cx="256032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56032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172A"/>
                </a:solidFill>
                <a:latin typeface="Leelawadee UI"/>
              </a:defRPr>
            </a:pPr>
            <a:r>
              <a:t>ขั้นตอนที่ 3</a:t>
            </a:r>
            <a:br/>
            <a:r>
              <a:t>รับบัตรคิว &amp; รอแจ้งเตือน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468880"/>
            <a:ext cx="2286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Leelawadee UI"/>
              </a:defRPr>
            </a:pPr>
            <a:r>
              <a:t>ได้รับหมายเลขคิวและแถบสถานะการปรุง สามารถนั่งอ่านหนังสือหรือเดินมาโรงอาหารอย่างสบายใจ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3960" y="1463040"/>
            <a:ext cx="256032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23960" y="1463040"/>
            <a:ext cx="256032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172A"/>
                </a:solidFill>
                <a:latin typeface="Leelawadee UI"/>
              </a:defRPr>
            </a:pPr>
            <a:r>
              <a:t>ขั้นตอนที่ 4</a:t>
            </a:r>
            <a:br/>
            <a:r>
              <a:t>รับอาหารทันใจ ไร้คิว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468880"/>
            <a:ext cx="2286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Leelawadee UI"/>
              </a:defRPr>
            </a:pPr>
            <a:r>
              <a:t>เมื่ออาหารปรุงเสร็จ LINE แจ้งเตือน ผู้ใช้เดินมารับอาหารที่จุดรับหน้าร้านได้ทันทีโดยไม่ต้องยืนรอคิว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73152" bIns="73152"/>
          <a:lstStyle/>
          <a:p>
            <a:pPr algn="ctr">
              <a:defRPr sz="1000" b="1">
                <a:solidFill>
                  <a:srgbClr val="64748B"/>
                </a:solidFill>
                <a:latin typeface="Leelawadee UI"/>
              </a:defRPr>
            </a:pPr>
            <a:r>
              <a:t>โครงงานธุรกิจนวัตกรรม | มจพ.</a:t>
            </a:r>
          </a:p>
          <a:p>
            <a:pPr>
              <a:defRPr sz="2000" b="1">
                <a:solidFill>
                  <a:srgbClr val="0F172A"/>
                </a:solidFill>
                <a:latin typeface="Leelawadee UI"/>
              </a:defRPr>
            </a:pPr>
            <a:r>
              <a:t>4. ส่วนต่อประสานผู้ใช้งานจริง (UI/UX Prototype Screens)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28232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Leelawadee UI"/>
              </a:defRPr>
            </a:pPr>
            <a:r>
              <a:t>วิชา 080203914 ผู้ประกอบการนวัตกรรม (Innovative Technopreneurs) | มหาวิทยาลัยเทคโนโลยีพระจอมเกล้าพระนครเหนือ</a:t>
            </a:r>
          </a:p>
          <a:p>
            <a:pPr algn="r">
              <a:defRPr sz="950" b="1">
                <a:solidFill>
                  <a:srgbClr val="0F172A"/>
                </a:solidFill>
                <a:latin typeface="Leelawadee UI"/>
              </a:defRPr>
            </a:pPr>
            <a:r>
              <a:t>5 / 15</a:t>
            </a:r>
          </a:p>
        </p:txBody>
      </p:sp>
      <p:pic>
        <p:nvPicPr>
          <p:cNvPr id="5" name="Picture 4" descr="ui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65702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73152" bIns="73152"/>
          <a:lstStyle/>
          <a:p>
            <a:pPr algn="ctr">
              <a:defRPr sz="1000" b="1">
                <a:solidFill>
                  <a:srgbClr val="64748B"/>
                </a:solidFill>
                <a:latin typeface="Leelawadee UI"/>
              </a:defRPr>
            </a:pPr>
            <a:r>
              <a:t>โครงงานธุรกิจนวัตกรรม | มจพ.</a:t>
            </a:r>
          </a:p>
          <a:p>
            <a:pPr>
              <a:defRPr sz="2000" b="1">
                <a:solidFill>
                  <a:srgbClr val="0F172A"/>
                </a:solidFill>
                <a:latin typeface="Leelawadee UI"/>
              </a:defRPr>
            </a:pPr>
            <a:r>
              <a:t>5. สถาปัตยกรรมระบบและโครงสร้างเทคโนโลยี (System Architecture)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28232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Leelawadee UI"/>
              </a:defRPr>
            </a:pPr>
            <a:r>
              <a:t>วิชา 080203914 ผู้ประกอบการนวัตกรรม (Innovative Technopreneurs) | มหาวิทยาลัยเทคโนโลยีพระจอมเกล้าพระนครเหนือ</a:t>
            </a:r>
          </a:p>
          <a:p>
            <a:pPr algn="r">
              <a:defRPr sz="950" b="1">
                <a:solidFill>
                  <a:srgbClr val="0F172A"/>
                </a:solidFill>
                <a:latin typeface="Leelawadee UI"/>
              </a:defRPr>
            </a:pPr>
            <a:r>
              <a:t>6 / 15</a:t>
            </a:r>
          </a:p>
        </p:txBody>
      </p:sp>
      <p:pic>
        <p:nvPicPr>
          <p:cNvPr id="5" name="Picture 4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67915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73152" bIns="73152"/>
          <a:lstStyle/>
          <a:p>
            <a:pPr algn="ctr">
              <a:defRPr sz="1000" b="1">
                <a:solidFill>
                  <a:srgbClr val="64748B"/>
                </a:solidFill>
                <a:latin typeface="Leelawadee UI"/>
              </a:defRPr>
            </a:pPr>
            <a:r>
              <a:t>โครงงานธุรกิจนวัตกรรม | มจพ.</a:t>
            </a:r>
          </a:p>
          <a:p>
            <a:pPr>
              <a:defRPr sz="2000" b="1">
                <a:solidFill>
                  <a:srgbClr val="0F172A"/>
                </a:solidFill>
                <a:latin typeface="Leelawadee UI"/>
              </a:defRPr>
            </a:pPr>
            <a:r>
              <a:t>6. กลุ่มลูกค้าเป้าหมายและการวิเคราะห์เพอร์โซนา (Customer Personas)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28232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Leelawadee UI"/>
              </a:defRPr>
            </a:pPr>
            <a:r>
              <a:t>วิชา 080203914 ผู้ประกอบการนวัตกรรม (Innovative Technopreneurs) | มหาวิทยาลัยเทคโนโลยีพระจอมเกล้าพระนครเหนือ</a:t>
            </a:r>
          </a:p>
          <a:p>
            <a:pPr algn="r">
              <a:defRPr sz="950" b="1">
                <a:solidFill>
                  <a:srgbClr val="0F172A"/>
                </a:solidFill>
                <a:latin typeface="Leelawadee UI"/>
              </a:defRPr>
            </a:pPr>
            <a:r>
              <a:t>7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33832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Persona 1: นักศึกษา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31089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นายกิตติศักดิ์ (นัท) 20 ปี: </a:t>
            </a:r>
            <a:r>
              <a:rPr sz="1200">
                <a:solidFill>
                  <a:srgbClr val="334155"/>
                </a:solidFill>
                <a:latin typeface="Leelawadee UI"/>
              </a:rPr>
              <a:t>นักศึกษาคณะวิศวกรรมศาสตร์ ชั้นปีที่ 2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พฤติกรรม: </a:t>
            </a:r>
            <a:r>
              <a:rPr sz="1200">
                <a:solidFill>
                  <a:srgbClr val="334155"/>
                </a:solidFill>
                <a:latin typeface="Leelawadee UI"/>
              </a:rPr>
              <a:t>มีเรียนแล็บช่วงเช้า เลิก 11:50 น. มีเวลาพักน้อย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ปัญหา: </a:t>
            </a:r>
            <a:r>
              <a:rPr sz="1200">
                <a:solidFill>
                  <a:srgbClr val="334155"/>
                </a:solidFill>
                <a:latin typeface="Leelawadee UI"/>
              </a:rPr>
              <a:t>รอคิวนานจนไม่มีเวลากินข้าว เข้าเรียนสาย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ประโยชน์: </a:t>
            </a:r>
            <a:r>
              <a:rPr sz="1200">
                <a:solidFill>
                  <a:srgbClr val="334155"/>
                </a:solidFill>
                <a:latin typeface="Leelawadee UI"/>
              </a:rPr>
              <a:t>สั่งล่วงหน้า เดินมาถึงได้กินทันที ประหยัดเวลา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28016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280160"/>
            <a:ext cx="33832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Persona 2: อาจารย์/บุคลากร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874520"/>
            <a:ext cx="31089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ผศ.ดร.พรรณนิภา (อ.ปุ๊ก) 38 ปี: </a:t>
            </a:r>
            <a:r>
              <a:rPr sz="1200">
                <a:solidFill>
                  <a:srgbClr val="334155"/>
                </a:solidFill>
                <a:latin typeface="Leelawadee UI"/>
              </a:rPr>
              <a:t>อาจารย์คณะวิทยาศาสตร์ประยุกต์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พฤติกรรม: </a:t>
            </a:r>
            <a:r>
              <a:rPr sz="1200">
                <a:solidFill>
                  <a:srgbClr val="334155"/>
                </a:solidFill>
                <a:latin typeface="Leelawadee UI"/>
              </a:rPr>
              <a:t>มีประชุมและเตรียมสอน มักซื้ออาหารไปทานที่ห้องพัก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ปัญหา: </a:t>
            </a:r>
            <a:r>
              <a:rPr sz="1200">
                <a:solidFill>
                  <a:srgbClr val="334155"/>
                </a:solidFill>
                <a:latin typeface="Leelawadee UI"/>
              </a:rPr>
              <a:t>ไม่ชอบยืนเบียดในโรงอาหารที่เสียงดังและร้อน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ประโยชน์: </a:t>
            </a:r>
            <a:r>
              <a:rPr sz="1200">
                <a:solidFill>
                  <a:srgbClr val="334155"/>
                </a:solidFill>
                <a:latin typeface="Leelawadee UI"/>
              </a:rPr>
              <a:t>สั่งจากห้องพักครู แจ้งเตือนค่อยลงไปรับ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8016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280160"/>
            <a:ext cx="33832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Persona 3: ร้านอาหาร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874520"/>
            <a:ext cx="31089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ป้าสมศรี ทวีโชค 54 ปี: </a:t>
            </a:r>
            <a:r>
              <a:rPr sz="1200">
                <a:solidFill>
                  <a:srgbClr val="334155"/>
                </a:solidFill>
                <a:latin typeface="Leelawadee UI"/>
              </a:rPr>
              <a:t>เจ้าของร้านอาหารตามสั่ง โรงอาหารกลาง มจพ.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พฤติกรรม: </a:t>
            </a:r>
            <a:r>
              <a:rPr sz="1200">
                <a:solidFill>
                  <a:srgbClr val="334155"/>
                </a:solidFill>
                <a:latin typeface="Leelawadee UI"/>
              </a:rPr>
              <a:t>ปรุงอาหารเร็ว แต่ไม่ถนัดสมาร์ตโฟนซับซ้อน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ปัญหา: </a:t>
            </a:r>
            <a:r>
              <a:rPr sz="1200">
                <a:solidFill>
                  <a:srgbClr val="334155"/>
                </a:solidFill>
                <a:latin typeface="Leelawadee UI"/>
              </a:rPr>
              <a:t>จดออเดอร์ไม่ทัน ทอนเงินผิด ลูกค้ามุงหน้าร้าน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ประโยชน์: </a:t>
            </a:r>
            <a:r>
              <a:rPr sz="1200">
                <a:solidFill>
                  <a:srgbClr val="334155"/>
                </a:solidFill>
                <a:latin typeface="Leelawadee UI"/>
              </a:rPr>
              <a:t>จอ KDS ใช้งานง่าย ครัวเป็นระบบ ยอดขายเพิ่มขึ้น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73152" bIns="73152"/>
          <a:lstStyle/>
          <a:p>
            <a:pPr algn="ctr">
              <a:defRPr sz="1000" b="1">
                <a:solidFill>
                  <a:srgbClr val="64748B"/>
                </a:solidFill>
                <a:latin typeface="Leelawadee UI"/>
              </a:defRPr>
            </a:pPr>
            <a:r>
              <a:t>โครงงานธุรกิจนวัตกรรม | มจพ.</a:t>
            </a:r>
          </a:p>
          <a:p>
            <a:pPr>
              <a:defRPr sz="2000" b="1">
                <a:solidFill>
                  <a:srgbClr val="0F172A"/>
                </a:solidFill>
                <a:latin typeface="Leelawadee UI"/>
              </a:defRPr>
            </a:pPr>
            <a:r>
              <a:t>7. แบบจำลองผืนผ้าใบธุรกิจ (Business Model Canvas - BMC 9 ช่อง)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28232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Leelawadee UI"/>
              </a:defRPr>
            </a:pPr>
            <a:r>
              <a:t>วิชา 080203914 ผู้ประกอบการนวัตกรรม (Innovative Technopreneurs) | มหาวิทยาลัยเทคโนโลยีพระจอมเกล้าพระนครเหนือ</a:t>
            </a:r>
          </a:p>
          <a:p>
            <a:pPr algn="r">
              <a:defRPr sz="950" b="1">
                <a:solidFill>
                  <a:srgbClr val="0F172A"/>
                </a:solidFill>
                <a:latin typeface="Leelawadee UI"/>
              </a:defRPr>
            </a:pPr>
            <a:r>
              <a:t>8 / 15</a:t>
            </a:r>
          </a:p>
        </p:txBody>
      </p:sp>
      <p:pic>
        <p:nvPicPr>
          <p:cNvPr id="5" name="Picture 4" descr="bmc_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6483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73152" bIns="73152"/>
          <a:lstStyle/>
          <a:p>
            <a:pPr algn="ctr">
              <a:defRPr sz="1000" b="1">
                <a:solidFill>
                  <a:srgbClr val="64748B"/>
                </a:solidFill>
                <a:latin typeface="Leelawadee UI"/>
              </a:defRPr>
            </a:pPr>
            <a:r>
              <a:t>โครงงานธุรกิจนวัตกรรม | มจพ.</a:t>
            </a:r>
          </a:p>
          <a:p>
            <a:pPr>
              <a:defRPr sz="2000" b="1">
                <a:solidFill>
                  <a:srgbClr val="0F172A"/>
                </a:solidFill>
                <a:latin typeface="Leelawadee UI"/>
              </a:defRPr>
            </a:pPr>
            <a:r>
              <a:t>8. การวางตำแหน่งทางการตลาด (Market Positioning Map)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28232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Leelawadee UI"/>
              </a:defRPr>
            </a:pPr>
            <a:r>
              <a:t>วิชา 080203914 ผู้ประกอบการนวัตกรรม (Innovative Technopreneurs) | มหาวิทยาลัยเทคโนโลยีพระจอมเกล้าพระนครเหนือ</a:t>
            </a:r>
          </a:p>
          <a:p>
            <a:pPr algn="r">
              <a:defRPr sz="950" b="1">
                <a:solidFill>
                  <a:srgbClr val="0F172A"/>
                </a:solidFill>
                <a:latin typeface="Leelawadee UI"/>
              </a:defRPr>
            </a:pPr>
            <a:r>
              <a:t>9 / 15</a:t>
            </a:r>
          </a:p>
        </p:txBody>
      </p:sp>
      <p:pic>
        <p:nvPicPr>
          <p:cNvPr id="5" name="Picture 4" descr="positioning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6400800" cy="465336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06640" y="1280160"/>
            <a:ext cx="4023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1280160"/>
            <a:ext cx="402336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ความได้เปรียบทางการแข่งขัน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874520"/>
            <a:ext cx="374904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1. ตำแหน่ง Sweet Spot: </a:t>
            </a:r>
            <a:r>
              <a:rPr sz="1200">
                <a:solidFill>
                  <a:srgbClr val="334155"/>
                </a:solidFill>
                <a:latin typeface="Leelawadee UI"/>
              </a:rPr>
              <a:t>Smart Queue Food อยู่ในตำแหน่งความสะดวกสูงสุดและราคาประหยัดสูงสุด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2. เทียบกับร้านค้าเดิม: </a:t>
            </a:r>
            <a:r>
              <a:rPr sz="1200">
                <a:solidFill>
                  <a:srgbClr val="334155"/>
                </a:solidFill>
                <a:latin typeface="Leelawadee UI"/>
              </a:rPr>
              <a:t>ราคาเท่ากัน แต่ลดระยะเวลาการรอคอยลงได้มากกว่า 70%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3. เทียบกับ Food Delivery: </a:t>
            </a:r>
            <a:r>
              <a:rPr sz="1200">
                <a:solidFill>
                  <a:srgbClr val="334155"/>
                </a:solidFill>
                <a:latin typeface="Leelawadee UI"/>
              </a:rPr>
              <a:t>แอปเดลิเวอรี่คิด GP 30-35% และมีค่าส่งแพง ไม่เหมาะกับนักศึกษา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4. เทียบกับตู้ Kiosk: </a:t>
            </a:r>
            <a:r>
              <a:rPr sz="1200">
                <a:solidFill>
                  <a:srgbClr val="334155"/>
                </a:solidFill>
                <a:latin typeface="Leelawadee UI"/>
              </a:rPr>
              <a:t>ตู้สั่งอาหารมีต้นทุนฮาร์ดแวร์สูง และผู้ใช้ยังต้องยืนต่อคิวหน้าตู้อยู่ดี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73152" bIns="73152"/>
          <a:lstStyle/>
          <a:p>
            <a:pPr algn="ctr">
              <a:defRPr sz="1000" b="1">
                <a:solidFill>
                  <a:srgbClr val="64748B"/>
                </a:solidFill>
                <a:latin typeface="Leelawadee UI"/>
              </a:defRPr>
            </a:pPr>
            <a:r>
              <a:t>โครงงานธุรกิจนวัตกรรม | มจพ.</a:t>
            </a:r>
          </a:p>
          <a:p>
            <a:pPr>
              <a:defRPr sz="2000" b="1">
                <a:solidFill>
                  <a:srgbClr val="0F172A"/>
                </a:solidFill>
                <a:latin typeface="Leelawadee UI"/>
              </a:defRPr>
            </a:pPr>
            <a:r>
              <a:t>9. กลยุทธ์ส่วนประสมทางการตลาด 4Ps (Marketing Mix Strategy)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28232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Leelawadee UI"/>
              </a:defRPr>
            </a:pPr>
            <a:r>
              <a:t>วิชา 080203914 ผู้ประกอบการนวัตกรรม (Innovative Technopreneurs) | มหาวิทยาลัยเทคโนโลยีพระจอมเกล้าพระนครเหนือ</a:t>
            </a:r>
          </a:p>
          <a:p>
            <a:pPr algn="r">
              <a:defRPr sz="950" b="1">
                <a:solidFill>
                  <a:srgbClr val="0F172A"/>
                </a:solidFill>
                <a:latin typeface="Leelawadee UI"/>
              </a:defRPr>
            </a:pPr>
            <a:r>
              <a:t>10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257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525780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Product (ผลิตภัณฑ์และบริการ)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498348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ระบบบน LINE LIFF: </a:t>
            </a:r>
            <a:r>
              <a:rPr sz="1200">
                <a:solidFill>
                  <a:srgbClr val="334155"/>
                </a:solidFill>
                <a:latin typeface="Leelawadee UI"/>
              </a:rPr>
              <a:t>เร็ว เสถียร ไม่เปลืองหน่วยความจำเครื่อง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ฟังก์ชันหลัก: </a:t>
            </a:r>
            <a:r>
              <a:rPr sz="1200">
                <a:solidFill>
                  <a:srgbClr val="334155"/>
                </a:solidFill>
                <a:latin typeface="Leelawadee UI"/>
              </a:rPr>
              <a:t>สั่งล่วงหน้า จัดคิวไดนามิก จ่ายเงิน PromptPay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ออกแบบเฉพาะ: </a:t>
            </a:r>
            <a:r>
              <a:rPr sz="1200">
                <a:solidFill>
                  <a:srgbClr val="334155"/>
                </a:solidFill>
                <a:latin typeface="Leelawadee UI"/>
              </a:rPr>
              <a:t>หน้าจอ KDS ใช้งานง่ายสำหรับร้านอาหาร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280160"/>
            <a:ext cx="5257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280160"/>
            <a:ext cx="525780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Price (ราคา)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74520"/>
            <a:ext cx="498348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ผู้บริโภค: </a:t>
            </a:r>
            <a:r>
              <a:rPr sz="1200">
                <a:solidFill>
                  <a:srgbClr val="334155"/>
                </a:solidFill>
                <a:latin typeface="Leelawadee UI"/>
              </a:rPr>
              <a:t>จ่ายราคาปกติเท่าหน้าร้าน ไม่มีค่าธรรมเนียม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ร้านอาหาร: </a:t>
            </a:r>
            <a:r>
              <a:rPr sz="1200">
                <a:solidFill>
                  <a:srgbClr val="334155"/>
                </a:solidFill>
                <a:latin typeface="Leelawadee UI"/>
              </a:rPr>
              <a:t>คิดค่า GP เพียง 3-5% (ถูกกว่าแอปทั่วไป 7-10 เท่า)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ระบบรายงานสถิติ: </a:t>
            </a:r>
            <a:r>
              <a:rPr sz="1200">
                <a:solidFill>
                  <a:srgbClr val="334155"/>
                </a:solidFill>
                <a:latin typeface="Leelawadee UI"/>
              </a:rPr>
              <a:t>ค่าบริการสมาชิก 199 บาท/เดือน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49039"/>
            <a:ext cx="5257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749039"/>
            <a:ext cx="525780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Place (ช่องทางจัดจำหน่าย)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43399"/>
            <a:ext cx="498348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พื้นที่บริการ: </a:t>
            </a:r>
            <a:r>
              <a:rPr sz="1200">
                <a:solidFill>
                  <a:srgbClr val="334155"/>
                </a:solidFill>
                <a:latin typeface="Leelawadee UI"/>
              </a:rPr>
              <a:t>โรงอาหารกลาง และโรงอาหารทุกจุดใน มจพ.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ช่องทางดิจิทัล: </a:t>
            </a:r>
            <a:r>
              <a:rPr sz="1200">
                <a:solidFill>
                  <a:srgbClr val="334155"/>
                </a:solidFill>
                <a:latin typeface="Leelawadee UI"/>
              </a:rPr>
              <a:t>LINE Official Account เข้าถึงได้ 24 ชั่วโมง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จุดสัมผัสจริง: </a:t>
            </a:r>
            <a:r>
              <a:rPr sz="1200">
                <a:solidFill>
                  <a:srgbClr val="334155"/>
                </a:solidFill>
                <a:latin typeface="Leelawadee UI"/>
              </a:rPr>
              <a:t>ป้ายสแกน QR Code ทุกโต๊ะอาหารในโรงอาหาร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49039"/>
            <a:ext cx="5257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49039"/>
            <a:ext cx="525780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Promotion (การส่งเสริมการตลาด)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343399"/>
            <a:ext cx="498348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แคมเปญเปิดตัว: </a:t>
            </a:r>
            <a:r>
              <a:rPr sz="1200">
                <a:solidFill>
                  <a:srgbClr val="334155"/>
                </a:solidFill>
                <a:latin typeface="Leelawadee UI"/>
              </a:rPr>
              <a:t>แคมเปญ 'มื้อแรก ลด 10 บาท' สำหรับนักศึกษา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การสร้างความภักดี: </a:t>
            </a:r>
            <a:r>
              <a:rPr sz="1200">
                <a:solidFill>
                  <a:srgbClr val="334155"/>
                </a:solidFill>
                <a:latin typeface="Leelawadee UI"/>
              </a:rPr>
              <a:t>ระบบสะสมแต้ม 10 มื้อ แลกรับฟรี 1 มื้อ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การสื่อสาร: </a:t>
            </a:r>
            <a:r>
              <a:rPr sz="1200">
                <a:solidFill>
                  <a:srgbClr val="334155"/>
                </a:solidFill>
                <a:latin typeface="Leelawadee UI"/>
              </a:rPr>
              <a:t>ร่วมมือกับเพจสโมสรนักศึกษา และชุมชน มจพ.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73152" bIns="73152"/>
          <a:lstStyle/>
          <a:p>
            <a:pPr algn="ctr">
              <a:defRPr sz="1000" b="1">
                <a:solidFill>
                  <a:srgbClr val="64748B"/>
                </a:solidFill>
                <a:latin typeface="Leelawadee UI"/>
              </a:defRPr>
            </a:pPr>
            <a:r>
              <a:t>โครงงานธุรกิจนวัตกรรม | มจพ.</a:t>
            </a:r>
          </a:p>
          <a:p>
            <a:pPr>
              <a:defRPr sz="2000" b="1">
                <a:solidFill>
                  <a:srgbClr val="0F172A"/>
                </a:solidFill>
                <a:latin typeface="Leelawadee UI"/>
              </a:defRPr>
            </a:pPr>
            <a:r>
              <a:t>10. กลยุทธ์นวัตกรรม 3 หมวด 10 ยุทธวิธี (Doblin's Ten Types)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28232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Leelawadee UI"/>
              </a:defRPr>
            </a:pPr>
            <a:r>
              <a:t>วิชา 080203914 ผู้ประกอบการนวัตกรรม (Innovative Technopreneurs) | มหาวิทยาลัยเทคโนโลยีพระจอมเกล้าพระนครเหนือ</a:t>
            </a:r>
          </a:p>
          <a:p>
            <a:pPr algn="r">
              <a:defRPr sz="950" b="1">
                <a:solidFill>
                  <a:srgbClr val="0F172A"/>
                </a:solidFill>
                <a:latin typeface="Leelawadee UI"/>
              </a:defRPr>
            </a:pPr>
            <a:r>
              <a:t>11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33832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1. หมวดการกำหนดค่า (Configuration)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31089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Profit Model: </a:t>
            </a:r>
            <a:r>
              <a:rPr sz="1200">
                <a:solidFill>
                  <a:srgbClr val="334155"/>
                </a:solidFill>
                <a:latin typeface="Leelawadee UI"/>
              </a:rPr>
              <a:t>เปลี่ยนจากการขายขาดซอฟต์แวร์ มาเป็น Micro-transaction fee ร้อยละ 3-5 ร่วมกับค่าบริการ Subscription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Network: </a:t>
            </a:r>
            <a:r>
              <a:rPr sz="1200">
                <a:solidFill>
                  <a:srgbClr val="334155"/>
                </a:solidFill>
                <a:latin typeface="Leelawadee UI"/>
              </a:rPr>
              <a:t>เชื่อมโยงความร่วมมือกับ LINE Thailand, ธนาคาร PromptPay และฝ่ายบริหารอาคาร มจพ.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28016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280160"/>
            <a:ext cx="33832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2. หมวดการนำเสนอ (Offering)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874520"/>
            <a:ext cx="31089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Product Performance: </a:t>
            </a:r>
            <a:r>
              <a:rPr sz="1200">
                <a:solidFill>
                  <a:srgbClr val="334155"/>
                </a:solidFill>
                <a:latin typeface="Leelawadee UI"/>
              </a:rPr>
              <a:t>อัลกอริทึมจัดการคิวแบบคาดการณ์เวลาล่วงหน้า (Predictive ETA) แม่นยำระดับนาที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Product System: </a:t>
            </a:r>
            <a:r>
              <a:rPr sz="1200">
                <a:solidFill>
                  <a:srgbClr val="334155"/>
                </a:solidFill>
                <a:latin typeface="Leelawadee UI"/>
              </a:rPr>
              <a:t>การผสาน LIFF Web App, Merchant KDS และ Dynamic PromptPay เข้าเป็นระบบเดียวแบบไร้รอยต่อ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8016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280160"/>
            <a:ext cx="33832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3. หมวดประสบการณ์ (Experience)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874520"/>
            <a:ext cx="31089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Service: </a:t>
            </a:r>
            <a:r>
              <a:rPr sz="1200">
                <a:solidFill>
                  <a:srgbClr val="334155"/>
                </a:solidFill>
                <a:latin typeface="Leelawadee UI"/>
              </a:rPr>
              <a:t>ยกระดับบริการโรงอาหารให้มีระบบแจ้งเตือนส่วนบุคคล ไม่ต้องยืนรอเฝ้าหน้าร้าน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Channel: </a:t>
            </a:r>
            <a:r>
              <a:rPr sz="1200">
                <a:solidFill>
                  <a:srgbClr val="334155"/>
                </a:solidFill>
                <a:latin typeface="Leelawadee UI"/>
              </a:rPr>
              <a:t>ให้บริการผ่าน LINE Official ซึ่งทุกคนเปิดใช้งานเป็นประจำ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Customer Engagement: </a:t>
            </a:r>
            <a:r>
              <a:rPr sz="1200">
                <a:solidFill>
                  <a:srgbClr val="334155"/>
                </a:solidFill>
                <a:latin typeface="Leelawadee UI"/>
              </a:rPr>
              <a:t>ระบบสะสมแต้ม การรีวิวร้านค้า และการจัดอันดับเมนูยอดนิยม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73152" bIns="73152"/>
          <a:lstStyle/>
          <a:p>
            <a:pPr algn="ctr">
              <a:defRPr sz="1000" b="1">
                <a:solidFill>
                  <a:srgbClr val="64748B"/>
                </a:solidFill>
                <a:latin typeface="Leelawadee UI"/>
              </a:defRPr>
            </a:pPr>
            <a:r>
              <a:t>โครงงานธุรกิจนวัตกรรม | มจพ.</a:t>
            </a:r>
          </a:p>
          <a:p>
            <a:pPr>
              <a:defRPr sz="2000" b="1">
                <a:solidFill>
                  <a:srgbClr val="0F172A"/>
                </a:solidFill>
                <a:latin typeface="Leelawadee UI"/>
              </a:defRPr>
            </a:pPr>
            <a:r>
              <a:t>11. การบริหารจัดการความเสี่ยง 6 มิติ (Risk Management)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28232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Leelawadee UI"/>
              </a:defRPr>
            </a:pPr>
            <a:r>
              <a:t>วิชา 080203914 ผู้ประกอบการนวัตกรรม (Innovative Technopreneurs) | มหาวิทยาลัยเทคโนโลยีพระจอมเกล้าพระนครเหนือ</a:t>
            </a:r>
          </a:p>
          <a:p>
            <a:pPr algn="r">
              <a:defRPr sz="950" b="1">
                <a:solidFill>
                  <a:srgbClr val="0F172A"/>
                </a:solidFill>
                <a:latin typeface="Leelawadee UI"/>
              </a:defRPr>
            </a:pPr>
            <a:r>
              <a:t>12 / 15</a:t>
            </a:r>
          </a:p>
        </p:txBody>
      </p:sp>
      <p:pic>
        <p:nvPicPr>
          <p:cNvPr id="5" name="Picture 4" descr="risk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6400800" cy="460282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06640" y="1280160"/>
            <a:ext cx="4023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1280160"/>
            <a:ext cx="402336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มาตรการบริหารจัดการความเสี่ยง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874520"/>
            <a:ext cx="374904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R1 ร้านค้าไม่ชินเทคโนโลยี: </a:t>
            </a:r>
            <a:r>
              <a:rPr sz="1200">
                <a:solidFill>
                  <a:srgbClr val="334155"/>
                </a:solidFill>
                <a:latin typeface="Leelawadee UI"/>
              </a:rPr>
              <a:t>ออกแบบ Simple UI ปุ่มใหญ่ มีทีม Support ช่วยประกบ 7 วันแรก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R2 ระบบเครือข่ายขัดข้อง: </a:t>
            </a:r>
            <a:r>
              <a:rPr sz="1200">
                <a:solidFill>
                  <a:srgbClr val="334155"/>
                </a:solidFill>
                <a:latin typeface="Leelawadee UI"/>
              </a:rPr>
              <a:t>มีโหมด Offline สั่งงานผ่าน Local Wi-Fi ได้ต่อเนื่อง ไม่สะดุด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R3 ยอดขายตกช่วงปิดเทอม: </a:t>
            </a:r>
            <a:r>
              <a:rPr sz="1200">
                <a:solidFill>
                  <a:srgbClr val="334155"/>
                </a:solidFill>
                <a:latin typeface="Leelawadee UI"/>
              </a:rPr>
              <a:t>จัดแคมเปญรองรับภาคฤดูร้อน และขยายสู่ร้านค้ารอบรั้ว มจพ.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R4 การแข่งขันจากแอปภายนอก: </a:t>
            </a:r>
            <a:r>
              <a:rPr sz="1200">
                <a:solidFill>
                  <a:srgbClr val="334155"/>
                </a:solidFill>
                <a:latin typeface="Leelawadee UI"/>
              </a:rPr>
              <a:t>รักษาจุดแข็งค่า GP ต่ำ 3-5% ไม่มีค่าส่ง อาหารราคาเท่าหน้าร้าน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R5 การชำระเงินผิดพลาด: </a:t>
            </a:r>
            <a:r>
              <a:rPr sz="1200">
                <a:solidFill>
                  <a:srgbClr val="334155"/>
                </a:solidFill>
                <a:latin typeface="Leelawadee UI"/>
              </a:rPr>
              <a:t>ใช้ Dynamic QR Code เช็คยอดและเลขอ้างอิงอัตโนมัติ 100%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73152" bIns="73152"/>
          <a:lstStyle/>
          <a:p>
            <a:pPr algn="ctr">
              <a:defRPr sz="1000" b="1">
                <a:solidFill>
                  <a:srgbClr val="64748B"/>
                </a:solidFill>
                <a:latin typeface="Leelawadee UI"/>
              </a:defRPr>
            </a:pPr>
            <a:r>
              <a:t>โครงงานธุรกิจนวัตกรรม | มจพ.</a:t>
            </a:r>
          </a:p>
          <a:p>
            <a:pPr>
              <a:defRPr sz="2000" b="1">
                <a:solidFill>
                  <a:srgbClr val="0F172A"/>
                </a:solidFill>
                <a:latin typeface="Leelawadee UI"/>
              </a:defRPr>
            </a:pPr>
            <a:r>
              <a:t>12. ประมาณการทางการเงินและจุดคุ้มทุน (Financial Feasibility)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28232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Leelawadee UI"/>
              </a:defRPr>
            </a:pPr>
            <a:r>
              <a:t>วิชา 080203914 ผู้ประกอบการนวัตกรรม (Innovative Technopreneurs) | มหาวิทยาลัยเทคโนโลยีพระจอมเกล้าพระนครเหนือ</a:t>
            </a:r>
          </a:p>
          <a:p>
            <a:pPr algn="r">
              <a:defRPr sz="950" b="1">
                <a:solidFill>
                  <a:srgbClr val="0F172A"/>
                </a:solidFill>
                <a:latin typeface="Leelawadee UI"/>
              </a:defRPr>
            </a:pPr>
            <a:r>
              <a:t>13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33832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โครงสร้างรายได้ (Revenue)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31089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ค่าคอมมิชชันคำสั่งซื้อ: </a:t>
            </a:r>
            <a:r>
              <a:rPr sz="1200">
                <a:solidFill>
                  <a:srgbClr val="334155"/>
                </a:solidFill>
                <a:latin typeface="Leelawadee UI"/>
              </a:rPr>
              <a:t>ร้อยละ 4 จากยอดขาย (ประมาณ 2.00 บาทต่อออเดอร์)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ยอดสั่งซื้อเป้าหมาย: </a:t>
            </a:r>
            <a:r>
              <a:rPr sz="1200">
                <a:solidFill>
                  <a:srgbClr val="334155"/>
                </a:solidFill>
                <a:latin typeface="Leelawadee UI"/>
              </a:rPr>
              <a:t>1,000 ออเดอร์/วัน (15 ร้านค้า) = 52,000 บาท/เดือน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ค่าสมาชิก Merchant Analytics: </a:t>
            </a:r>
            <a:r>
              <a:rPr sz="1200">
                <a:solidFill>
                  <a:srgbClr val="334155"/>
                </a:solidFill>
                <a:latin typeface="Leelawadee UI"/>
              </a:rPr>
              <a:t>15 ร้านค้า x 199 บาท = 2,985 บาท/เดือน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ค่าโฆษณาและสื่อโปรโมต: </a:t>
            </a:r>
            <a:r>
              <a:rPr sz="1200">
                <a:solidFill>
                  <a:srgbClr val="334155"/>
                </a:solidFill>
                <a:latin typeface="Leelawadee UI"/>
              </a:rPr>
              <a:t>5,000 บาท/เดือน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รวมรายได้เฉลี่ย: </a:t>
            </a:r>
            <a:r>
              <a:rPr sz="1200">
                <a:solidFill>
                  <a:srgbClr val="334155"/>
                </a:solidFill>
                <a:latin typeface="Leelawadee UI"/>
              </a:rPr>
              <a:t>ประมาณ 60,000 บาท/เดือน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28016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280160"/>
            <a:ext cx="33832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ต้นทุนดำเนินงาน (OPEX)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874520"/>
            <a:ext cx="31089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ค่าบริการคลาวด์เซิร์ฟเวอร์: </a:t>
            </a:r>
            <a:r>
              <a:rPr sz="1200">
                <a:solidFill>
                  <a:srgbClr val="334155"/>
                </a:solidFill>
                <a:latin typeface="Leelawadee UI"/>
              </a:rPr>
              <a:t>3,000 บาท/เดือน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ค่าบริการ LINE Messaging API: </a:t>
            </a:r>
            <a:r>
              <a:rPr sz="1200">
                <a:solidFill>
                  <a:srgbClr val="334155"/>
                </a:solidFill>
                <a:latin typeface="Leelawadee UI"/>
              </a:rPr>
              <a:t>2,000 บาท/เดือน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ค่าบำรุงรักษาและการตลาด: </a:t>
            </a:r>
            <a:r>
              <a:rPr sz="1200">
                <a:solidFill>
                  <a:srgbClr val="334155"/>
                </a:solidFill>
                <a:latin typeface="Leelawadee UI"/>
              </a:rPr>
              <a:t>10,000 บาท/เดือน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รวมต้นทุนดำเนินงานคงที่: </a:t>
            </a:r>
            <a:r>
              <a:rPr sz="1200">
                <a:solidFill>
                  <a:srgbClr val="334155"/>
                </a:solidFill>
                <a:latin typeface="Leelawadee UI"/>
              </a:rPr>
              <a:t>15,000 บาท/เดือน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กำไรจากการดำเนินงานสุทธิ: </a:t>
            </a:r>
            <a:r>
              <a:rPr sz="1200">
                <a:solidFill>
                  <a:srgbClr val="334155"/>
                </a:solidFill>
                <a:latin typeface="Leelawadee UI"/>
              </a:rPr>
              <a:t>ประมาณ 45,000 บาท/เดือน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8016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280160"/>
            <a:ext cx="338328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การวิเคราะห์จุดคุ้มทุน (Break-Even)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874520"/>
            <a:ext cx="310896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เงินลงทุนเริ่มต้น (CAPEX): </a:t>
            </a:r>
            <a:r>
              <a:rPr sz="1200">
                <a:solidFill>
                  <a:srgbClr val="334155"/>
                </a:solidFill>
                <a:latin typeface="Leelawadee UI"/>
              </a:rPr>
              <a:t>120,000 บาท (พัฒนาระบบ + แท็บเล็ต 15 เครื่อง + สื่อการตลาด)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ระยะเวลาคืนทุน (Payback): </a:t>
            </a:r>
            <a:r>
              <a:rPr sz="1200">
                <a:solidFill>
                  <a:srgbClr val="334155"/>
                </a:solidFill>
                <a:latin typeface="Leelawadee UI"/>
              </a:rPr>
              <a:t>ประมาณ 6 ถึง 7 เดือน หลังเปิดให้บริการเต็มรูปแบบ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0F172A"/>
                </a:solidFill>
                <a:latin typeface="Leelawadee UI"/>
              </a:rPr>
              <a:t>• ศักยภาพการเติบโต: </a:t>
            </a:r>
            <a:r>
              <a:rPr sz="1200">
                <a:solidFill>
                  <a:srgbClr val="334155"/>
                </a:solidFill>
                <a:latin typeface="Leelawadee UI"/>
              </a:rPr>
              <a:t>เมื่อขยายสู่ 30 ร้านค้า กำไรสุทธิจะเพิ่มขึ้นเป็น 90,000+ บาท/เดือน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73152" bIns="73152"/>
          <a:lstStyle/>
          <a:p>
            <a:pPr algn="ctr">
              <a:defRPr sz="1000" b="1">
                <a:solidFill>
                  <a:srgbClr val="64748B"/>
                </a:solidFill>
                <a:latin typeface="Leelawadee UI"/>
              </a:defRPr>
            </a:pPr>
            <a:r>
              <a:t>โครงงานธุรกิจนวัตกรรม | มจพ.</a:t>
            </a:r>
          </a:p>
          <a:p>
            <a:pPr>
              <a:defRPr sz="2000" b="1">
                <a:solidFill>
                  <a:srgbClr val="0F172A"/>
                </a:solidFill>
                <a:latin typeface="Leelawadee UI"/>
              </a:defRPr>
            </a:pPr>
            <a:r>
              <a:t>13. แผนงานการดำเนินงานและการขยายผล (Implementation Roadmap)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28232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Leelawadee UI"/>
              </a:defRPr>
            </a:pPr>
            <a:r>
              <a:t>วิชา 080203914 ผู้ประกอบการนวัตกรรม (Innovative Technopreneurs) | มหาวิทยาลัยเทคโนโลยีพระจอมเกล้าพระนครเหนือ</a:t>
            </a:r>
          </a:p>
          <a:p>
            <a:pPr algn="r">
              <a:defRPr sz="950" b="1">
                <a:solidFill>
                  <a:srgbClr val="0F172A"/>
                </a:solidFill>
                <a:latin typeface="Leelawadee UI"/>
              </a:defRPr>
            </a:pPr>
            <a:r>
              <a:t>14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347472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347472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ระยะที่ 1: นำร่อง (เดือน 1 - 5)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200400" cy="3977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  <a:latin typeface="Leelawadee UI"/>
              </a:defRPr>
            </a:pPr>
            <a:r>
              <a:t>• พัฒนาระบบ MVP บน LINE LIFF</a:t>
            </a:r>
            <a:br/>
            <a:r>
              <a:t>• นำร่อง 15 ร้านค้าในโรงอาหารกลาง มจพ.</a:t>
            </a:r>
            <a:br/>
            <a:r>
              <a:t>• ผู้ใช้งานสะสม 3,000 คน</a:t>
            </a:r>
            <a:br/>
            <a:r>
              <a:t>• ยอด 800 ออเดอร์/วัน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463040"/>
            <a:ext cx="347472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463040"/>
            <a:ext cx="347472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ระยะที่ 2: ขยายผล (เดือน 6 - 12)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057400"/>
            <a:ext cx="3200400" cy="3977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  <a:latin typeface="Leelawadee UI"/>
              </a:defRPr>
            </a:pPr>
            <a:r>
              <a:t>• ขยายครบทุกร้านในโรงอาหารกลาง (30 ร้าน)</a:t>
            </a:r>
            <a:br/>
            <a:r>
              <a:t>• ขยายสู่โรงอาหารอาคาร 40 ปี</a:t>
            </a:r>
            <a:br/>
            <a:r>
              <a:t>• ก้าวสู่จุดคุ้มทุน (Break-Even)</a:t>
            </a:r>
            <a:br/>
            <a:r>
              <a:t>• ผู้ใช้งานสะสม 10,000 คน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80" y="1463040"/>
            <a:ext cx="347472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80" y="1463040"/>
            <a:ext cx="347472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defRPr sz="1450" b="1">
                <a:solidFill>
                  <a:srgbClr val="0F172A"/>
                </a:solidFill>
                <a:latin typeface="Leelawadee UI"/>
              </a:defRPr>
            </a:pPr>
            <a:r>
              <a:t>ระยะที่ 3: เติบโต (ปีที่ 2 - 3)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057400"/>
            <a:ext cx="3200400" cy="3977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  <a:latin typeface="Leelawadee UI"/>
              </a:defRPr>
            </a:pPr>
            <a:r>
              <a:t>• เชื่อมต่อ มจพ. ปราจีนบุรี และระยอง</a:t>
            </a:r>
            <a:br/>
            <a:r>
              <a:t>• ขยายสู่มหาวิทยาลัยพันธมิตร 3-5 แห่ง</a:t>
            </a:r>
            <a:br/>
            <a:r>
              <a:t>• ร้านค้าในระบบ &gt; 120 ร้านค้า</a:t>
            </a:r>
            <a:br/>
            <a:r>
              <a:t>• ยอด 8,000 ออเดอร์/วัน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601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4748B"/>
                </a:solidFill>
                <a:latin typeface="Leelawadee UI"/>
              </a:defRPr>
            </a:pPr>
            <a:r>
              <a:t>SMART QUEUE FOOD | นวัตกรรมเพื่อโรงอาหารมหาวิทยาลัย</a:t>
            </a:r>
          </a:p>
          <a:p>
            <a:pPr>
              <a:spcBef>
                <a:spcPts val="800"/>
              </a:spcBef>
              <a:defRPr sz="3400" b="1">
                <a:solidFill>
                  <a:srgbClr val="0F172A"/>
                </a:solidFill>
                <a:latin typeface="Leelawadee UI"/>
              </a:defRPr>
            </a:pPr>
            <a:r>
              <a:t>เปลี่ยนเวลาต่อคิว ให้เป็นเวลาคุณภาพ</a:t>
            </a:r>
          </a:p>
          <a:p>
            <a:pPr>
              <a:spcBef>
                <a:spcPts val="1200"/>
              </a:spcBef>
              <a:defRPr sz="1700">
                <a:solidFill>
                  <a:srgbClr val="334155"/>
                </a:solidFill>
                <a:latin typeface="Leelawadee UI"/>
              </a:defRPr>
            </a:pPr>
            <a:r>
              <a:t>ขอขอบพระคุณอาจารย์ผู้สอนและผู้รับฟังทุกท่าน</a:t>
            </a:r>
            <a:br/>
            <a:r>
              <a:t>ยินดีรับฟังข้อเสนอแนะและพร้อมตอบข้อซักถาม (Q&amp;A Session)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